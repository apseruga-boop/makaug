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5" roundtripDataSignature="AMtx7mjcIl0FI/woeam/hNYc5lmmeUXWj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customschemas.google.com/relationships/presentationmetadata" Target="metadata"/><Relationship Id="rId14" Type="http://schemas.openxmlformats.org/officeDocument/2006/relationships/slide" Target="slides/slide10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" name="Google Shape;2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" name="Google Shape;4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" name="Google Shape;6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" name="Google Shape;14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9" name="Google Shape;20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3" name="Google Shape;24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5" name="Google Shape;26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5E20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3749040"/>
            <a:ext cx="9144000" cy="64008"/>
          </a:xfrm>
          <a:prstGeom prst="rect">
            <a:avLst/>
          </a:prstGeom>
          <a:solidFill>
            <a:srgbClr val="81C78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0" y="3813048"/>
            <a:ext cx="9144000" cy="1330452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548640" y="822960"/>
            <a:ext cx="80467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Font typeface="Arial"/>
              <a:buNone/>
            </a:pPr>
            <a:r>
              <a:rPr b="1" i="0" lang="en-US" sz="4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MAKAUG.COM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548640" y="1627632"/>
            <a:ext cx="8046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D6A7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A5D6A7"/>
                </a:solidFill>
                <a:latin typeface="Arial"/>
                <a:ea typeface="Arial"/>
                <a:cs typeface="Arial"/>
                <a:sym typeface="Arial"/>
              </a:rPr>
              <a:t>Uganda Property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548640" y="2084832"/>
            <a:ext cx="1280160" cy="50292"/>
          </a:xfrm>
          <a:prstGeom prst="rect">
            <a:avLst/>
          </a:prstGeom>
          <a:solidFill>
            <a:srgbClr val="81C78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1"/>
          <p:cNvSpPr/>
          <p:nvPr/>
        </p:nvSpPr>
        <p:spPr>
          <a:xfrm>
            <a:off x="548640" y="2212848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Field Agent Welcome Pack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548640" y="2816352"/>
            <a:ext cx="8046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E6C9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C8E6C9"/>
                </a:solidFill>
                <a:latin typeface="Arial"/>
                <a:ea typeface="Arial"/>
                <a:cs typeface="Arial"/>
                <a:sym typeface="Arial"/>
              </a:rPr>
              <a:t>Everything you need to get started — and get paid.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548640" y="4407408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D6A7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A5D6A7"/>
                </a:solidFill>
                <a:latin typeface="Arial"/>
                <a:ea typeface="Arial"/>
                <a:cs typeface="Arial"/>
                <a:sym typeface="Arial"/>
              </a:rPr>
              <a:t>WhatsApp: +256 770 646 879  |  info@makaug.com  |  www.makaug.com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7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2"/>
          <p:cNvSpPr/>
          <p:nvPr/>
        </p:nvSpPr>
        <p:spPr>
          <a:xfrm>
            <a:off x="365760" y="73152"/>
            <a:ext cx="8412480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MAKAUG.COM  |  Welcome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457200" y="96012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5E2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1B5E20"/>
                </a:solidFill>
                <a:latin typeface="Arial"/>
                <a:ea typeface="Arial"/>
                <a:cs typeface="Arial"/>
                <a:sym typeface="Arial"/>
              </a:rPr>
              <a:t>Welcome to the Team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457200" y="160020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You are now a Makaug Field Agent — the person who brings Uganda's property market online.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457200" y="20574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This pack tells you everything you need to know to get started, stay on track, and earn as much as possible.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365760" y="2651760"/>
            <a:ext cx="2468880" cy="1463040"/>
          </a:xfrm>
          <a:prstGeom prst="rect">
            <a:avLst/>
          </a:prstGeom>
          <a:solidFill>
            <a:srgbClr val="E8F5E9"/>
          </a:solidFill>
          <a:ln cap="flat" cmpd="sng" w="12700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2"/>
          <p:cNvSpPr/>
          <p:nvPr/>
        </p:nvSpPr>
        <p:spPr>
          <a:xfrm>
            <a:off x="457200" y="2697480"/>
            <a:ext cx="22860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What Makaug Does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3383280" y="2651760"/>
            <a:ext cx="2468880" cy="1463040"/>
          </a:xfrm>
          <a:prstGeom prst="rect">
            <a:avLst/>
          </a:prstGeom>
          <a:solidFill>
            <a:srgbClr val="E8F5E9"/>
          </a:solidFill>
          <a:ln cap="flat" cmpd="sng" w="12700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2"/>
          <p:cNvSpPr/>
          <p:nvPr/>
        </p:nvSpPr>
        <p:spPr>
          <a:xfrm>
            <a:off x="3474720" y="2697480"/>
            <a:ext cx="22860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Your Role &amp; Responsibilities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6309360" y="2651760"/>
            <a:ext cx="2468880" cy="1463040"/>
          </a:xfrm>
          <a:prstGeom prst="rect">
            <a:avLst/>
          </a:prstGeom>
          <a:solidFill>
            <a:srgbClr val="E8F5E9"/>
          </a:solidFill>
          <a:ln cap="flat" cmpd="sng" w="12700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2"/>
          <p:cNvSpPr/>
          <p:nvPr/>
        </p:nvSpPr>
        <p:spPr>
          <a:xfrm>
            <a:off x="6400800" y="2697480"/>
            <a:ext cx="22860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How to Get Paid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2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www.makaug.com  |  Uganda Property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3"/>
          <p:cNvSpPr/>
          <p:nvPr/>
        </p:nvSpPr>
        <p:spPr>
          <a:xfrm>
            <a:off x="365760" y="73152"/>
            <a:ext cx="8412480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MAKAUG.COM  |  About the Platform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3"/>
          <p:cNvSpPr/>
          <p:nvPr/>
        </p:nvSpPr>
        <p:spPr>
          <a:xfrm>
            <a:off x="457200" y="96012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5E2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1B5E20"/>
                </a:solidFill>
                <a:latin typeface="Arial"/>
                <a:ea typeface="Arial"/>
                <a:cs typeface="Arial"/>
                <a:sym typeface="Arial"/>
              </a:rPr>
              <a:t>What Is Makaug.com?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3"/>
          <p:cNvSpPr/>
          <p:nvPr/>
        </p:nvSpPr>
        <p:spPr>
          <a:xfrm>
            <a:off x="365760" y="1691640"/>
            <a:ext cx="5029200" cy="292608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3"/>
          <p:cNvSpPr/>
          <p:nvPr/>
        </p:nvSpPr>
        <p:spPr>
          <a:xfrm>
            <a:off x="502920" y="1783080"/>
            <a:ext cx="47548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5E2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B5E20"/>
                </a:solidFill>
                <a:latin typeface="Arial"/>
                <a:ea typeface="Arial"/>
                <a:cs typeface="Arial"/>
                <a:sym typeface="Arial"/>
              </a:rPr>
              <a:t>Uganda's dedicated property platform.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3"/>
          <p:cNvSpPr/>
          <p:nvPr/>
        </p:nvSpPr>
        <p:spPr>
          <a:xfrm>
            <a:off x="502920" y="2212848"/>
            <a:ext cx="47548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Makaug.com connects: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3"/>
          <p:cNvSpPr/>
          <p:nvPr/>
        </p:nvSpPr>
        <p:spPr>
          <a:xfrm>
            <a:off x="594360" y="2542032"/>
            <a:ext cx="466344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•  Landlords renting out property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3"/>
          <p:cNvSpPr/>
          <p:nvPr/>
        </p:nvSpPr>
        <p:spPr>
          <a:xfrm>
            <a:off x="594360" y="2916936"/>
            <a:ext cx="466344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•  Sellers listing property for sale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3"/>
          <p:cNvSpPr/>
          <p:nvPr/>
        </p:nvSpPr>
        <p:spPr>
          <a:xfrm>
            <a:off x="594360" y="3291840"/>
            <a:ext cx="466344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•  Students seeking accommodation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3"/>
          <p:cNvSpPr/>
          <p:nvPr/>
        </p:nvSpPr>
        <p:spPr>
          <a:xfrm>
            <a:off x="594360" y="3666744"/>
            <a:ext cx="466344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•  Estate agents managing properties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594360" y="4041648"/>
            <a:ext cx="466344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•  Buyers and renters across Uganda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5669280" y="1691640"/>
            <a:ext cx="3063240" cy="12344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3"/>
          <p:cNvSpPr/>
          <p:nvPr/>
        </p:nvSpPr>
        <p:spPr>
          <a:xfrm>
            <a:off x="5779008" y="1737360"/>
            <a:ext cx="28346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Our Mission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5779008" y="2103120"/>
            <a:ext cx="283464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E6C9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C8E6C9"/>
                </a:solidFill>
                <a:latin typeface="Arial"/>
                <a:ea typeface="Arial"/>
                <a:cs typeface="Arial"/>
                <a:sym typeface="Arial"/>
              </a:rPr>
              <a:t>Make it easy for every Ugandan to find and list property online.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5669280" y="3108960"/>
            <a:ext cx="3063240" cy="150876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3"/>
          <p:cNvSpPr/>
          <p:nvPr/>
        </p:nvSpPr>
        <p:spPr>
          <a:xfrm>
            <a:off x="5779008" y="3200400"/>
            <a:ext cx="28346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Your role is critical.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5779008" y="3566160"/>
            <a:ext cx="28346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Without you in the field, landlords and agents stay offline. You are the bridge.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3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www.makaug.com  |  Uganda Property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7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4"/>
          <p:cNvSpPr/>
          <p:nvPr/>
        </p:nvSpPr>
        <p:spPr>
          <a:xfrm>
            <a:off x="365760" y="73152"/>
            <a:ext cx="8412480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MAKAUG.COM  |  Your Job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4"/>
          <p:cNvSpPr/>
          <p:nvPr/>
        </p:nvSpPr>
        <p:spPr>
          <a:xfrm>
            <a:off x="457200" y="96012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5E2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1B5E20"/>
                </a:solidFill>
                <a:latin typeface="Arial"/>
                <a:ea typeface="Arial"/>
                <a:cs typeface="Arial"/>
                <a:sym typeface="Arial"/>
              </a:rPr>
              <a:t>What You Are Expected to Do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365760" y="1737360"/>
            <a:ext cx="3977640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162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4"/>
          <p:cNvSpPr/>
          <p:nvPr/>
        </p:nvSpPr>
        <p:spPr>
          <a:xfrm>
            <a:off x="365760" y="1737360"/>
            <a:ext cx="411480" cy="8686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4"/>
          <p:cNvSpPr/>
          <p:nvPr/>
        </p:nvSpPr>
        <p:spPr>
          <a:xfrm>
            <a:off x="365760" y="1828800"/>
            <a:ext cx="411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4"/>
          <p:cNvSpPr/>
          <p:nvPr/>
        </p:nvSpPr>
        <p:spPr>
          <a:xfrm>
            <a:off x="841248" y="1792224"/>
            <a:ext cx="342900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Find Properties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4"/>
          <p:cNvSpPr/>
          <p:nvPr/>
        </p:nvSpPr>
        <p:spPr>
          <a:xfrm>
            <a:off x="841248" y="2139696"/>
            <a:ext cx="34290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Identify rentals, sales, student rooms &amp; commercial spaces in your area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4"/>
          <p:cNvSpPr/>
          <p:nvPr/>
        </p:nvSpPr>
        <p:spPr>
          <a:xfrm>
            <a:off x="365760" y="2743200"/>
            <a:ext cx="3977640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162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4"/>
          <p:cNvSpPr/>
          <p:nvPr/>
        </p:nvSpPr>
        <p:spPr>
          <a:xfrm>
            <a:off x="365760" y="2743200"/>
            <a:ext cx="411480" cy="8686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4"/>
          <p:cNvSpPr/>
          <p:nvPr/>
        </p:nvSpPr>
        <p:spPr>
          <a:xfrm>
            <a:off x="365760" y="2834640"/>
            <a:ext cx="411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841248" y="2798064"/>
            <a:ext cx="342900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Sign Up Owners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4"/>
          <p:cNvSpPr/>
          <p:nvPr/>
        </p:nvSpPr>
        <p:spPr>
          <a:xfrm>
            <a:off x="841248" y="3145536"/>
            <a:ext cx="34290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Meet landlords and property owners, explain Makaug, get them listed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365760" y="3749040"/>
            <a:ext cx="3977640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162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4"/>
          <p:cNvSpPr/>
          <p:nvPr/>
        </p:nvSpPr>
        <p:spPr>
          <a:xfrm>
            <a:off x="365760" y="3749040"/>
            <a:ext cx="411480" cy="8686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4"/>
          <p:cNvSpPr/>
          <p:nvPr/>
        </p:nvSpPr>
        <p:spPr>
          <a:xfrm>
            <a:off x="365760" y="3840480"/>
            <a:ext cx="411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4"/>
          <p:cNvSpPr/>
          <p:nvPr/>
        </p:nvSpPr>
        <p:spPr>
          <a:xfrm>
            <a:off x="841248" y="3803904"/>
            <a:ext cx="342900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Sign Up Agents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4"/>
          <p:cNvSpPr/>
          <p:nvPr/>
        </p:nvSpPr>
        <p:spPr>
          <a:xfrm>
            <a:off x="841248" y="4151376"/>
            <a:ext cx="34290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Help estate agents create full verified profiles on the platform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4"/>
          <p:cNvSpPr/>
          <p:nvPr/>
        </p:nvSpPr>
        <p:spPr>
          <a:xfrm>
            <a:off x="4754880" y="1737360"/>
            <a:ext cx="3977640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162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4"/>
          <p:cNvSpPr/>
          <p:nvPr/>
        </p:nvSpPr>
        <p:spPr>
          <a:xfrm>
            <a:off x="4754880" y="1737360"/>
            <a:ext cx="411480" cy="8686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4"/>
          <p:cNvSpPr/>
          <p:nvPr/>
        </p:nvSpPr>
        <p:spPr>
          <a:xfrm>
            <a:off x="4754880" y="1828800"/>
            <a:ext cx="411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5230368" y="1792224"/>
            <a:ext cx="342900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Complete Listings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4"/>
          <p:cNvSpPr/>
          <p:nvPr/>
        </p:nvSpPr>
        <p:spPr>
          <a:xfrm>
            <a:off x="5230368" y="2139696"/>
            <a:ext cx="34290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Ensure every listing has correct details, correct price, and clear photos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4754880" y="3977640"/>
            <a:ext cx="3977640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162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4"/>
          <p:cNvSpPr/>
          <p:nvPr/>
        </p:nvSpPr>
        <p:spPr>
          <a:xfrm>
            <a:off x="4754880" y="3977640"/>
            <a:ext cx="411480" cy="8686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4"/>
          <p:cNvSpPr/>
          <p:nvPr/>
        </p:nvSpPr>
        <p:spPr>
          <a:xfrm>
            <a:off x="4754880" y="4069080"/>
            <a:ext cx="411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4"/>
          <p:cNvSpPr/>
          <p:nvPr/>
        </p:nvSpPr>
        <p:spPr>
          <a:xfrm>
            <a:off x="5230368" y="4032504"/>
            <a:ext cx="342900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Confirm Live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5230368" y="4379976"/>
            <a:ext cx="34290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Check the listing is live on makaug.com — that's when you get paid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www.makaug.com  |  Uganda Property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5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5"/>
          <p:cNvSpPr/>
          <p:nvPr/>
        </p:nvSpPr>
        <p:spPr>
          <a:xfrm>
            <a:off x="365760" y="73152"/>
            <a:ext cx="8412480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MAKAUG.COM  |  Targets &amp; Pay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5"/>
          <p:cNvSpPr/>
          <p:nvPr/>
        </p:nvSpPr>
        <p:spPr>
          <a:xfrm>
            <a:off x="457200" y="96012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5E2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1B5E20"/>
                </a:solidFill>
                <a:latin typeface="Arial"/>
                <a:ea typeface="Arial"/>
                <a:cs typeface="Arial"/>
                <a:sym typeface="Arial"/>
              </a:rPr>
              <a:t>Targets &amp; What You Earn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5"/>
          <p:cNvSpPr/>
          <p:nvPr/>
        </p:nvSpPr>
        <p:spPr>
          <a:xfrm>
            <a:off x="274320" y="1691640"/>
            <a:ext cx="1920240" cy="1508760"/>
          </a:xfrm>
          <a:prstGeom prst="rect">
            <a:avLst/>
          </a:prstGeom>
          <a:solidFill>
            <a:srgbClr val="1B5E20"/>
          </a:solidFill>
          <a:ln>
            <a:noFill/>
          </a:ln>
          <a:effectLst>
            <a:outerShdw blurRad="76200" rotWithShape="0" algn="bl" dir="162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5"/>
          <p:cNvSpPr/>
          <p:nvPr/>
        </p:nvSpPr>
        <p:spPr>
          <a:xfrm>
            <a:off x="320040" y="1737360"/>
            <a:ext cx="1828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"/>
              <a:buNone/>
            </a:pPr>
            <a:r>
              <a:rPr b="1" lang="en-US" sz="2600">
                <a:solidFill>
                  <a:srgbClr val="FFFFFF"/>
                </a:solidFill>
              </a:rPr>
              <a:t>2</a:t>
            </a:r>
            <a:r>
              <a:rPr b="1" i="0" lang="en-US" sz="2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5"/>
          <p:cNvSpPr/>
          <p:nvPr/>
        </p:nvSpPr>
        <p:spPr>
          <a:xfrm>
            <a:off x="320040" y="2514600"/>
            <a:ext cx="1828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5D6A7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A5D6A7"/>
                </a:solidFill>
                <a:latin typeface="Arial"/>
                <a:ea typeface="Arial"/>
                <a:cs typeface="Arial"/>
                <a:sym typeface="Arial"/>
              </a:rPr>
              <a:t>minimum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5D6A7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A5D6A7"/>
                </a:solidFill>
                <a:latin typeface="Arial"/>
                <a:ea typeface="Arial"/>
                <a:cs typeface="Arial"/>
                <a:sym typeface="Arial"/>
              </a:rPr>
              <a:t>listings/week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5"/>
          <p:cNvSpPr/>
          <p:nvPr/>
        </p:nvSpPr>
        <p:spPr>
          <a:xfrm>
            <a:off x="2423160" y="1691640"/>
            <a:ext cx="1920240" cy="1508760"/>
          </a:xfrm>
          <a:prstGeom prst="rect">
            <a:avLst/>
          </a:prstGeom>
          <a:solidFill>
            <a:srgbClr val="1B5E20"/>
          </a:solidFill>
          <a:ln>
            <a:noFill/>
          </a:ln>
          <a:effectLst>
            <a:outerShdw blurRad="76200" rotWithShape="0" algn="bl" dir="162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5"/>
          <p:cNvSpPr/>
          <p:nvPr/>
        </p:nvSpPr>
        <p:spPr>
          <a:xfrm>
            <a:off x="2468880" y="1737360"/>
            <a:ext cx="1828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40+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5"/>
          <p:cNvSpPr/>
          <p:nvPr/>
        </p:nvSpPr>
        <p:spPr>
          <a:xfrm>
            <a:off x="2468880" y="2514600"/>
            <a:ext cx="1828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5D6A7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A5D6A7"/>
                </a:solidFill>
                <a:latin typeface="Arial"/>
                <a:ea typeface="Arial"/>
                <a:cs typeface="Arial"/>
                <a:sym typeface="Arial"/>
              </a:rPr>
              <a:t>minimum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5D6A7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A5D6A7"/>
                </a:solidFill>
                <a:latin typeface="Arial"/>
                <a:ea typeface="Arial"/>
                <a:cs typeface="Arial"/>
                <a:sym typeface="Arial"/>
              </a:rPr>
              <a:t>listings/month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5"/>
          <p:cNvSpPr/>
          <p:nvPr/>
        </p:nvSpPr>
        <p:spPr>
          <a:xfrm>
            <a:off x="4572000" y="1691640"/>
            <a:ext cx="1920240" cy="1508760"/>
          </a:xfrm>
          <a:prstGeom prst="rect">
            <a:avLst/>
          </a:prstGeom>
          <a:solidFill>
            <a:srgbClr val="1B5E20"/>
          </a:solidFill>
          <a:ln>
            <a:noFill/>
          </a:ln>
          <a:effectLst>
            <a:outerShdw blurRad="76200" rotWithShape="0" algn="bl" dir="162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5"/>
          <p:cNvSpPr/>
          <p:nvPr/>
        </p:nvSpPr>
        <p:spPr>
          <a:xfrm>
            <a:off x="4617720" y="1737360"/>
            <a:ext cx="1828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UGX 5,000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5"/>
          <p:cNvSpPr/>
          <p:nvPr/>
        </p:nvSpPr>
        <p:spPr>
          <a:xfrm>
            <a:off x="4617720" y="2514600"/>
            <a:ext cx="1828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5D6A7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A5D6A7"/>
                </a:solidFill>
                <a:latin typeface="Arial"/>
                <a:ea typeface="Arial"/>
                <a:cs typeface="Arial"/>
                <a:sym typeface="Arial"/>
              </a:rPr>
              <a:t>per verified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5D6A7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A5D6A7"/>
                </a:solidFill>
                <a:latin typeface="Arial"/>
                <a:ea typeface="Arial"/>
                <a:cs typeface="Arial"/>
                <a:sym typeface="Arial"/>
              </a:rPr>
              <a:t>listing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5"/>
          <p:cNvSpPr/>
          <p:nvPr/>
        </p:nvSpPr>
        <p:spPr>
          <a:xfrm>
            <a:off x="6720840" y="1691640"/>
            <a:ext cx="1920240" cy="1508760"/>
          </a:xfrm>
          <a:prstGeom prst="rect">
            <a:avLst/>
          </a:prstGeom>
          <a:solidFill>
            <a:srgbClr val="1B5E20"/>
          </a:solidFill>
          <a:ln>
            <a:noFill/>
          </a:ln>
          <a:effectLst>
            <a:outerShdw blurRad="76200" rotWithShape="0" algn="bl" dir="162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5"/>
          <p:cNvSpPr/>
          <p:nvPr/>
        </p:nvSpPr>
        <p:spPr>
          <a:xfrm>
            <a:off x="6766560" y="1737360"/>
            <a:ext cx="1828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Every Friday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5"/>
          <p:cNvSpPr/>
          <p:nvPr/>
        </p:nvSpPr>
        <p:spPr>
          <a:xfrm>
            <a:off x="6766560" y="2514600"/>
            <a:ext cx="1828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5D6A7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A5D6A7"/>
                </a:solidFill>
                <a:latin typeface="Arial"/>
                <a:ea typeface="Arial"/>
                <a:cs typeface="Arial"/>
                <a:sym typeface="Arial"/>
              </a:rPr>
              <a:t>payment day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5D6A7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A5D6A7"/>
                </a:solidFill>
                <a:latin typeface="Arial"/>
                <a:ea typeface="Arial"/>
                <a:cs typeface="Arial"/>
                <a:sym typeface="Arial"/>
              </a:rPr>
              <a:t>for prior week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5"/>
          <p:cNvSpPr/>
          <p:nvPr/>
        </p:nvSpPr>
        <p:spPr>
          <a:xfrm>
            <a:off x="365760" y="3401568"/>
            <a:ext cx="8229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Earnings Potential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5"/>
          <p:cNvSpPr/>
          <p:nvPr/>
        </p:nvSpPr>
        <p:spPr>
          <a:xfrm>
            <a:off x="365760" y="3794760"/>
            <a:ext cx="2560320" cy="27432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5"/>
          <p:cNvSpPr/>
          <p:nvPr/>
        </p:nvSpPr>
        <p:spPr>
          <a:xfrm>
            <a:off x="411480" y="3794760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10 listings / week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5"/>
          <p:cNvSpPr/>
          <p:nvPr/>
        </p:nvSpPr>
        <p:spPr>
          <a:xfrm>
            <a:off x="3200400" y="3794760"/>
            <a:ext cx="2194560" cy="27432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5"/>
          <p:cNvSpPr/>
          <p:nvPr/>
        </p:nvSpPr>
        <p:spPr>
          <a:xfrm>
            <a:off x="3246120" y="3794760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UGX 50,000 / week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5"/>
          <p:cNvSpPr/>
          <p:nvPr/>
        </p:nvSpPr>
        <p:spPr>
          <a:xfrm>
            <a:off x="5577840" y="3794760"/>
            <a:ext cx="3200400" cy="27432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5"/>
          <p:cNvSpPr/>
          <p:nvPr/>
        </p:nvSpPr>
        <p:spPr>
          <a:xfrm>
            <a:off x="5623560" y="3794760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UGX 200,000 / month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5"/>
          <p:cNvSpPr/>
          <p:nvPr/>
        </p:nvSpPr>
        <p:spPr>
          <a:xfrm>
            <a:off x="365760" y="4096512"/>
            <a:ext cx="256032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5"/>
          <p:cNvSpPr/>
          <p:nvPr/>
        </p:nvSpPr>
        <p:spPr>
          <a:xfrm>
            <a:off x="411480" y="4096512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20 listings / week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5"/>
          <p:cNvSpPr/>
          <p:nvPr/>
        </p:nvSpPr>
        <p:spPr>
          <a:xfrm>
            <a:off x="3200400" y="4096512"/>
            <a:ext cx="219456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5"/>
          <p:cNvSpPr/>
          <p:nvPr/>
        </p:nvSpPr>
        <p:spPr>
          <a:xfrm>
            <a:off x="3246120" y="4096512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UGX 100,000 / week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5"/>
          <p:cNvSpPr/>
          <p:nvPr/>
        </p:nvSpPr>
        <p:spPr>
          <a:xfrm>
            <a:off x="5577840" y="4096512"/>
            <a:ext cx="320040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5"/>
          <p:cNvSpPr/>
          <p:nvPr/>
        </p:nvSpPr>
        <p:spPr>
          <a:xfrm>
            <a:off x="5623560" y="4096512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UGX 400,000 / month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5"/>
          <p:cNvSpPr/>
          <p:nvPr/>
        </p:nvSpPr>
        <p:spPr>
          <a:xfrm>
            <a:off x="365760" y="4398264"/>
            <a:ext cx="2560320" cy="27432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5"/>
          <p:cNvSpPr/>
          <p:nvPr/>
        </p:nvSpPr>
        <p:spPr>
          <a:xfrm>
            <a:off x="411480" y="4398264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40 listings / week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5"/>
          <p:cNvSpPr/>
          <p:nvPr/>
        </p:nvSpPr>
        <p:spPr>
          <a:xfrm>
            <a:off x="3200400" y="4398264"/>
            <a:ext cx="2194560" cy="27432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5"/>
          <p:cNvSpPr/>
          <p:nvPr/>
        </p:nvSpPr>
        <p:spPr>
          <a:xfrm>
            <a:off x="3246120" y="4398264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UGX 200,000 / week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5"/>
          <p:cNvSpPr/>
          <p:nvPr/>
        </p:nvSpPr>
        <p:spPr>
          <a:xfrm>
            <a:off x="5577840" y="4398264"/>
            <a:ext cx="3200400" cy="27432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5"/>
          <p:cNvSpPr/>
          <p:nvPr/>
        </p:nvSpPr>
        <p:spPr>
          <a:xfrm>
            <a:off x="5623560" y="4398264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UGX 800,000 / month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5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No cap. No limit. The more you list, the more you earn.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7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6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6"/>
          <p:cNvSpPr/>
          <p:nvPr/>
        </p:nvSpPr>
        <p:spPr>
          <a:xfrm>
            <a:off x="365760" y="73152"/>
            <a:ext cx="8412480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MAKAUG.COM  |  How to List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6"/>
          <p:cNvSpPr/>
          <p:nvPr/>
        </p:nvSpPr>
        <p:spPr>
          <a:xfrm>
            <a:off x="457200" y="9601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5E2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B5E20"/>
                </a:solidFill>
                <a:latin typeface="Arial"/>
                <a:ea typeface="Arial"/>
                <a:cs typeface="Arial"/>
                <a:sym typeface="Arial"/>
              </a:rPr>
              <a:t>Step-by-Step: How to List a Property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6"/>
          <p:cNvSpPr/>
          <p:nvPr/>
        </p:nvSpPr>
        <p:spPr>
          <a:xfrm>
            <a:off x="365760" y="1664208"/>
            <a:ext cx="4023360" cy="8869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6"/>
          <p:cNvSpPr/>
          <p:nvPr/>
        </p:nvSpPr>
        <p:spPr>
          <a:xfrm>
            <a:off x="365760" y="1664208"/>
            <a:ext cx="402336" cy="88696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6"/>
          <p:cNvSpPr/>
          <p:nvPr/>
        </p:nvSpPr>
        <p:spPr>
          <a:xfrm>
            <a:off x="365760" y="1755648"/>
            <a:ext cx="402336" cy="7040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6"/>
          <p:cNvSpPr/>
          <p:nvPr/>
        </p:nvSpPr>
        <p:spPr>
          <a:xfrm>
            <a:off x="822960" y="1719072"/>
            <a:ext cx="3493008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Go to makaug.com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6"/>
          <p:cNvSpPr/>
          <p:nvPr/>
        </p:nvSpPr>
        <p:spPr>
          <a:xfrm>
            <a:off x="822960" y="2084832"/>
            <a:ext cx="3493008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Open on your smartphone and log in. Or use WhatsApp: +256 770 646 879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6"/>
          <p:cNvSpPr/>
          <p:nvPr/>
        </p:nvSpPr>
        <p:spPr>
          <a:xfrm>
            <a:off x="365760" y="2688336"/>
            <a:ext cx="4023360" cy="8869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6"/>
          <p:cNvSpPr/>
          <p:nvPr/>
        </p:nvSpPr>
        <p:spPr>
          <a:xfrm>
            <a:off x="365760" y="2688336"/>
            <a:ext cx="402336" cy="88696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6"/>
          <p:cNvSpPr/>
          <p:nvPr/>
        </p:nvSpPr>
        <p:spPr>
          <a:xfrm>
            <a:off x="365760" y="2779776"/>
            <a:ext cx="402336" cy="7040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6"/>
          <p:cNvSpPr/>
          <p:nvPr/>
        </p:nvSpPr>
        <p:spPr>
          <a:xfrm>
            <a:off x="822960" y="2743200"/>
            <a:ext cx="3493008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Tap 'Advertise Property'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6"/>
          <p:cNvSpPr/>
          <p:nvPr/>
        </p:nvSpPr>
        <p:spPr>
          <a:xfrm>
            <a:off x="822960" y="3108960"/>
            <a:ext cx="3493008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Choose type: For Rent, For Sale, Students, or Commercial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6"/>
          <p:cNvSpPr/>
          <p:nvPr/>
        </p:nvSpPr>
        <p:spPr>
          <a:xfrm>
            <a:off x="365760" y="3712464"/>
            <a:ext cx="4023360" cy="8869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6"/>
          <p:cNvSpPr/>
          <p:nvPr/>
        </p:nvSpPr>
        <p:spPr>
          <a:xfrm>
            <a:off x="365760" y="3712464"/>
            <a:ext cx="402336" cy="88696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6"/>
          <p:cNvSpPr/>
          <p:nvPr/>
        </p:nvSpPr>
        <p:spPr>
          <a:xfrm>
            <a:off x="365760" y="3803904"/>
            <a:ext cx="402336" cy="7040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6"/>
          <p:cNvSpPr/>
          <p:nvPr/>
        </p:nvSpPr>
        <p:spPr>
          <a:xfrm>
            <a:off x="822960" y="3767328"/>
            <a:ext cx="3493008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Enter Property Details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6"/>
          <p:cNvSpPr/>
          <p:nvPr/>
        </p:nvSpPr>
        <p:spPr>
          <a:xfrm>
            <a:off x="822960" y="4133088"/>
            <a:ext cx="3493008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Location, price, bedrooms, bathrooms, all key features — be accurate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6"/>
          <p:cNvSpPr/>
          <p:nvPr/>
        </p:nvSpPr>
        <p:spPr>
          <a:xfrm>
            <a:off x="4754880" y="1664208"/>
            <a:ext cx="4023360" cy="8869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6"/>
          <p:cNvSpPr/>
          <p:nvPr/>
        </p:nvSpPr>
        <p:spPr>
          <a:xfrm>
            <a:off x="4754880" y="1664208"/>
            <a:ext cx="402336" cy="88696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6"/>
          <p:cNvSpPr/>
          <p:nvPr/>
        </p:nvSpPr>
        <p:spPr>
          <a:xfrm>
            <a:off x="4754880" y="1755648"/>
            <a:ext cx="402336" cy="7040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6"/>
          <p:cNvSpPr/>
          <p:nvPr/>
        </p:nvSpPr>
        <p:spPr>
          <a:xfrm>
            <a:off x="5212080" y="1719072"/>
            <a:ext cx="3493008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Upload Your Own Photos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6"/>
          <p:cNvSpPr/>
          <p:nvPr/>
        </p:nvSpPr>
        <p:spPr>
          <a:xfrm>
            <a:off x="5212080" y="2084832"/>
            <a:ext cx="3493008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Min </a:t>
            </a:r>
            <a:r>
              <a:rPr lang="en-US" sz="1000">
                <a:solidFill>
                  <a:srgbClr val="666666"/>
                </a:solidFill>
              </a:rPr>
              <a:t>5</a:t>
            </a: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photos: exterior, interior, surroundings. ONLY photos you took yourself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4754880" y="2688336"/>
            <a:ext cx="4023360" cy="8869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6"/>
          <p:cNvSpPr/>
          <p:nvPr/>
        </p:nvSpPr>
        <p:spPr>
          <a:xfrm>
            <a:off x="4754880" y="2688336"/>
            <a:ext cx="402336" cy="88696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6"/>
          <p:cNvSpPr/>
          <p:nvPr/>
        </p:nvSpPr>
        <p:spPr>
          <a:xfrm>
            <a:off x="4754880" y="2779776"/>
            <a:ext cx="402336" cy="7040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6"/>
          <p:cNvSpPr/>
          <p:nvPr/>
        </p:nvSpPr>
        <p:spPr>
          <a:xfrm>
            <a:off x="5212080" y="2743200"/>
            <a:ext cx="3493008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Add Contact Details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6"/>
          <p:cNvSpPr/>
          <p:nvPr/>
        </p:nvSpPr>
        <p:spPr>
          <a:xfrm>
            <a:off x="5212080" y="3108960"/>
            <a:ext cx="3493008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Verified phone number and email of the landlord or agent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6"/>
          <p:cNvSpPr/>
          <p:nvPr/>
        </p:nvSpPr>
        <p:spPr>
          <a:xfrm>
            <a:off x="4754880" y="3712464"/>
            <a:ext cx="4023360" cy="8869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6"/>
          <p:cNvSpPr/>
          <p:nvPr/>
        </p:nvSpPr>
        <p:spPr>
          <a:xfrm>
            <a:off x="4754880" y="3712464"/>
            <a:ext cx="402336" cy="88696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6"/>
          <p:cNvSpPr/>
          <p:nvPr/>
        </p:nvSpPr>
        <p:spPr>
          <a:xfrm>
            <a:off x="4754880" y="3803904"/>
            <a:ext cx="402336" cy="7040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6"/>
          <p:cNvSpPr/>
          <p:nvPr/>
        </p:nvSpPr>
        <p:spPr>
          <a:xfrm>
            <a:off x="5212080" y="3767328"/>
            <a:ext cx="3493008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Submit &amp; Screenshot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6"/>
          <p:cNvSpPr/>
          <p:nvPr/>
        </p:nvSpPr>
        <p:spPr>
          <a:xfrm>
            <a:off x="5212080" y="4133088"/>
            <a:ext cx="3493008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Review everything, submit, wait for it to go live, then screenshot as proof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6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www.makaug.com  |  Uganda Property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7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7"/>
          <p:cNvSpPr/>
          <p:nvPr/>
        </p:nvSpPr>
        <p:spPr>
          <a:xfrm>
            <a:off x="365760" y="73152"/>
            <a:ext cx="8412480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MAKAUG.COM  |  Signing Up Agents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7"/>
          <p:cNvSpPr/>
          <p:nvPr/>
        </p:nvSpPr>
        <p:spPr>
          <a:xfrm>
            <a:off x="457200" y="9601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5E2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B5E20"/>
                </a:solidFill>
                <a:latin typeface="Arial"/>
                <a:ea typeface="Arial"/>
                <a:cs typeface="Arial"/>
                <a:sym typeface="Arial"/>
              </a:rPr>
              <a:t>Signing Up Property Agents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7"/>
          <p:cNvSpPr/>
          <p:nvPr/>
        </p:nvSpPr>
        <p:spPr>
          <a:xfrm>
            <a:off x="365760" y="1645920"/>
            <a:ext cx="4023360" cy="301752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7"/>
          <p:cNvSpPr/>
          <p:nvPr/>
        </p:nvSpPr>
        <p:spPr>
          <a:xfrm>
            <a:off x="502920" y="1719072"/>
            <a:ext cx="3749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5E2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B5E20"/>
                </a:solidFill>
                <a:latin typeface="Arial"/>
                <a:ea typeface="Arial"/>
                <a:cs typeface="Arial"/>
                <a:sym typeface="Arial"/>
              </a:rPr>
              <a:t>Why agents should join: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7"/>
          <p:cNvSpPr/>
          <p:nvPr/>
        </p:nvSpPr>
        <p:spPr>
          <a:xfrm>
            <a:off x="502920" y="2139696"/>
            <a:ext cx="3749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•  Get found by hundreds of buyers and renters online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7"/>
          <p:cNvSpPr/>
          <p:nvPr/>
        </p:nvSpPr>
        <p:spPr>
          <a:xfrm>
            <a:off x="502920" y="2587752"/>
            <a:ext cx="3749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•  Create a verified, professional agent profile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7"/>
          <p:cNvSpPr/>
          <p:nvPr/>
        </p:nvSpPr>
        <p:spPr>
          <a:xfrm>
            <a:off x="502920" y="3035808"/>
            <a:ext cx="3749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•  List and manage all properties in one place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7"/>
          <p:cNvSpPr/>
          <p:nvPr/>
        </p:nvSpPr>
        <p:spPr>
          <a:xfrm>
            <a:off x="502920" y="3483864"/>
            <a:ext cx="3749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•  Build their brand and attract more clients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7"/>
          <p:cNvSpPr/>
          <p:nvPr/>
        </p:nvSpPr>
        <p:spPr>
          <a:xfrm>
            <a:off x="502920" y="3931920"/>
            <a:ext cx="3749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•  Free to sign up — nothing to lose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7"/>
          <p:cNvSpPr/>
          <p:nvPr/>
        </p:nvSpPr>
        <p:spPr>
          <a:xfrm>
            <a:off x="4754880" y="1645920"/>
            <a:ext cx="4023360" cy="30175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7"/>
          <p:cNvSpPr/>
          <p:nvPr/>
        </p:nvSpPr>
        <p:spPr>
          <a:xfrm>
            <a:off x="4892040" y="1719072"/>
            <a:ext cx="3749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How to set up an agent: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7"/>
          <p:cNvSpPr/>
          <p:nvPr/>
        </p:nvSpPr>
        <p:spPr>
          <a:xfrm>
            <a:off x="4892040" y="2139696"/>
            <a:ext cx="3749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E6C9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C8E6C9"/>
                </a:solidFill>
                <a:latin typeface="Arial"/>
                <a:ea typeface="Arial"/>
                <a:cs typeface="Arial"/>
                <a:sym typeface="Arial"/>
              </a:rPr>
              <a:t>1.  Visit makaug.com and tap 'Register as Agent'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7"/>
          <p:cNvSpPr/>
          <p:nvPr/>
        </p:nvSpPr>
        <p:spPr>
          <a:xfrm>
            <a:off x="4892040" y="2542032"/>
            <a:ext cx="3749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E6C9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C8E6C9"/>
                </a:solidFill>
                <a:latin typeface="Arial"/>
                <a:ea typeface="Arial"/>
                <a:cs typeface="Arial"/>
                <a:sym typeface="Arial"/>
              </a:rPr>
              <a:t>2.  Enter agency name, logo and contact details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7"/>
          <p:cNvSpPr/>
          <p:nvPr/>
        </p:nvSpPr>
        <p:spPr>
          <a:xfrm>
            <a:off x="4892040" y="2944368"/>
            <a:ext cx="3749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E6C9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C8E6C9"/>
                </a:solidFill>
                <a:latin typeface="Arial"/>
                <a:ea typeface="Arial"/>
                <a:cs typeface="Arial"/>
                <a:sym typeface="Arial"/>
              </a:rPr>
              <a:t>3.  Verify phone number via OTP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7"/>
          <p:cNvSpPr/>
          <p:nvPr/>
        </p:nvSpPr>
        <p:spPr>
          <a:xfrm>
            <a:off x="4892040" y="3346704"/>
            <a:ext cx="3749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E6C9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C8E6C9"/>
                </a:solidFill>
                <a:latin typeface="Arial"/>
                <a:ea typeface="Arial"/>
                <a:cs typeface="Arial"/>
                <a:sym typeface="Arial"/>
              </a:rPr>
              <a:t>4.  Upload a company logo or profile photo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7"/>
          <p:cNvSpPr/>
          <p:nvPr/>
        </p:nvSpPr>
        <p:spPr>
          <a:xfrm>
            <a:off x="4892040" y="3749040"/>
            <a:ext cx="3749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E6C9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C8E6C9"/>
                </a:solidFill>
                <a:latin typeface="Arial"/>
                <a:ea typeface="Arial"/>
                <a:cs typeface="Arial"/>
                <a:sym typeface="Arial"/>
              </a:rPr>
              <a:t>5.  Add at least one active property listing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7"/>
          <p:cNvSpPr/>
          <p:nvPr/>
        </p:nvSpPr>
        <p:spPr>
          <a:xfrm>
            <a:off x="4892040" y="4151376"/>
            <a:ext cx="3749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E6C9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C8E6C9"/>
                </a:solidFill>
                <a:latin typeface="Arial"/>
                <a:ea typeface="Arial"/>
                <a:cs typeface="Arial"/>
                <a:sym typeface="Arial"/>
              </a:rPr>
              <a:t>6.  Profile goes live — agent is on the platform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7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www.makaug.com  |  Uganda Property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7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8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8"/>
          <p:cNvSpPr/>
          <p:nvPr/>
        </p:nvSpPr>
        <p:spPr>
          <a:xfrm>
            <a:off x="365760" y="73152"/>
            <a:ext cx="8412480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MAKAUG.COM  |  Tactics for Success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8"/>
          <p:cNvSpPr/>
          <p:nvPr/>
        </p:nvSpPr>
        <p:spPr>
          <a:xfrm>
            <a:off x="457200" y="9601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5E2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B5E20"/>
                </a:solidFill>
                <a:latin typeface="Arial"/>
                <a:ea typeface="Arial"/>
                <a:cs typeface="Arial"/>
                <a:sym typeface="Arial"/>
              </a:rPr>
              <a:t>Who to Talk to First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8"/>
          <p:cNvSpPr/>
          <p:nvPr/>
        </p:nvSpPr>
        <p:spPr>
          <a:xfrm>
            <a:off x="365760" y="1664208"/>
            <a:ext cx="4023360" cy="8869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8"/>
          <p:cNvSpPr/>
          <p:nvPr/>
        </p:nvSpPr>
        <p:spPr>
          <a:xfrm>
            <a:off x="365760" y="1664208"/>
            <a:ext cx="91440" cy="88696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8"/>
          <p:cNvSpPr/>
          <p:nvPr/>
        </p:nvSpPr>
        <p:spPr>
          <a:xfrm>
            <a:off x="521208" y="1719072"/>
            <a:ext cx="379476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Your Network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8"/>
          <p:cNvSpPr/>
          <p:nvPr/>
        </p:nvSpPr>
        <p:spPr>
          <a:xfrm>
            <a:off x="521208" y="2075688"/>
            <a:ext cx="3794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Family, friends and neighbours who own or rent out property. Start here — trust is already built.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8"/>
          <p:cNvSpPr/>
          <p:nvPr/>
        </p:nvSpPr>
        <p:spPr>
          <a:xfrm>
            <a:off x="365760" y="2688336"/>
            <a:ext cx="4023360" cy="8869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8"/>
          <p:cNvSpPr/>
          <p:nvPr/>
        </p:nvSpPr>
        <p:spPr>
          <a:xfrm>
            <a:off x="365760" y="2688336"/>
            <a:ext cx="91440" cy="88696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8"/>
          <p:cNvSpPr/>
          <p:nvPr/>
        </p:nvSpPr>
        <p:spPr>
          <a:xfrm>
            <a:off x="521208" y="2743200"/>
            <a:ext cx="379476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Local Landlords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8"/>
          <p:cNvSpPr/>
          <p:nvPr/>
        </p:nvSpPr>
        <p:spPr>
          <a:xfrm>
            <a:off x="521208" y="3099816"/>
            <a:ext cx="3794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Spot 'For Rent' or 'For Sale' signs in the street. Walk up, introduce yourself and Makaug.</a:t>
            </a:r>
            <a:r>
              <a:rPr lang="en-US" sz="1000">
                <a:solidFill>
                  <a:srgbClr val="666666"/>
                </a:solidFill>
              </a:rPr>
              <a:t>com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8"/>
          <p:cNvSpPr/>
          <p:nvPr/>
        </p:nvSpPr>
        <p:spPr>
          <a:xfrm>
            <a:off x="365760" y="3712464"/>
            <a:ext cx="4023360" cy="8869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8"/>
          <p:cNvSpPr/>
          <p:nvPr/>
        </p:nvSpPr>
        <p:spPr>
          <a:xfrm>
            <a:off x="365760" y="3712464"/>
            <a:ext cx="91440" cy="88696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8"/>
          <p:cNvSpPr/>
          <p:nvPr/>
        </p:nvSpPr>
        <p:spPr>
          <a:xfrm>
            <a:off x="521208" y="3767328"/>
            <a:ext cx="379476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Estate Agents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8"/>
          <p:cNvSpPr/>
          <p:nvPr/>
        </p:nvSpPr>
        <p:spPr>
          <a:xfrm>
            <a:off x="521208" y="4123944"/>
            <a:ext cx="3794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One agent = 5–20 listings in a single visit. Target every local agency in your area.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8"/>
          <p:cNvSpPr/>
          <p:nvPr/>
        </p:nvSpPr>
        <p:spPr>
          <a:xfrm>
            <a:off x="4754880" y="1664208"/>
            <a:ext cx="4023360" cy="8869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8"/>
          <p:cNvSpPr/>
          <p:nvPr/>
        </p:nvSpPr>
        <p:spPr>
          <a:xfrm>
            <a:off x="4754880" y="1664208"/>
            <a:ext cx="91440" cy="88696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8"/>
          <p:cNvSpPr/>
          <p:nvPr/>
        </p:nvSpPr>
        <p:spPr>
          <a:xfrm>
            <a:off x="4910328" y="1719072"/>
            <a:ext cx="379476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WhatsApp Groups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8"/>
          <p:cNvSpPr/>
          <p:nvPr/>
        </p:nvSpPr>
        <p:spPr>
          <a:xfrm>
            <a:off x="4910328" y="2075688"/>
            <a:ext cx="3794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Housing and rental groups. Ask admins to share your number. Many landlords are in these groups.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8"/>
          <p:cNvSpPr/>
          <p:nvPr/>
        </p:nvSpPr>
        <p:spPr>
          <a:xfrm>
            <a:off x="4754880" y="2688336"/>
            <a:ext cx="4023360" cy="8869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8"/>
          <p:cNvSpPr/>
          <p:nvPr/>
        </p:nvSpPr>
        <p:spPr>
          <a:xfrm>
            <a:off x="4754880" y="2688336"/>
            <a:ext cx="91440" cy="88696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8"/>
          <p:cNvSpPr/>
          <p:nvPr/>
        </p:nvSpPr>
        <p:spPr>
          <a:xfrm>
            <a:off x="4910328" y="2743200"/>
            <a:ext cx="379476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Churches &amp; Mosques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8"/>
          <p:cNvSpPr/>
          <p:nvPr/>
        </p:nvSpPr>
        <p:spPr>
          <a:xfrm>
            <a:off x="4910328" y="3099816"/>
            <a:ext cx="3794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Community word of mouth are among the most powerful tools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8"/>
          <p:cNvSpPr/>
          <p:nvPr/>
        </p:nvSpPr>
        <p:spPr>
          <a:xfrm>
            <a:off x="4754880" y="3712464"/>
            <a:ext cx="4023360" cy="8869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8"/>
          <p:cNvSpPr/>
          <p:nvPr/>
        </p:nvSpPr>
        <p:spPr>
          <a:xfrm>
            <a:off x="4754880" y="3712464"/>
            <a:ext cx="91440" cy="88696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8"/>
          <p:cNvSpPr/>
          <p:nvPr/>
        </p:nvSpPr>
        <p:spPr>
          <a:xfrm>
            <a:off x="4910328" y="3767328"/>
            <a:ext cx="379476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Student Areas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8"/>
          <p:cNvSpPr/>
          <p:nvPr/>
        </p:nvSpPr>
        <p:spPr>
          <a:xfrm>
            <a:off x="4910328" y="4123944"/>
            <a:ext cx="3794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Near universities —</a:t>
            </a:r>
            <a:r>
              <a:rPr lang="en-US" sz="1000">
                <a:solidFill>
                  <a:srgbClr val="666666"/>
                </a:solidFill>
              </a:rPr>
              <a:t> </a:t>
            </a: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student rentals turn over regularly. High-volume opportunity.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8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www.makaug.com  |  Uganda Property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9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9"/>
          <p:cNvSpPr/>
          <p:nvPr/>
        </p:nvSpPr>
        <p:spPr>
          <a:xfrm>
            <a:off x="365760" y="73152"/>
            <a:ext cx="8412480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MAKAUG.COM  |  Tools, Support &amp; Contacts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9"/>
          <p:cNvSpPr/>
          <p:nvPr/>
        </p:nvSpPr>
        <p:spPr>
          <a:xfrm>
            <a:off x="457200" y="9601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5E2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B5E20"/>
                </a:solidFill>
                <a:latin typeface="Arial"/>
                <a:ea typeface="Arial"/>
                <a:cs typeface="Arial"/>
                <a:sym typeface="Arial"/>
              </a:rPr>
              <a:t>Tools, Support &amp; Contacts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9"/>
          <p:cNvSpPr/>
          <p:nvPr/>
        </p:nvSpPr>
        <p:spPr>
          <a:xfrm>
            <a:off x="365760" y="1645920"/>
            <a:ext cx="4023360" cy="18288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9"/>
          <p:cNvSpPr/>
          <p:nvPr/>
        </p:nvSpPr>
        <p:spPr>
          <a:xfrm>
            <a:off x="502920" y="1719072"/>
            <a:ext cx="3749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5E2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B5E20"/>
                </a:solidFill>
                <a:latin typeface="Arial"/>
                <a:ea typeface="Arial"/>
                <a:cs typeface="Arial"/>
                <a:sym typeface="Arial"/>
              </a:rPr>
              <a:t>WhatsApp Listing Chatbot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9"/>
          <p:cNvSpPr/>
          <p:nvPr/>
        </p:nvSpPr>
        <p:spPr>
          <a:xfrm>
            <a:off x="502920" y="2121408"/>
            <a:ext cx="3749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+256 770 646 879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9"/>
          <p:cNvSpPr/>
          <p:nvPr/>
        </p:nvSpPr>
        <p:spPr>
          <a:xfrm>
            <a:off x="502920" y="2523744"/>
            <a:ext cx="37490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Use to submit listings faster, get instant help,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and report any issues with the platform.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9"/>
          <p:cNvSpPr/>
          <p:nvPr/>
        </p:nvSpPr>
        <p:spPr>
          <a:xfrm>
            <a:off x="4754880" y="1645920"/>
            <a:ext cx="4023360" cy="18288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9"/>
          <p:cNvSpPr/>
          <p:nvPr/>
        </p:nvSpPr>
        <p:spPr>
          <a:xfrm>
            <a:off x="4892040" y="1719072"/>
            <a:ext cx="3749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Key Contacts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9"/>
          <p:cNvSpPr/>
          <p:nvPr/>
        </p:nvSpPr>
        <p:spPr>
          <a:xfrm>
            <a:off x="4892040" y="2148840"/>
            <a:ext cx="3749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E6C9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C8E6C9"/>
                </a:solidFill>
                <a:latin typeface="Arial"/>
                <a:ea typeface="Arial"/>
                <a:cs typeface="Arial"/>
                <a:sym typeface="Arial"/>
              </a:rPr>
              <a:t>Email:       info@makaug.com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9"/>
          <p:cNvSpPr/>
          <p:nvPr/>
        </p:nvSpPr>
        <p:spPr>
          <a:xfrm>
            <a:off x="4892040" y="2514600"/>
            <a:ext cx="3749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E6C9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C8E6C9"/>
                </a:solidFill>
                <a:latin typeface="Arial"/>
                <a:ea typeface="Arial"/>
                <a:cs typeface="Arial"/>
                <a:sym typeface="Arial"/>
              </a:rPr>
              <a:t>Website:   www.makaug.com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9"/>
          <p:cNvSpPr/>
          <p:nvPr/>
        </p:nvSpPr>
        <p:spPr>
          <a:xfrm>
            <a:off x="4892040" y="2880360"/>
            <a:ext cx="3749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E6C9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C8E6C9"/>
                </a:solidFill>
                <a:latin typeface="Arial"/>
                <a:ea typeface="Arial"/>
                <a:cs typeface="Arial"/>
                <a:sym typeface="Arial"/>
              </a:rPr>
              <a:t>Site Bugs: info@makaug.com (subject: SITE ISSUE)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9"/>
          <p:cNvSpPr/>
          <p:nvPr/>
        </p:nvSpPr>
        <p:spPr>
          <a:xfrm>
            <a:off x="365760" y="3657600"/>
            <a:ext cx="8412480" cy="1005840"/>
          </a:xfrm>
          <a:prstGeom prst="rect">
            <a:avLst/>
          </a:prstGeom>
          <a:solidFill>
            <a:srgbClr val="FFF9C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9"/>
          <p:cNvSpPr/>
          <p:nvPr/>
        </p:nvSpPr>
        <p:spPr>
          <a:xfrm>
            <a:off x="548640" y="3721608"/>
            <a:ext cx="8046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7F17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57F17"/>
                </a:solidFill>
                <a:latin typeface="Arial"/>
                <a:ea typeface="Arial"/>
                <a:cs typeface="Arial"/>
                <a:sym typeface="Arial"/>
              </a:rPr>
              <a:t>Reporting Site Issues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9"/>
          <p:cNvSpPr/>
          <p:nvPr/>
        </p:nvSpPr>
        <p:spPr>
          <a:xfrm>
            <a:off x="548640" y="4096512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If you spot a bug, broken page, or anything not working on makaug.com — report it straight away to info@makaug.com with 'SITE ISSUE' in the subject. Your report helps us fix it fast for everyone.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9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www.makaug.com  |  Uganda Property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5E20"/>
        </a:solidFill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0"/>
          <p:cNvSpPr/>
          <p:nvPr/>
        </p:nvSpPr>
        <p:spPr>
          <a:xfrm>
            <a:off x="0" y="3611880"/>
            <a:ext cx="9144000" cy="64008"/>
          </a:xfrm>
          <a:prstGeom prst="rect">
            <a:avLst/>
          </a:prstGeom>
          <a:solidFill>
            <a:srgbClr val="81C78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0"/>
          <p:cNvSpPr/>
          <p:nvPr/>
        </p:nvSpPr>
        <p:spPr>
          <a:xfrm>
            <a:off x="0" y="3675888"/>
            <a:ext cx="9144000" cy="1467612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0"/>
          <p:cNvSpPr/>
          <p:nvPr/>
        </p:nvSpPr>
        <p:spPr>
          <a:xfrm>
            <a:off x="548640" y="685800"/>
            <a:ext cx="80467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Font typeface="Arial"/>
              <a:buNone/>
            </a:pPr>
            <a:r>
              <a:rPr b="1" i="0" lang="en-US" sz="4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You're Ready.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0"/>
          <p:cNvSpPr/>
          <p:nvPr/>
        </p:nvSpPr>
        <p:spPr>
          <a:xfrm>
            <a:off x="548640" y="1554480"/>
            <a:ext cx="80467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E6C9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C8E6C9"/>
                </a:solidFill>
                <a:latin typeface="Arial"/>
                <a:ea typeface="Arial"/>
                <a:cs typeface="Arial"/>
                <a:sym typeface="Arial"/>
              </a:rPr>
              <a:t>Get out there, meet landlords, sign up agents,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E6C9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C8E6C9"/>
                </a:solidFill>
                <a:latin typeface="Arial"/>
                <a:ea typeface="Arial"/>
                <a:cs typeface="Arial"/>
                <a:sym typeface="Arial"/>
              </a:rPr>
              <a:t>and bring Uganda's property market online.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0"/>
          <p:cNvSpPr/>
          <p:nvPr/>
        </p:nvSpPr>
        <p:spPr>
          <a:xfrm>
            <a:off x="548640" y="2487168"/>
            <a:ext cx="7772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D6A7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A5D6A7"/>
                </a:solidFill>
                <a:latin typeface="Arial"/>
                <a:ea typeface="Arial"/>
                <a:cs typeface="Arial"/>
                <a:sym typeface="Arial"/>
              </a:rPr>
              <a:t>•  10 listings/week minimum  |  40/month expected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0"/>
          <p:cNvSpPr/>
          <p:nvPr/>
        </p:nvSpPr>
        <p:spPr>
          <a:xfrm>
            <a:off x="548640" y="2743200"/>
            <a:ext cx="7772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D6A7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A5D6A7"/>
                </a:solidFill>
                <a:latin typeface="Arial"/>
                <a:ea typeface="Arial"/>
                <a:cs typeface="Arial"/>
                <a:sym typeface="Arial"/>
              </a:rPr>
              <a:t>•  UGX 5,000 per verified live listing — no cap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0"/>
          <p:cNvSpPr/>
          <p:nvPr/>
        </p:nvSpPr>
        <p:spPr>
          <a:xfrm>
            <a:off x="548640" y="2999232"/>
            <a:ext cx="7772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D6A7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A5D6A7"/>
                </a:solidFill>
                <a:latin typeface="Arial"/>
                <a:ea typeface="Arial"/>
                <a:cs typeface="Arial"/>
                <a:sym typeface="Arial"/>
              </a:rPr>
              <a:t>•  Paid every Friday for the prior week's verified listings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0"/>
          <p:cNvSpPr/>
          <p:nvPr/>
        </p:nvSpPr>
        <p:spPr>
          <a:xfrm>
            <a:off x="548640" y="3255264"/>
            <a:ext cx="7772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D6A7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A5D6A7"/>
                </a:solidFill>
                <a:latin typeface="Arial"/>
                <a:ea typeface="Arial"/>
                <a:cs typeface="Arial"/>
                <a:sym typeface="Arial"/>
              </a:rPr>
              <a:t>•  Fraud = immediate termination, no exceptions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0"/>
          <p:cNvSpPr/>
          <p:nvPr/>
        </p:nvSpPr>
        <p:spPr>
          <a:xfrm>
            <a:off x="548640" y="4224528"/>
            <a:ext cx="8229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1C784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81C784"/>
                </a:solidFill>
                <a:latin typeface="Arial"/>
                <a:ea typeface="Arial"/>
                <a:cs typeface="Arial"/>
                <a:sym typeface="Arial"/>
              </a:rPr>
              <a:t>WhatsApp: +256 770 646 879  |  info@makaug.com  |  www.makaug.com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0"/>
          <p:cNvSpPr/>
          <p:nvPr/>
        </p:nvSpPr>
        <p:spPr>
          <a:xfrm>
            <a:off x="548640" y="4617720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D6A7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A5D6A7"/>
                </a:solidFill>
                <a:latin typeface="Arial"/>
                <a:ea typeface="Arial"/>
                <a:cs typeface="Arial"/>
                <a:sym typeface="Arial"/>
              </a:rPr>
              <a:t>MAKAUG.COM — Uganda Property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2026-03-21T06:13:42Z</dcterms:created>
  <dc:creator>PptxGenJS</dc:creator>
</cp:coreProperties>
</file>