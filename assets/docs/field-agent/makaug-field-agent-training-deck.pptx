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3" name="Google Shape;71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8" name="Google Shape;77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0" name="Google Shape;83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" name="Google Shape;86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2" name="Google Shape;94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1" name="Google Shape;98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4" name="Google Shape;104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3" name="Google Shape;109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1" name="Google Shape;114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0" name="Google Shape;117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1" name="Google Shape;125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1" name="Google Shape;130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6" name="Google Shape;134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5" name="Google Shape;141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8" name="Google Shape;145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1" name="Google Shape;152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4" name="Google Shape;156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7" name="Google Shape;161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8" name="Google Shape;165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9" name="Google Shape;168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3" name="Google Shape;172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6" name="Google Shape;177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0" name="Google Shape;181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2" name="Google Shape;186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9" name="Google Shape;1899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2" name="Google Shape;195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8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0" name="Google Shape;201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6" name="Google Shape;205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7" name="Google Shape;2057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3" name="Google Shape;209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7" name="Google Shape;2157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9" name="Google Shape;220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0" name="Google Shape;226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1" name="Google Shape;2261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3" name="Google Shape;231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42.png"/><Relationship Id="rId6" Type="http://schemas.openxmlformats.org/officeDocument/2006/relationships/image" Target="../media/image6.png"/><Relationship Id="rId7" Type="http://schemas.openxmlformats.org/officeDocument/2006/relationships/image" Target="../media/image18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10" Type="http://schemas.openxmlformats.org/officeDocument/2006/relationships/image" Target="../media/image10.png"/><Relationship Id="rId9" Type="http://schemas.openxmlformats.org/officeDocument/2006/relationships/image" Target="../media/image18.png"/><Relationship Id="rId5" Type="http://schemas.openxmlformats.org/officeDocument/2006/relationships/image" Target="../media/image42.png"/><Relationship Id="rId6" Type="http://schemas.openxmlformats.org/officeDocument/2006/relationships/image" Target="../media/image34.png"/><Relationship Id="rId7" Type="http://schemas.openxmlformats.org/officeDocument/2006/relationships/image" Target="../media/image14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34.png"/><Relationship Id="rId5" Type="http://schemas.openxmlformats.org/officeDocument/2006/relationships/image" Target="../media/image40.png"/><Relationship Id="rId6" Type="http://schemas.openxmlformats.org/officeDocument/2006/relationships/image" Target="../media/image28.png"/><Relationship Id="rId7" Type="http://schemas.openxmlformats.org/officeDocument/2006/relationships/image" Target="../media/image14.png"/><Relationship Id="rId8" Type="http://schemas.openxmlformats.org/officeDocument/2006/relationships/image" Target="../media/image6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Relationship Id="rId4" Type="http://schemas.openxmlformats.org/officeDocument/2006/relationships/image" Target="../media/image38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21.png"/><Relationship Id="rId11" Type="http://schemas.openxmlformats.org/officeDocument/2006/relationships/image" Target="../media/image3.png"/><Relationship Id="rId10" Type="http://schemas.openxmlformats.org/officeDocument/2006/relationships/image" Target="../media/image39.png"/><Relationship Id="rId9" Type="http://schemas.openxmlformats.org/officeDocument/2006/relationships/image" Target="../media/image50.png"/><Relationship Id="rId5" Type="http://schemas.openxmlformats.org/officeDocument/2006/relationships/image" Target="../media/image30.png"/><Relationship Id="rId6" Type="http://schemas.openxmlformats.org/officeDocument/2006/relationships/image" Target="../media/image45.png"/><Relationship Id="rId7" Type="http://schemas.openxmlformats.org/officeDocument/2006/relationships/image" Target="../media/image9.png"/><Relationship Id="rId8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7.png"/><Relationship Id="rId4" Type="http://schemas.openxmlformats.org/officeDocument/2006/relationships/image" Target="../media/image30.png"/><Relationship Id="rId5" Type="http://schemas.openxmlformats.org/officeDocument/2006/relationships/image" Target="../media/image45.png"/><Relationship Id="rId6" Type="http://schemas.openxmlformats.org/officeDocument/2006/relationships/image" Target="../media/image54.png"/><Relationship Id="rId7" Type="http://schemas.openxmlformats.org/officeDocument/2006/relationships/image" Target="../media/image5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Relationship Id="rId4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8.png"/><Relationship Id="rId4" Type="http://schemas.openxmlformats.org/officeDocument/2006/relationships/image" Target="../media/image46.png"/><Relationship Id="rId11" Type="http://schemas.openxmlformats.org/officeDocument/2006/relationships/image" Target="../media/image66.png"/><Relationship Id="rId10" Type="http://schemas.openxmlformats.org/officeDocument/2006/relationships/image" Target="../media/image20.png"/><Relationship Id="rId9" Type="http://schemas.openxmlformats.org/officeDocument/2006/relationships/image" Target="../media/image29.png"/><Relationship Id="rId5" Type="http://schemas.openxmlformats.org/officeDocument/2006/relationships/image" Target="../media/image12.png"/><Relationship Id="rId6" Type="http://schemas.openxmlformats.org/officeDocument/2006/relationships/image" Target="../media/image71.png"/><Relationship Id="rId7" Type="http://schemas.openxmlformats.org/officeDocument/2006/relationships/image" Target="../media/image50.png"/><Relationship Id="rId8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42.png"/><Relationship Id="rId5" Type="http://schemas.openxmlformats.org/officeDocument/2006/relationships/image" Target="../media/image6.png"/><Relationship Id="rId6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42.png"/><Relationship Id="rId5" Type="http://schemas.openxmlformats.org/officeDocument/2006/relationships/image" Target="../media/image18.png"/><Relationship Id="rId6" Type="http://schemas.openxmlformats.org/officeDocument/2006/relationships/image" Target="../media/image74.png"/><Relationship Id="rId7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10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83.png"/><Relationship Id="rId10" Type="http://schemas.openxmlformats.org/officeDocument/2006/relationships/image" Target="../media/image80.png"/><Relationship Id="rId9" Type="http://schemas.openxmlformats.org/officeDocument/2006/relationships/image" Target="../media/image14.png"/><Relationship Id="rId5" Type="http://schemas.openxmlformats.org/officeDocument/2006/relationships/image" Target="../media/image31.png"/><Relationship Id="rId6" Type="http://schemas.openxmlformats.org/officeDocument/2006/relationships/image" Target="../media/image45.png"/><Relationship Id="rId7" Type="http://schemas.openxmlformats.org/officeDocument/2006/relationships/image" Target="../media/image3.png"/><Relationship Id="rId8" Type="http://schemas.openxmlformats.org/officeDocument/2006/relationships/image" Target="../media/image3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3.png"/><Relationship Id="rId4" Type="http://schemas.openxmlformats.org/officeDocument/2006/relationships/image" Target="../media/image118.png"/><Relationship Id="rId10" Type="http://schemas.openxmlformats.org/officeDocument/2006/relationships/image" Target="../media/image92.png"/><Relationship Id="rId9" Type="http://schemas.openxmlformats.org/officeDocument/2006/relationships/image" Target="../media/image14.png"/><Relationship Id="rId5" Type="http://schemas.openxmlformats.org/officeDocument/2006/relationships/image" Target="../media/image100.png"/><Relationship Id="rId6" Type="http://schemas.openxmlformats.org/officeDocument/2006/relationships/image" Target="../media/image104.png"/><Relationship Id="rId7" Type="http://schemas.openxmlformats.org/officeDocument/2006/relationships/image" Target="../media/image98.png"/><Relationship Id="rId8" Type="http://schemas.openxmlformats.org/officeDocument/2006/relationships/image" Target="../media/image6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1.png"/><Relationship Id="rId4" Type="http://schemas.openxmlformats.org/officeDocument/2006/relationships/image" Target="../media/image30.png"/><Relationship Id="rId10" Type="http://schemas.openxmlformats.org/officeDocument/2006/relationships/image" Target="../media/image14.png"/><Relationship Id="rId9" Type="http://schemas.openxmlformats.org/officeDocument/2006/relationships/image" Target="../media/image108.png"/><Relationship Id="rId5" Type="http://schemas.openxmlformats.org/officeDocument/2006/relationships/image" Target="../media/image31.png"/><Relationship Id="rId6" Type="http://schemas.openxmlformats.org/officeDocument/2006/relationships/image" Target="../media/image29.png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9" Type="http://schemas.openxmlformats.org/officeDocument/2006/relationships/image" Target="../media/image54.png"/><Relationship Id="rId5" Type="http://schemas.openxmlformats.org/officeDocument/2006/relationships/image" Target="../media/image104.png"/><Relationship Id="rId6" Type="http://schemas.openxmlformats.org/officeDocument/2006/relationships/image" Target="../media/image68.png"/><Relationship Id="rId7" Type="http://schemas.openxmlformats.org/officeDocument/2006/relationships/image" Target="../media/image108.png"/><Relationship Id="rId8" Type="http://schemas.openxmlformats.org/officeDocument/2006/relationships/image" Target="../media/image3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3.png"/><Relationship Id="rId4" Type="http://schemas.openxmlformats.org/officeDocument/2006/relationships/image" Target="../media/image14.png"/><Relationship Id="rId11" Type="http://schemas.openxmlformats.org/officeDocument/2006/relationships/image" Target="../media/image92.png"/><Relationship Id="rId10" Type="http://schemas.openxmlformats.org/officeDocument/2006/relationships/image" Target="../media/image64.png"/><Relationship Id="rId9" Type="http://schemas.openxmlformats.org/officeDocument/2006/relationships/image" Target="../media/image113.png"/><Relationship Id="rId5" Type="http://schemas.openxmlformats.org/officeDocument/2006/relationships/image" Target="../media/image3.png"/><Relationship Id="rId6" Type="http://schemas.openxmlformats.org/officeDocument/2006/relationships/image" Target="../media/image104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2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513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949440" y="-914400"/>
            <a:ext cx="4114800" cy="4114800"/>
          </a:xfrm>
          <a:prstGeom prst="ellipse">
            <a:avLst/>
          </a:prstGeom>
          <a:solidFill>
            <a:srgbClr val="1A7A4C"/>
          </a:solidFill>
          <a:ln cap="flat" cmpd="sng" w="12700">
            <a:solidFill>
              <a:srgbClr val="1A7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498080" y="2926080"/>
            <a:ext cx="2926080" cy="292608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914400" y="3474720"/>
            <a:ext cx="2377440" cy="2377440"/>
          </a:xfrm>
          <a:prstGeom prst="ellipse">
            <a:avLst/>
          </a:prstGeom>
          <a:solidFill>
            <a:srgbClr val="1A7A4C"/>
          </a:solidFill>
          <a:ln cap="flat" cmpd="sng" w="12700">
            <a:solidFill>
              <a:srgbClr val="1A7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48640" y="457200"/>
            <a:ext cx="1463040" cy="4572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48640" y="4572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MakaUg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14173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FIELD AGENT TRAINING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1783080"/>
            <a:ext cx="7772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trusted property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listings across Uganda.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35204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1C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7E1C8"/>
                </a:solidFill>
                <a:latin typeface="Calibri"/>
                <a:ea typeface="Calibri"/>
                <a:cs typeface="Calibri"/>
                <a:sym typeface="Calibri"/>
              </a:rPr>
              <a:t>How to source, verify, list, and support property listings on MakaUg.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4160520"/>
            <a:ext cx="8046720" cy="548640"/>
          </a:xfrm>
          <a:prstGeom prst="roundRect">
            <a:avLst>
              <a:gd fmla="val 13333" name="adj"/>
            </a:avLst>
          </a:prstGeom>
          <a:solidFill>
            <a:srgbClr val="FFFFFF">
              <a:alpha val="12156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makaug.com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💬 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WhatsApp 0760112587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✉ 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info@makaug.com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365760" y="292608"/>
            <a:ext cx="969264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65760" y="292608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· WELCOME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Why this training matters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You are not just submitting listings — you are building Uganda's most trusted property platform.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34340" y="1691640"/>
            <a:ext cx="2606040" cy="237744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708660" y="1965960"/>
            <a:ext cx="640080" cy="64008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678" y="210997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708660" y="269748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You build trust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08660" y="3108960"/>
            <a:ext cx="2057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Every accurate listing you submit makes MakaUg safer for renters, buyers, and landlords.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268980" y="1691640"/>
            <a:ext cx="2606040" cy="237744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543300" y="1965960"/>
            <a:ext cx="640080" cy="64008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7318" y="210997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3543300" y="269748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You serve people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543300" y="3108960"/>
            <a:ext cx="2057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Many property owners are not online-savvy. You are the bridge between them and a national audience.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103620" y="1691640"/>
            <a:ext cx="2606040" cy="237744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377940" y="1965960"/>
            <a:ext cx="640080" cy="64008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1958" y="210997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6377940" y="269748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You grow Uganda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377940" y="3108960"/>
            <a:ext cx="2057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Better listings mean faster matches — students find rooms, families find homes, businesses find space.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48640" y="4251960"/>
            <a:ext cx="8046720" cy="640080"/>
          </a:xfrm>
          <a:prstGeom prst="roundRect">
            <a:avLst>
              <a:gd fmla="val 14286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48640" y="42519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Field Agent promise:  </a:t>
            </a:r>
            <a:r>
              <a:rPr b="0" i="1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We make property in Uganda easier to find, easier to list, and safer to trust.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1 · Welcome &amp; Context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365760" y="292608"/>
            <a:ext cx="969264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365760" y="292608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· WELCOME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What is MakaUg?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Uganda's property marketplace — accessible from any phone, in any district.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65760" y="1554480"/>
            <a:ext cx="4023360" cy="3246120"/>
          </a:xfrm>
          <a:prstGeom prst="roundRect">
            <a:avLst>
              <a:gd fmla="val 2817" name="adj"/>
            </a:avLst>
          </a:prstGeom>
          <a:solidFill>
            <a:srgbClr val="0F5132"/>
          </a:solidFill>
          <a:ln cap="flat" cmpd="sng" w="9525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40080" y="17830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In one sentence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40080" y="210312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MakaUg is a free Uganda-first property platform where people search, list, save, and connect — through the website or WhatsApp.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40080" y="338328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1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E1C8"/>
                </a:solidFill>
                <a:latin typeface="Calibri"/>
                <a:ea typeface="Calibri"/>
                <a:cs typeface="Calibri"/>
                <a:sym typeface="Calibri"/>
              </a:rPr>
              <a:t>Coverage: all 146 districts of Uganda.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1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E1C8"/>
                </a:solidFill>
                <a:latin typeface="Calibri"/>
                <a:ea typeface="Calibri"/>
                <a:cs typeface="Calibri"/>
                <a:sym typeface="Calibri"/>
              </a:rPr>
              <a:t>Languages: 7 supported.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1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E1C8"/>
                </a:solidFill>
                <a:latin typeface="Calibri"/>
                <a:ea typeface="Calibri"/>
                <a:cs typeface="Calibri"/>
                <a:sym typeface="Calibri"/>
              </a:rPr>
              <a:t>Channels: website + WhatsApp.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1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E1C8"/>
                </a:solidFill>
                <a:latin typeface="Calibri"/>
                <a:ea typeface="Calibri"/>
                <a:cs typeface="Calibri"/>
                <a:sym typeface="Calibri"/>
              </a:rPr>
              <a:t>Cost to list: free.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572000" y="1554480"/>
            <a:ext cx="1325880" cy="1508760"/>
          </a:xfrm>
          <a:prstGeom prst="roundRect">
            <a:avLst>
              <a:gd fmla="val 6897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4983480" y="1783080"/>
            <a:ext cx="502920" cy="50292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6637" y="189623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4617720" y="2423160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Homes for Sale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007608" y="1554480"/>
            <a:ext cx="1325880" cy="1508760"/>
          </a:xfrm>
          <a:prstGeom prst="roundRect">
            <a:avLst>
              <a:gd fmla="val 6897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419088" y="1783080"/>
            <a:ext cx="502920" cy="50292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2245" y="189623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6053328" y="2423160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Homes for Rent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7443216" y="1554480"/>
            <a:ext cx="1325880" cy="1508760"/>
          </a:xfrm>
          <a:prstGeom prst="roundRect">
            <a:avLst>
              <a:gd fmla="val 6897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7854696" y="1783080"/>
            <a:ext cx="502920" cy="50292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67853" y="189623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7488936" y="2423160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Student Housing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0" y="3172968"/>
            <a:ext cx="1325880" cy="1508760"/>
          </a:xfrm>
          <a:prstGeom prst="roundRect">
            <a:avLst>
              <a:gd fmla="val 6897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983480" y="3401568"/>
            <a:ext cx="502920" cy="50292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6637" y="3514725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4617720" y="4041648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Land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007608" y="3172968"/>
            <a:ext cx="1325880" cy="1508760"/>
          </a:xfrm>
          <a:prstGeom prst="roundRect">
            <a:avLst>
              <a:gd fmla="val 6897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419088" y="3401568"/>
            <a:ext cx="502920" cy="50292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2245" y="3514725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6053328" y="4041648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Commercial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443216" y="3172968"/>
            <a:ext cx="1325880" cy="1508760"/>
          </a:xfrm>
          <a:prstGeom prst="roundRect">
            <a:avLst>
              <a:gd fmla="val 6897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7854696" y="3401568"/>
            <a:ext cx="502920" cy="50292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67853" y="3514725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7488936" y="4041648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Brokers &amp; Mortgage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1 · Welcome &amp; Context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513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365760" y="292608"/>
            <a:ext cx="969264" cy="256032"/>
          </a:xfrm>
          <a:prstGeom prst="roundRect">
            <a:avLst>
              <a:gd fmla="val 14286" name="adj"/>
            </a:avLst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65760" y="292608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· WELCOME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-1828800" y="-1371600"/>
            <a:ext cx="4572000" cy="4572000"/>
          </a:xfrm>
          <a:prstGeom prst="ellipse">
            <a:avLst/>
          </a:prstGeom>
          <a:solidFill>
            <a:srgbClr val="1A7A4C"/>
          </a:solidFill>
          <a:ln cap="flat" cmpd="sng" w="12700">
            <a:solidFill>
              <a:srgbClr val="1A7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A7A4C">
              <a:alpha val="70196"/>
            </a:srgbClr>
          </a:solidFill>
          <a:ln cap="flat" cmpd="sng" w="12700">
            <a:solidFill>
              <a:srgbClr val="1A7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914400" y="12801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OUR MISSION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48640" y="1737360"/>
            <a:ext cx="80467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Property in Uganda should be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easier to find, easier to list,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 safer to trust.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94360" y="4069080"/>
            <a:ext cx="2468880" cy="640080"/>
          </a:xfrm>
          <a:prstGeom prst="roundRect">
            <a:avLst>
              <a:gd fmla="val 11429" name="adj"/>
            </a:avLst>
          </a:prstGeom>
          <a:solidFill>
            <a:srgbClr val="FFFFFF">
              <a:alpha val="14901"/>
            </a:srgbClr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594360" y="406908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FIND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Discoverable across all 146 districts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3337560" y="4069080"/>
            <a:ext cx="2468880" cy="640080"/>
          </a:xfrm>
          <a:prstGeom prst="roundRect">
            <a:avLst>
              <a:gd fmla="val 11429" name="adj"/>
            </a:avLst>
          </a:prstGeom>
          <a:solidFill>
            <a:srgbClr val="FFFFFF">
              <a:alpha val="14901"/>
            </a:srgbClr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3337560" y="406908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 and guided in 7 languages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080760" y="4069080"/>
            <a:ext cx="2468880" cy="640080"/>
          </a:xfrm>
          <a:prstGeom prst="roundRect">
            <a:avLst>
              <a:gd fmla="val 11429" name="adj"/>
            </a:avLst>
          </a:prstGeom>
          <a:solidFill>
            <a:srgbClr val="FFFFFF">
              <a:alpha val="14901"/>
            </a:srgbClr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080760" y="406908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Verified, reviewed, and protected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365760" y="292608"/>
            <a:ext cx="969264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365760" y="292608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· WELCOME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Who MakaUg helps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Eight audiences. One platform. Field Agents touch every one of them.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342900" y="1691640"/>
            <a:ext cx="201168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507492" y="1856232"/>
            <a:ext cx="457200" cy="45720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362" y="195910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/>
          <p:nvPr/>
        </p:nvSpPr>
        <p:spPr>
          <a:xfrm>
            <a:off x="1056132" y="185623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Renters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07492" y="242316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Looking for a home that fits budget &amp; area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2491740" y="1691640"/>
            <a:ext cx="201168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2656332" y="1856232"/>
            <a:ext cx="457200" cy="45720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9202" y="195910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3204972" y="185623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Buyers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2656332" y="242316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Buying a home or investment property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640580" y="1691640"/>
            <a:ext cx="201168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805172" y="1856232"/>
            <a:ext cx="457200" cy="45720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8042" y="195910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5353812" y="185623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Students &amp; Parents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805172" y="242316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Hostel and off-campus housing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789420" y="1691640"/>
            <a:ext cx="201168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954012" y="1856232"/>
            <a:ext cx="457200" cy="45720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6882" y="195910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7502652" y="185623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Property Owners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954012" y="242316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Listing one or many properties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342900" y="3273552"/>
            <a:ext cx="201168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507492" y="3438144"/>
            <a:ext cx="457200" cy="45720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0362" y="3541014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1056132" y="343814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Brokers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07492" y="4005072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Managing client portfolios at scale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491740" y="3273552"/>
            <a:ext cx="201168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2656332" y="3438144"/>
            <a:ext cx="457200" cy="45720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59202" y="3541014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3204972" y="343814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Land Seekers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2656332" y="4005072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Plots for residence, farming, or build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640580" y="3273552"/>
            <a:ext cx="201168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805172" y="3438144"/>
            <a:ext cx="457200" cy="45720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08042" y="3541014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5353812" y="343814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Commercial Users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805172" y="4005072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Shops, offices, warehouses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789420" y="3273552"/>
            <a:ext cx="201168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6954012" y="3438144"/>
            <a:ext cx="457200" cy="45720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56882" y="3541014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/>
          <p:nvPr/>
        </p:nvSpPr>
        <p:spPr>
          <a:xfrm>
            <a:off x="7502652" y="343814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Advertisers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954012" y="4005072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Reaching property audiences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1 · Welcome &amp; Context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/>
          <p:nvPr/>
        </p:nvSpPr>
        <p:spPr>
          <a:xfrm>
            <a:off x="365760" y="292608"/>
            <a:ext cx="1046988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365760" y="292608"/>
            <a:ext cx="10469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THE ROLE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What is a MakaUg Field Agent?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Your role, in plain language.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65760" y="1600200"/>
            <a:ext cx="4846320" cy="3200400"/>
          </a:xfrm>
          <a:prstGeom prst="roundRect">
            <a:avLst>
              <a:gd fmla="val 2857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365760" y="1600200"/>
            <a:ext cx="73152" cy="3200400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098" y="192709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1417320" y="18288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40080" y="2606040"/>
            <a:ext cx="4434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A trusted person who collects accurate property information on behalf of listers and submits it through MakaUg.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40080" y="3749040"/>
            <a:ext cx="4434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Field Agents are the human layer behind clean data — the eyes, ears, and helping hands of the marketplace, in every village, town and district of Uganda.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5486400" y="16916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What you do, day-to-day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486400" y="2148840"/>
            <a:ext cx="164592" cy="164592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5486400" y="2148840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760720" y="21031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Visit owners, brokers, landlords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486400" y="2532888"/>
            <a:ext cx="164592" cy="164592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5486400" y="2532888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760720" y="248716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Collect property information accurately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486400" y="2916936"/>
            <a:ext cx="164592" cy="164592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5486400" y="2916936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760720" y="2871216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Take clear, daylight photos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486400" y="3300984"/>
            <a:ext cx="164592" cy="164592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5486400" y="3300984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5760720" y="3255264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Capture the correct map pin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5486400" y="3685032"/>
            <a:ext cx="164592" cy="164592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5486400" y="3685032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5760720" y="363931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Submit listings via web or WhatsApp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486400" y="4069080"/>
            <a:ext cx="164592" cy="164592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5486400" y="4069080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760720" y="40233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Confirm OTP and verification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486400" y="4453128"/>
            <a:ext cx="164592" cy="164592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5486400" y="4453128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760720" y="440740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Fix rejections and escalate issues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2 · The Field Agent Role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"/>
          <p:cNvSpPr/>
          <p:nvPr/>
        </p:nvSpPr>
        <p:spPr>
          <a:xfrm>
            <a:off x="365760" y="292608"/>
            <a:ext cx="1046988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365760" y="292608"/>
            <a:ext cx="10469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THE ROLE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What you are NOT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Knowing the limits of the role protects you, the lister, and MakaUg.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25780" y="1691640"/>
            <a:ext cx="260604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525780" y="1691640"/>
            <a:ext cx="73152" cy="64008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690372" y="1691640"/>
            <a:ext cx="365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074420" y="169164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lawyer or legal advisor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3268980" y="1691640"/>
            <a:ext cx="260604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3268980" y="1691640"/>
            <a:ext cx="73152" cy="64008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3433572" y="1691640"/>
            <a:ext cx="365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3817620" y="169164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land-title certifier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012180" y="1691640"/>
            <a:ext cx="260604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6012180" y="1691640"/>
            <a:ext cx="73152" cy="64008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6176772" y="1691640"/>
            <a:ext cx="365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560820" y="169164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payment collector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25780" y="2468880"/>
            <a:ext cx="260604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525780" y="2468880"/>
            <a:ext cx="73152" cy="64008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690372" y="2468880"/>
            <a:ext cx="365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4420" y="246888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Allowed to guarantee ownership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3268980" y="2468880"/>
            <a:ext cx="260604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3268980" y="2468880"/>
            <a:ext cx="73152" cy="64008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3433572" y="2468880"/>
            <a:ext cx="365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3817620" y="246888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Allowed to take side payments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6012180" y="2468880"/>
            <a:ext cx="260604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6012180" y="2468880"/>
            <a:ext cx="73152" cy="64008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6176772" y="2468880"/>
            <a:ext cx="365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560820" y="246888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Allowed to create fake listings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525780" y="3246120"/>
            <a:ext cx="260604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525780" y="3246120"/>
            <a:ext cx="73152" cy="64008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690372" y="3246120"/>
            <a:ext cx="365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074420" y="324612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Allowed to pressure customers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3268980" y="3246120"/>
            <a:ext cx="260604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3268980" y="3246120"/>
            <a:ext cx="73152" cy="64008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3433572" y="3246120"/>
            <a:ext cx="365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3817620" y="324612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Allowed to promise approval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365760" y="4206240"/>
            <a:ext cx="8412480" cy="594360"/>
          </a:xfrm>
          <a:prstGeom prst="roundRect">
            <a:avLst>
              <a:gd fmla="val 15385" name="adj"/>
            </a:avLst>
          </a:prstGeom>
          <a:solidFill>
            <a:srgbClr val="0F5132"/>
          </a:solidFill>
          <a:ln cap="flat" cmpd="sng" w="9525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Golden rule:  </a:t>
            </a:r>
            <a:r>
              <a:rPr b="0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you are unsure, escalate to MakaUg admin. Never improvise on legal or financial matters.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2 · The Field Agent Role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/>
          <p:nvPr/>
        </p:nvSpPr>
        <p:spPr>
          <a:xfrm>
            <a:off x="365760" y="292608"/>
            <a:ext cx="1046988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365760" y="292608"/>
            <a:ext cx="10469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THE ROLE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Why Field Agents are essential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changes when a trained Field Agent is on the ground.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365760" y="1645920"/>
            <a:ext cx="4069080" cy="3154680"/>
          </a:xfrm>
          <a:prstGeom prst="roundRect">
            <a:avLst>
              <a:gd fmla="val 289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548640" y="1828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WITHOUT FIELD AGENTS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548640" y="22402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868680" y="22402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Owners struggle with online forms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548640" y="26060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868680" y="26060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Photos are blurry or missing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868680" y="29718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Map pins land in the wrong place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548640" y="33375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868680" y="33375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Listings get rejected and abandoned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548640" y="37033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868680" y="37033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Less-tech-savvy areas get left behind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548640" y="40690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868680" y="40690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Fraud is harder to spot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4709160" y="1645920"/>
            <a:ext cx="4069080" cy="3154680"/>
          </a:xfrm>
          <a:prstGeom prst="roundRect">
            <a:avLst>
              <a:gd fmla="val 2899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4892040" y="1828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WITH FIELD AGENTS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4892040" y="22402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5212080" y="22402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Listings completed quickly and correctly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4892040" y="26060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5212080" y="26060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Clear daylight photos every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4892040" y="29718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5212080" y="29718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Map pins confirmed on the ground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4892040" y="33375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5212080" y="33375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Higher approval rates, less waste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892040" y="37033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5212080" y="37033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Coverage spreads to every district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892040" y="40690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5212080" y="40690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Fraud caught earlier, in person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2 · The Field Agent Role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"/>
          <p:cNvSpPr/>
          <p:nvPr/>
        </p:nvSpPr>
        <p:spPr>
          <a:xfrm>
            <a:off x="365760" y="292608"/>
            <a:ext cx="1046988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365760" y="292608"/>
            <a:ext cx="10469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THE ROLE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Field Agent values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Carry these into every visit, every form, every WhatsApp message.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342900" y="1645920"/>
            <a:ext cx="2011680" cy="14630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1074420" y="1810512"/>
            <a:ext cx="548640" cy="54864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7864" y="193395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1"/>
          <p:cNvSpPr/>
          <p:nvPr/>
        </p:nvSpPr>
        <p:spPr>
          <a:xfrm>
            <a:off x="434340" y="24231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480060" y="272491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Right information, every time.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2491740" y="1645920"/>
            <a:ext cx="2011680" cy="14630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3223260" y="1810512"/>
            <a:ext cx="548640" cy="54864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3" name="Google Shape;31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6704" y="193395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/>
          <p:nvPr/>
        </p:nvSpPr>
        <p:spPr>
          <a:xfrm>
            <a:off x="2583180" y="24231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2628900" y="272491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Earn it, protect it, never break it.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4640580" y="1645920"/>
            <a:ext cx="2011680" cy="14630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5372100" y="1810512"/>
            <a:ext cx="548640" cy="54864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8" name="Google Shape;31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5544" y="193395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1"/>
          <p:cNvSpPr/>
          <p:nvPr/>
        </p:nvSpPr>
        <p:spPr>
          <a:xfrm>
            <a:off x="4732020" y="24231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777740" y="272491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Move fast — without skipping steps.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6789420" y="1645920"/>
            <a:ext cx="2011680" cy="14630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7520940" y="1810512"/>
            <a:ext cx="548640" cy="54864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3" name="Google Shape;32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44384" y="193395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1"/>
          <p:cNvSpPr/>
          <p:nvPr/>
        </p:nvSpPr>
        <p:spPr>
          <a:xfrm>
            <a:off x="6880860" y="24231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Safety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6926580" y="272491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Yours, the customer's, the data's.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1417320" y="3246120"/>
            <a:ext cx="2011680" cy="14630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2148840" y="3410712"/>
            <a:ext cx="548640" cy="54864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8" name="Google Shape;32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72284" y="353415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1"/>
          <p:cNvSpPr/>
          <p:nvPr/>
        </p:nvSpPr>
        <p:spPr>
          <a:xfrm>
            <a:off x="1508760" y="40233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Respect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1554480" y="432511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Every owner, every district, equally.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3566160" y="3246120"/>
            <a:ext cx="2011680" cy="14630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4297680" y="3410712"/>
            <a:ext cx="548640" cy="54864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3" name="Google Shape;333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21124" y="353415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1"/>
          <p:cNvSpPr/>
          <p:nvPr/>
        </p:nvSpPr>
        <p:spPr>
          <a:xfrm>
            <a:off x="3657600" y="40233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Confidentiality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3703320" y="432511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User data stays inside MakaUg.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5715000" y="3246120"/>
            <a:ext cx="2011680" cy="146304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6446520" y="3410712"/>
            <a:ext cx="548640" cy="54864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8" name="Google Shape;338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69964" y="353415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1"/>
          <p:cNvSpPr/>
          <p:nvPr/>
        </p:nvSpPr>
        <p:spPr>
          <a:xfrm>
            <a:off x="5806440" y="40233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Professionalism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5852160" y="432511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Look, speak, act the part.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2 · The Field Agent Role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"/>
          <p:cNvSpPr/>
          <p:nvPr/>
        </p:nvSpPr>
        <p:spPr>
          <a:xfrm>
            <a:off x="365760" y="292608"/>
            <a:ext cx="1046988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365760" y="292608"/>
            <a:ext cx="10469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THE ROLE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How performance is measured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These ten signals appear on your dashboard. Aim for steady improvement, not perfection on day one.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205740" y="1691640"/>
            <a:ext cx="1673352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205740" y="1691640"/>
            <a:ext cx="1673352" cy="54864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297180" y="1856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297180" y="2331720"/>
            <a:ext cx="1490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Listings submitted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297180" y="2651760"/>
            <a:ext cx="1490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Volume of work delivered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1970532" y="1691640"/>
            <a:ext cx="1673352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1970532" y="1691640"/>
            <a:ext cx="1673352" cy="54864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2061972" y="1856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2061972" y="2331720"/>
            <a:ext cx="1490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Approval rate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2061972" y="2651760"/>
            <a:ext cx="1490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% of listings accepted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3735324" y="1691640"/>
            <a:ext cx="1673352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3735324" y="1691640"/>
            <a:ext cx="1673352" cy="54864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3826764" y="1856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3826764" y="2331720"/>
            <a:ext cx="1490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Rejection rate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3826764" y="2651760"/>
            <a:ext cx="1490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% rejected and reasons why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5500116" y="1691640"/>
            <a:ext cx="1673352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5500116" y="1691640"/>
            <a:ext cx="1673352" cy="54864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5591556" y="1856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5591556" y="2331720"/>
            <a:ext cx="1490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Photo quality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5591556" y="2651760"/>
            <a:ext cx="1490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Clarity, coverage, daylight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7264908" y="1691640"/>
            <a:ext cx="1673352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7264908" y="1691640"/>
            <a:ext cx="1673352" cy="54864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7356348" y="1856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7356348" y="2331720"/>
            <a:ext cx="1490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Map accuracy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7356348" y="2651760"/>
            <a:ext cx="1490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Correct pin &amp; address detail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205740" y="3227832"/>
            <a:ext cx="1673352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205740" y="3227832"/>
            <a:ext cx="1673352" cy="54864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297180" y="33924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297180" y="3867912"/>
            <a:ext cx="1490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Response 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297180" y="4187952"/>
            <a:ext cx="1490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Speed to admin notes &amp; fixes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1970532" y="3227832"/>
            <a:ext cx="1673352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1970532" y="3227832"/>
            <a:ext cx="1673352" cy="54864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2061972" y="33924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2061972" y="3867912"/>
            <a:ext cx="1490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Fraud flags avoided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2061972" y="4187952"/>
            <a:ext cx="1490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Bad listings caught early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3735324" y="3227832"/>
            <a:ext cx="1673352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3735324" y="3227832"/>
            <a:ext cx="1673352" cy="54864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3826764" y="33924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3826764" y="3867912"/>
            <a:ext cx="1490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Customer satisfaction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3826764" y="4187952"/>
            <a:ext cx="1490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Lister feedback on your help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5500116" y="3227832"/>
            <a:ext cx="1673352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5500116" y="3227832"/>
            <a:ext cx="1673352" cy="54864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5591556" y="33924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5591556" y="3867912"/>
            <a:ext cx="1490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Leads generated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5591556" y="4187952"/>
            <a:ext cx="1490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Enquiries linked to your work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7264908" y="3227832"/>
            <a:ext cx="1673352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7264908" y="3227832"/>
            <a:ext cx="1673352" cy="54864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7356348" y="33924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7356348" y="3867912"/>
            <a:ext cx="1490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Corrections required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7356348" y="4187952"/>
            <a:ext cx="1490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Edits needed after submission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2 · The Field Agent Role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3"/>
          <p:cNvSpPr/>
          <p:nvPr/>
        </p:nvSpPr>
        <p:spPr>
          <a:xfrm>
            <a:off x="365760" y="292608"/>
            <a:ext cx="1046988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365760" y="292608"/>
            <a:ext cx="10469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PLATFORM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The makaug.com website at a glance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Know every menu item — listers will ask you about each one.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365760" y="1600200"/>
            <a:ext cx="8412480" cy="3246120"/>
          </a:xfrm>
          <a:prstGeom prst="roundRect">
            <a:avLst>
              <a:gd fmla="val 281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365760" y="1600200"/>
            <a:ext cx="8412480" cy="3657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502920" y="1691640"/>
            <a:ext cx="164592" cy="16459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713232" y="1691640"/>
            <a:ext cx="164592" cy="16459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923544" y="1691640"/>
            <a:ext cx="164592" cy="16459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1280160" y="1655064"/>
            <a:ext cx="3657600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1371600" y="165506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🔒  https://makaug.com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548640" y="214884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MakaUg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6903720" y="2194560"/>
            <a:ext cx="1783080" cy="365760"/>
          </a:xfrm>
          <a:prstGeom prst="roundRect">
            <a:avLst>
              <a:gd fmla="val 15000" name="adj"/>
            </a:avLst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6903720" y="219456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Property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548640" y="2697480"/>
            <a:ext cx="621792" cy="292608"/>
          </a:xfrm>
          <a:prstGeom prst="roundRect">
            <a:avLst>
              <a:gd fmla="val 12500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3"/>
          <p:cNvSpPr/>
          <p:nvPr/>
        </p:nvSpPr>
        <p:spPr>
          <a:xfrm>
            <a:off x="548640" y="2697480"/>
            <a:ext cx="621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For Sale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1243584" y="2697480"/>
            <a:ext cx="553212" cy="292608"/>
          </a:xfrm>
          <a:prstGeom prst="roundRect">
            <a:avLst>
              <a:gd fmla="val 12500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3"/>
          <p:cNvSpPr/>
          <p:nvPr/>
        </p:nvSpPr>
        <p:spPr>
          <a:xfrm>
            <a:off x="1243584" y="2697480"/>
            <a:ext cx="5532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To Rent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1869948" y="2697480"/>
            <a:ext cx="621792" cy="292608"/>
          </a:xfrm>
          <a:prstGeom prst="roundRect">
            <a:avLst>
              <a:gd fmla="val 12500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1869948" y="2697480"/>
            <a:ext cx="621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2564892" y="2697480"/>
            <a:ext cx="758952" cy="292608"/>
          </a:xfrm>
          <a:prstGeom prst="roundRect">
            <a:avLst>
              <a:gd fmla="val 12500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2564892" y="2697480"/>
            <a:ext cx="7589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Commercial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3396996" y="2697480"/>
            <a:ext cx="347472" cy="292608"/>
          </a:xfrm>
          <a:prstGeom prst="roundRect">
            <a:avLst>
              <a:gd fmla="val 12500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3396996" y="2697480"/>
            <a:ext cx="347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Land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3817620" y="2697480"/>
            <a:ext cx="896112" cy="292608"/>
          </a:xfrm>
          <a:prstGeom prst="roundRect">
            <a:avLst>
              <a:gd fmla="val 12500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3"/>
          <p:cNvSpPr/>
          <p:nvPr/>
        </p:nvSpPr>
        <p:spPr>
          <a:xfrm>
            <a:off x="3817620" y="2697480"/>
            <a:ext cx="8961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Find Brokers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4786884" y="2697480"/>
            <a:ext cx="1101852" cy="292608"/>
          </a:xfrm>
          <a:prstGeom prst="roundRect">
            <a:avLst>
              <a:gd fmla="val 12500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4786884" y="2697480"/>
            <a:ext cx="11018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Mortgage Finder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5961888" y="2697480"/>
            <a:ext cx="827532" cy="292608"/>
          </a:xfrm>
          <a:prstGeom prst="roundRect">
            <a:avLst>
              <a:gd fmla="val 12500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5961888" y="2697480"/>
            <a:ext cx="8275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Discover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6862572" y="2697480"/>
            <a:ext cx="621792" cy="292608"/>
          </a:xfrm>
          <a:prstGeom prst="roundRect">
            <a:avLst>
              <a:gd fmla="val 12500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3"/>
          <p:cNvSpPr/>
          <p:nvPr/>
        </p:nvSpPr>
        <p:spPr>
          <a:xfrm>
            <a:off x="6862572" y="2697480"/>
            <a:ext cx="621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About 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548640" y="3200400"/>
            <a:ext cx="8046720" cy="1417320"/>
          </a:xfrm>
          <a:prstGeom prst="roundRect">
            <a:avLst>
              <a:gd fmla="val 6452" name="adj"/>
            </a:avLst>
          </a:prstGeom>
          <a:solidFill>
            <a:srgbClr val="0F5132"/>
          </a:solidFill>
          <a:ln cap="flat" cmpd="sng" w="9525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 your next home, plot, or business space.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731520" y="3703320"/>
            <a:ext cx="7680960" cy="4572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868680" y="37033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🔍  Search by district, area, or landmark…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6858000" y="3776472"/>
            <a:ext cx="1417320" cy="310896"/>
          </a:xfrm>
          <a:prstGeom prst="roundRect">
            <a:avLst>
              <a:gd fmla="val 11765" name="adj"/>
            </a:avLst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6858000" y="3776472"/>
            <a:ext cx="1417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1C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7E1C8"/>
                </a:solidFill>
                <a:latin typeface="Calibri"/>
                <a:ea typeface="Calibri"/>
                <a:cs typeface="Calibri"/>
                <a:sym typeface="Calibri"/>
              </a:rPr>
              <a:t>Free · 7 languages · WhatsApp 0760112587 · 146 districts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3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3 · How MakaUg Works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4"/>
          <p:cNvSpPr/>
          <p:nvPr/>
        </p:nvSpPr>
        <p:spPr>
          <a:xfrm>
            <a:off x="365760" y="292608"/>
            <a:ext cx="1046988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4"/>
          <p:cNvSpPr/>
          <p:nvPr/>
        </p:nvSpPr>
        <p:spPr>
          <a:xfrm>
            <a:off x="365760" y="292608"/>
            <a:ext cx="10469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PLATFORM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Four journeys, one platform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Field Agents touch all four — directly or indirectly.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365760" y="1645920"/>
            <a:ext cx="402336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4"/>
          <p:cNvSpPr/>
          <p:nvPr/>
        </p:nvSpPr>
        <p:spPr>
          <a:xfrm>
            <a:off x="365760" y="1645920"/>
            <a:ext cx="91440" cy="1508760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4"/>
          <p:cNvSpPr/>
          <p:nvPr/>
        </p:nvSpPr>
        <p:spPr>
          <a:xfrm>
            <a:off x="640080" y="1874520"/>
            <a:ext cx="594360" cy="5943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8" name="Google Shape;4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811" y="2008251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4"/>
          <p:cNvSpPr/>
          <p:nvPr/>
        </p:nvSpPr>
        <p:spPr>
          <a:xfrm>
            <a:off x="1371600" y="18288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Lane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1371600" y="202996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Property seeker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4"/>
          <p:cNvSpPr/>
          <p:nvPr/>
        </p:nvSpPr>
        <p:spPr>
          <a:xfrm>
            <a:off x="1371600" y="235915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Search → Filter → Save → Contact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▸ You make their results trustworthy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4572000" y="1645920"/>
            <a:ext cx="402336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4"/>
          <p:cNvSpPr/>
          <p:nvPr/>
        </p:nvSpPr>
        <p:spPr>
          <a:xfrm>
            <a:off x="4572000" y="1645920"/>
            <a:ext cx="91440" cy="1508760"/>
          </a:xfrm>
          <a:prstGeom prst="rect">
            <a:avLst/>
          </a:prstGeom>
          <a:solidFill>
            <a:srgbClr val="1A7A4C"/>
          </a:solidFill>
          <a:ln cap="flat" cmpd="sng" w="12700">
            <a:solidFill>
              <a:srgbClr val="1A7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4"/>
          <p:cNvSpPr/>
          <p:nvPr/>
        </p:nvSpPr>
        <p:spPr>
          <a:xfrm>
            <a:off x="4846320" y="1874520"/>
            <a:ext cx="594360" cy="5943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6" name="Google Shape;47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0051" y="2008251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4"/>
          <p:cNvSpPr/>
          <p:nvPr/>
        </p:nvSpPr>
        <p:spPr>
          <a:xfrm>
            <a:off x="5577840" y="18288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Lane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5577840" y="202996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Lister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5577840" y="235915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List → Verify → Wait → Approved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4846320" y="27432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7A4C"/>
                </a:solidFill>
                <a:latin typeface="Calibri"/>
                <a:ea typeface="Calibri"/>
                <a:cs typeface="Calibri"/>
                <a:sym typeface="Calibri"/>
              </a:rPr>
              <a:t>▸ You collect &amp; submit on their behalf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4"/>
          <p:cNvSpPr/>
          <p:nvPr/>
        </p:nvSpPr>
        <p:spPr>
          <a:xfrm>
            <a:off x="365760" y="3337560"/>
            <a:ext cx="402336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4"/>
          <p:cNvSpPr/>
          <p:nvPr/>
        </p:nvSpPr>
        <p:spPr>
          <a:xfrm>
            <a:off x="365760" y="3337560"/>
            <a:ext cx="91440" cy="1508760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4"/>
          <p:cNvSpPr/>
          <p:nvPr/>
        </p:nvSpPr>
        <p:spPr>
          <a:xfrm>
            <a:off x="640080" y="3566160"/>
            <a:ext cx="594360" cy="5943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4" name="Google Shape;48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3811" y="3699891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4"/>
          <p:cNvSpPr/>
          <p:nvPr/>
        </p:nvSpPr>
        <p:spPr>
          <a:xfrm>
            <a:off x="1371600" y="352044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Lane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1371600" y="372160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Broker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4"/>
          <p:cNvSpPr/>
          <p:nvPr/>
        </p:nvSpPr>
        <p:spPr>
          <a:xfrm>
            <a:off x="1371600" y="405079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Manage portfolio → Leads → Viewings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640080" y="4434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▸ You support their listing quality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4572000" y="3337560"/>
            <a:ext cx="402336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4"/>
          <p:cNvSpPr/>
          <p:nvPr/>
        </p:nvSpPr>
        <p:spPr>
          <a:xfrm>
            <a:off x="4572000" y="3337560"/>
            <a:ext cx="91440" cy="1508760"/>
          </a:xfrm>
          <a:prstGeom prst="rect">
            <a:avLst/>
          </a:prstGeom>
          <a:solidFill>
            <a:srgbClr val="047857"/>
          </a:solidFill>
          <a:ln cap="flat" cmpd="sng" w="127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4"/>
          <p:cNvSpPr/>
          <p:nvPr/>
        </p:nvSpPr>
        <p:spPr>
          <a:xfrm>
            <a:off x="4846320" y="3566160"/>
            <a:ext cx="594360" cy="5943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2" name="Google Shape;49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0051" y="3699891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14"/>
          <p:cNvSpPr/>
          <p:nvPr/>
        </p:nvSpPr>
        <p:spPr>
          <a:xfrm>
            <a:off x="5577840" y="352044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Lane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5577840" y="372160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Field Agent (you)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/>
          <p:nvPr/>
        </p:nvSpPr>
        <p:spPr>
          <a:xfrm>
            <a:off x="5577840" y="405079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Source → Capture → Submit → Support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4846320" y="4434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47857"/>
                </a:solidFill>
                <a:latin typeface="Calibri"/>
                <a:ea typeface="Calibri"/>
                <a:cs typeface="Calibri"/>
                <a:sym typeface="Calibri"/>
              </a:rPr>
              <a:t>▸ You power everything above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4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3 · How MakaUg Works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5"/>
          <p:cNvSpPr/>
          <p:nvPr/>
        </p:nvSpPr>
        <p:spPr>
          <a:xfrm>
            <a:off x="365760" y="292608"/>
            <a:ext cx="1046988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5"/>
          <p:cNvSpPr/>
          <p:nvPr/>
        </p:nvSpPr>
        <p:spPr>
          <a:xfrm>
            <a:off x="365760" y="292608"/>
            <a:ext cx="10469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PLATFORM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5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Search &amp; Listing journeys — side by side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5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Two flows you must understand inside out.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/>
          <p:nvPr/>
        </p:nvSpPr>
        <p:spPr>
          <a:xfrm>
            <a:off x="365760" y="1645920"/>
            <a:ext cx="4069080" cy="3154680"/>
          </a:xfrm>
          <a:prstGeom prst="roundRect">
            <a:avLst>
              <a:gd fmla="val 2899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5"/>
          <p:cNvSpPr/>
          <p:nvPr/>
        </p:nvSpPr>
        <p:spPr>
          <a:xfrm>
            <a:off x="548640" y="1828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SEARCH JOURNEY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5"/>
          <p:cNvSpPr/>
          <p:nvPr/>
        </p:nvSpPr>
        <p:spPr>
          <a:xfrm>
            <a:off x="548640" y="2240280"/>
            <a:ext cx="292608" cy="29260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5"/>
          <p:cNvSpPr/>
          <p:nvPr/>
        </p:nvSpPr>
        <p:spPr>
          <a:xfrm>
            <a:off x="548640" y="22402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5"/>
          <p:cNvSpPr/>
          <p:nvPr/>
        </p:nvSpPr>
        <p:spPr>
          <a:xfrm>
            <a:off x="960120" y="222199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Pick a category (Rent / Sale / Land / Student / Commercial)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5"/>
          <p:cNvSpPr/>
          <p:nvPr/>
        </p:nvSpPr>
        <p:spPr>
          <a:xfrm>
            <a:off x="548640" y="2697480"/>
            <a:ext cx="292608" cy="29260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5"/>
          <p:cNvSpPr/>
          <p:nvPr/>
        </p:nvSpPr>
        <p:spPr>
          <a:xfrm>
            <a:off x="548640" y="26974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5"/>
          <p:cNvSpPr/>
          <p:nvPr/>
        </p:nvSpPr>
        <p:spPr>
          <a:xfrm>
            <a:off x="960120" y="267919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Enter location, budget, beds, filters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5"/>
          <p:cNvSpPr/>
          <p:nvPr/>
        </p:nvSpPr>
        <p:spPr>
          <a:xfrm>
            <a:off x="548640" y="3154680"/>
            <a:ext cx="292608" cy="29260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5"/>
          <p:cNvSpPr/>
          <p:nvPr/>
        </p:nvSpPr>
        <p:spPr>
          <a:xfrm>
            <a:off x="548640" y="31546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960120" y="313639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View map results &amp; saved searches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5"/>
          <p:cNvSpPr/>
          <p:nvPr/>
        </p:nvSpPr>
        <p:spPr>
          <a:xfrm>
            <a:off x="548640" y="3611880"/>
            <a:ext cx="292608" cy="29260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5"/>
          <p:cNvSpPr/>
          <p:nvPr/>
        </p:nvSpPr>
        <p:spPr>
          <a:xfrm>
            <a:off x="548640" y="36118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5"/>
          <p:cNvSpPr/>
          <p:nvPr/>
        </p:nvSpPr>
        <p:spPr>
          <a:xfrm>
            <a:off x="960120" y="359359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Save listings &amp; set alerts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5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5"/>
          <p:cNvSpPr/>
          <p:nvPr/>
        </p:nvSpPr>
        <p:spPr>
          <a:xfrm>
            <a:off x="548640" y="40690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5"/>
          <p:cNvSpPr/>
          <p:nvPr/>
        </p:nvSpPr>
        <p:spPr>
          <a:xfrm>
            <a:off x="960120" y="405079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Contact via website or WhatsApp 0760112587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5"/>
          <p:cNvSpPr/>
          <p:nvPr/>
        </p:nvSpPr>
        <p:spPr>
          <a:xfrm>
            <a:off x="4709160" y="1645920"/>
            <a:ext cx="4069080" cy="3154680"/>
          </a:xfrm>
          <a:prstGeom prst="roundRect">
            <a:avLst>
              <a:gd fmla="val 2899" name="adj"/>
            </a:avLst>
          </a:prstGeom>
          <a:solidFill>
            <a:srgbClr val="FCEBC8"/>
          </a:solidFill>
          <a:ln cap="flat" cmpd="sng" w="9525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5"/>
          <p:cNvSpPr/>
          <p:nvPr/>
        </p:nvSpPr>
        <p:spPr>
          <a:xfrm>
            <a:off x="4892040" y="1828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LISTING JOURNEY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5"/>
          <p:cNvSpPr/>
          <p:nvPr/>
        </p:nvSpPr>
        <p:spPr>
          <a:xfrm>
            <a:off x="4892040" y="2240280"/>
            <a:ext cx="292608" cy="292608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5"/>
          <p:cNvSpPr/>
          <p:nvPr/>
        </p:nvSpPr>
        <p:spPr>
          <a:xfrm>
            <a:off x="4892040" y="22402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5303520" y="222199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Choose path: List Online or List via WhatsApp AI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/>
          <p:nvPr/>
        </p:nvSpPr>
        <p:spPr>
          <a:xfrm>
            <a:off x="4892040" y="2697480"/>
            <a:ext cx="292608" cy="292608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5"/>
          <p:cNvSpPr/>
          <p:nvPr/>
        </p:nvSpPr>
        <p:spPr>
          <a:xfrm>
            <a:off x="4892040" y="26974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5303520" y="267919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Capture title, type, price, location, details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4892040" y="3154680"/>
            <a:ext cx="292608" cy="292608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5"/>
          <p:cNvSpPr/>
          <p:nvPr/>
        </p:nvSpPr>
        <p:spPr>
          <a:xfrm>
            <a:off x="4892040" y="31546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5303520" y="313639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Add 5+ photos and (optional) video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4892040" y="3611880"/>
            <a:ext cx="292608" cy="292608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5"/>
          <p:cNvSpPr/>
          <p:nvPr/>
        </p:nvSpPr>
        <p:spPr>
          <a:xfrm>
            <a:off x="4892040" y="36118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5303520" y="359359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Verify identity with OTP / NIN where required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4892040" y="4069080"/>
            <a:ext cx="292608" cy="292608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5"/>
          <p:cNvSpPr/>
          <p:nvPr/>
        </p:nvSpPr>
        <p:spPr>
          <a:xfrm>
            <a:off x="4892040" y="40690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5303520" y="405079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Submit → Admin reviews → Approved or feedback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5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3 · How MakaUg Works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6"/>
          <p:cNvSpPr/>
          <p:nvPr/>
        </p:nvSpPr>
        <p:spPr>
          <a:xfrm>
            <a:off x="365760" y="292608"/>
            <a:ext cx="1046988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6"/>
          <p:cNvSpPr/>
          <p:nvPr/>
        </p:nvSpPr>
        <p:spPr>
          <a:xfrm>
            <a:off x="365760" y="292608"/>
            <a:ext cx="10469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PLATFORM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6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How MakaUg builds trust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6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Every submission goes through layered checks before it appears live.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6"/>
          <p:cNvSpPr/>
          <p:nvPr/>
        </p:nvSpPr>
        <p:spPr>
          <a:xfrm>
            <a:off x="393192" y="1783080"/>
            <a:ext cx="1554480" cy="219456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6"/>
          <p:cNvSpPr/>
          <p:nvPr/>
        </p:nvSpPr>
        <p:spPr>
          <a:xfrm>
            <a:off x="393192" y="1783080"/>
            <a:ext cx="1554480" cy="73152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6"/>
          <p:cNvSpPr/>
          <p:nvPr/>
        </p:nvSpPr>
        <p:spPr>
          <a:xfrm>
            <a:off x="850392" y="2057400"/>
            <a:ext cx="640080" cy="64008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0" name="Google Shape;56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410" y="220141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16"/>
          <p:cNvSpPr/>
          <p:nvPr/>
        </p:nvSpPr>
        <p:spPr>
          <a:xfrm>
            <a:off x="393192" y="27889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6"/>
          <p:cNvSpPr/>
          <p:nvPr/>
        </p:nvSpPr>
        <p:spPr>
          <a:xfrm>
            <a:off x="484632" y="2990088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OTP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verification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6"/>
          <p:cNvSpPr/>
          <p:nvPr/>
        </p:nvSpPr>
        <p:spPr>
          <a:xfrm>
            <a:off x="484632" y="34747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Phone + email confirm contact is real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6"/>
          <p:cNvSpPr/>
          <p:nvPr/>
        </p:nvSpPr>
        <p:spPr>
          <a:xfrm>
            <a:off x="1901952" y="2286000"/>
            <a:ext cx="237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6"/>
          <p:cNvSpPr/>
          <p:nvPr/>
        </p:nvSpPr>
        <p:spPr>
          <a:xfrm>
            <a:off x="2093976" y="1783080"/>
            <a:ext cx="1554480" cy="219456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6"/>
          <p:cNvSpPr/>
          <p:nvPr/>
        </p:nvSpPr>
        <p:spPr>
          <a:xfrm>
            <a:off x="2093976" y="1783080"/>
            <a:ext cx="1554480" cy="73152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6"/>
          <p:cNvSpPr/>
          <p:nvPr/>
        </p:nvSpPr>
        <p:spPr>
          <a:xfrm>
            <a:off x="2551176" y="2057400"/>
            <a:ext cx="640080" cy="64008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8" name="Google Shape;56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5194" y="220141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16"/>
          <p:cNvSpPr/>
          <p:nvPr/>
        </p:nvSpPr>
        <p:spPr>
          <a:xfrm>
            <a:off x="2093976" y="27889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6"/>
          <p:cNvSpPr/>
          <p:nvPr/>
        </p:nvSpPr>
        <p:spPr>
          <a:xfrm>
            <a:off x="2185416" y="2990088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ID / NIN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checks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2185416" y="34747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Where required for the category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3602736" y="2286000"/>
            <a:ext cx="237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6"/>
          <p:cNvSpPr/>
          <p:nvPr/>
        </p:nvSpPr>
        <p:spPr>
          <a:xfrm>
            <a:off x="3794760" y="1783080"/>
            <a:ext cx="1554480" cy="219456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6"/>
          <p:cNvSpPr/>
          <p:nvPr/>
        </p:nvSpPr>
        <p:spPr>
          <a:xfrm>
            <a:off x="3794760" y="1783080"/>
            <a:ext cx="1554480" cy="73152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6"/>
          <p:cNvSpPr/>
          <p:nvPr/>
        </p:nvSpPr>
        <p:spPr>
          <a:xfrm>
            <a:off x="4251960" y="2057400"/>
            <a:ext cx="640080" cy="64008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6" name="Google Shape;57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5978" y="220141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16"/>
          <p:cNvSpPr/>
          <p:nvPr/>
        </p:nvSpPr>
        <p:spPr>
          <a:xfrm>
            <a:off x="3794760" y="27889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6"/>
          <p:cNvSpPr/>
          <p:nvPr/>
        </p:nvSpPr>
        <p:spPr>
          <a:xfrm>
            <a:off x="3886200" y="2990088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AI fraud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signals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3886200" y="34747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Image duplication, suspicious patterns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6"/>
          <p:cNvSpPr/>
          <p:nvPr/>
        </p:nvSpPr>
        <p:spPr>
          <a:xfrm>
            <a:off x="5303520" y="2286000"/>
            <a:ext cx="237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6"/>
          <p:cNvSpPr/>
          <p:nvPr/>
        </p:nvSpPr>
        <p:spPr>
          <a:xfrm>
            <a:off x="5495544" y="1783080"/>
            <a:ext cx="1554480" cy="219456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6"/>
          <p:cNvSpPr/>
          <p:nvPr/>
        </p:nvSpPr>
        <p:spPr>
          <a:xfrm>
            <a:off x="5495544" y="1783080"/>
            <a:ext cx="1554480" cy="73152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5952744" y="2057400"/>
            <a:ext cx="640080" cy="64008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4" name="Google Shape;58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762" y="220141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16"/>
          <p:cNvSpPr/>
          <p:nvPr/>
        </p:nvSpPr>
        <p:spPr>
          <a:xfrm>
            <a:off x="5495544" y="27889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6"/>
          <p:cNvSpPr/>
          <p:nvPr/>
        </p:nvSpPr>
        <p:spPr>
          <a:xfrm>
            <a:off x="5586984" y="2990088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Manual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admin review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6"/>
          <p:cNvSpPr/>
          <p:nvPr/>
        </p:nvSpPr>
        <p:spPr>
          <a:xfrm>
            <a:off x="5586984" y="34747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Human eyes on every listing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6"/>
          <p:cNvSpPr/>
          <p:nvPr/>
        </p:nvSpPr>
        <p:spPr>
          <a:xfrm>
            <a:off x="7004304" y="2286000"/>
            <a:ext cx="237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6"/>
          <p:cNvSpPr/>
          <p:nvPr/>
        </p:nvSpPr>
        <p:spPr>
          <a:xfrm>
            <a:off x="7196328" y="1783080"/>
            <a:ext cx="1554480" cy="219456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6"/>
          <p:cNvSpPr/>
          <p:nvPr/>
        </p:nvSpPr>
        <p:spPr>
          <a:xfrm>
            <a:off x="7196328" y="1783080"/>
            <a:ext cx="1554480" cy="73152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6"/>
          <p:cNvSpPr/>
          <p:nvPr/>
        </p:nvSpPr>
        <p:spPr>
          <a:xfrm>
            <a:off x="7653528" y="2057400"/>
            <a:ext cx="640080" cy="64008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2" name="Google Shape;59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97546" y="220141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16"/>
          <p:cNvSpPr/>
          <p:nvPr/>
        </p:nvSpPr>
        <p:spPr>
          <a:xfrm>
            <a:off x="7196328" y="27889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Step 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7287768" y="2990088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Approved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or feedback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7287768" y="34747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Goes live or returned with notes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/>
          <p:nvPr/>
        </p:nvSpPr>
        <p:spPr>
          <a:xfrm>
            <a:off x="365760" y="4251960"/>
            <a:ext cx="8412480" cy="548640"/>
          </a:xfrm>
          <a:prstGeom prst="roundRect">
            <a:avLst>
              <a:gd fmla="val 16667" name="adj"/>
            </a:avLst>
          </a:prstGeom>
          <a:solidFill>
            <a:srgbClr val="0F5132"/>
          </a:solidFill>
          <a:ln cap="flat" cmpd="sng" w="9525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6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⚠  </a:t>
            </a: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Anyone can report a suspicious listing.  </a:t>
            </a:r>
            <a:r>
              <a:rPr b="0" i="1" lang="en-US" sz="1150" u="none" cap="none" strike="noStrike">
                <a:solidFill>
                  <a:srgbClr val="B7E1C8"/>
                </a:solidFill>
                <a:latin typeface="Calibri"/>
                <a:ea typeface="Calibri"/>
                <a:cs typeface="Calibri"/>
                <a:sym typeface="Calibri"/>
              </a:rPr>
              <a:t>Report a Listing → Anti-Fraud page on makaug.com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6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6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3 · How MakaUg Works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7"/>
          <p:cNvSpPr/>
          <p:nvPr/>
        </p:nvSpPr>
        <p:spPr>
          <a:xfrm>
            <a:off x="365760" y="292608"/>
            <a:ext cx="813816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7"/>
          <p:cNvSpPr/>
          <p:nvPr/>
        </p:nvSpPr>
        <p:spPr>
          <a:xfrm>
            <a:off x="365760" y="292608"/>
            <a:ext cx="813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SETUP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7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Before you start: your kit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7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Bring all of this to every visit. Missing one item costs you a listing.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7"/>
          <p:cNvSpPr/>
          <p:nvPr/>
        </p:nvSpPr>
        <p:spPr>
          <a:xfrm>
            <a:off x="406908" y="1691640"/>
            <a:ext cx="2697480" cy="86868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7"/>
          <p:cNvSpPr/>
          <p:nvPr/>
        </p:nvSpPr>
        <p:spPr>
          <a:xfrm>
            <a:off x="571500" y="1856232"/>
            <a:ext cx="548640" cy="5486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3" name="Google Shape;6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44" y="197967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17"/>
          <p:cNvSpPr/>
          <p:nvPr/>
        </p:nvSpPr>
        <p:spPr>
          <a:xfrm>
            <a:off x="1275588" y="169164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☐  Smartphone (charged)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7"/>
          <p:cNvSpPr/>
          <p:nvPr/>
        </p:nvSpPr>
        <p:spPr>
          <a:xfrm>
            <a:off x="3223260" y="1691640"/>
            <a:ext cx="2697480" cy="86868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7"/>
          <p:cNvSpPr/>
          <p:nvPr/>
        </p:nvSpPr>
        <p:spPr>
          <a:xfrm>
            <a:off x="3387852" y="1856232"/>
            <a:ext cx="548640" cy="5486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7" name="Google Shape;61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1296" y="197967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17"/>
          <p:cNvSpPr/>
          <p:nvPr/>
        </p:nvSpPr>
        <p:spPr>
          <a:xfrm>
            <a:off x="4091940" y="169164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☐  Internet / data bundle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7"/>
          <p:cNvSpPr/>
          <p:nvPr/>
        </p:nvSpPr>
        <p:spPr>
          <a:xfrm>
            <a:off x="6039612" y="1691640"/>
            <a:ext cx="2697480" cy="86868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7"/>
          <p:cNvSpPr/>
          <p:nvPr/>
        </p:nvSpPr>
        <p:spPr>
          <a:xfrm>
            <a:off x="6204204" y="1856232"/>
            <a:ext cx="548640" cy="5486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1" name="Google Shape;62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7648" y="197967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17"/>
          <p:cNvSpPr/>
          <p:nvPr/>
        </p:nvSpPr>
        <p:spPr>
          <a:xfrm>
            <a:off x="6908292" y="169164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☐  WhatsApp installed &amp; active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7"/>
          <p:cNvSpPr/>
          <p:nvPr/>
        </p:nvSpPr>
        <p:spPr>
          <a:xfrm>
            <a:off x="406908" y="2679192"/>
            <a:ext cx="2697480" cy="86868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7"/>
          <p:cNvSpPr/>
          <p:nvPr/>
        </p:nvSpPr>
        <p:spPr>
          <a:xfrm>
            <a:off x="571500" y="2843784"/>
            <a:ext cx="548640" cy="5486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5" name="Google Shape;62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4944" y="296722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17"/>
          <p:cNvSpPr/>
          <p:nvPr/>
        </p:nvSpPr>
        <p:spPr>
          <a:xfrm>
            <a:off x="1275588" y="2679192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☐  Working email account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3223260" y="2679192"/>
            <a:ext cx="2697480" cy="86868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7"/>
          <p:cNvSpPr/>
          <p:nvPr/>
        </p:nvSpPr>
        <p:spPr>
          <a:xfrm>
            <a:off x="3387852" y="2843784"/>
            <a:ext cx="548640" cy="5486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9" name="Google Shape;62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11296" y="296722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17"/>
          <p:cNvSpPr/>
          <p:nvPr/>
        </p:nvSpPr>
        <p:spPr>
          <a:xfrm>
            <a:off x="4091940" y="2679192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☐  MakaUg Field Agent account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7"/>
          <p:cNvSpPr/>
          <p:nvPr/>
        </p:nvSpPr>
        <p:spPr>
          <a:xfrm>
            <a:off x="6039612" y="2679192"/>
            <a:ext cx="2697480" cy="86868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7"/>
          <p:cNvSpPr/>
          <p:nvPr/>
        </p:nvSpPr>
        <p:spPr>
          <a:xfrm>
            <a:off x="6204204" y="2843784"/>
            <a:ext cx="548640" cy="5486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3" name="Google Shape;63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27648" y="296722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17"/>
          <p:cNvSpPr/>
          <p:nvPr/>
        </p:nvSpPr>
        <p:spPr>
          <a:xfrm>
            <a:off x="6908292" y="2679192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☐  Field Agent ID (when issued)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7"/>
          <p:cNvSpPr/>
          <p:nvPr/>
        </p:nvSpPr>
        <p:spPr>
          <a:xfrm>
            <a:off x="406908" y="3666744"/>
            <a:ext cx="2697480" cy="86868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7"/>
          <p:cNvSpPr/>
          <p:nvPr/>
        </p:nvSpPr>
        <p:spPr>
          <a:xfrm>
            <a:off x="571500" y="3831336"/>
            <a:ext cx="548640" cy="5486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7" name="Google Shape;63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4944" y="395478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17"/>
          <p:cNvSpPr/>
          <p:nvPr/>
        </p:nvSpPr>
        <p:spPr>
          <a:xfrm>
            <a:off x="1275588" y="3666744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☐  Camera basics: framing &amp; light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7"/>
          <p:cNvSpPr/>
          <p:nvPr/>
        </p:nvSpPr>
        <p:spPr>
          <a:xfrm>
            <a:off x="3223260" y="3666744"/>
            <a:ext cx="2697480" cy="86868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7"/>
          <p:cNvSpPr/>
          <p:nvPr/>
        </p:nvSpPr>
        <p:spPr>
          <a:xfrm>
            <a:off x="3387852" y="3831336"/>
            <a:ext cx="548640" cy="5486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1" name="Google Shape;64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11296" y="395478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17"/>
          <p:cNvSpPr/>
          <p:nvPr/>
        </p:nvSpPr>
        <p:spPr>
          <a:xfrm>
            <a:off x="4091940" y="3666744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☐  Notebook + pen for backup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7"/>
          <p:cNvSpPr/>
          <p:nvPr/>
        </p:nvSpPr>
        <p:spPr>
          <a:xfrm>
            <a:off x="6039612" y="3666744"/>
            <a:ext cx="2697480" cy="868680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7"/>
          <p:cNvSpPr/>
          <p:nvPr/>
        </p:nvSpPr>
        <p:spPr>
          <a:xfrm>
            <a:off x="6204204" y="3831336"/>
            <a:ext cx="548640" cy="5486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5" name="Google Shape;645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27648" y="395478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17"/>
          <p:cNvSpPr/>
          <p:nvPr/>
        </p:nvSpPr>
        <p:spPr>
          <a:xfrm>
            <a:off x="6908292" y="3666744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☐  Personal safety plan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7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7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7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4 · Field Agent Setup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7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8"/>
          <p:cNvSpPr/>
          <p:nvPr/>
        </p:nvSpPr>
        <p:spPr>
          <a:xfrm>
            <a:off x="365760" y="292608"/>
            <a:ext cx="813816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8"/>
          <p:cNvSpPr/>
          <p:nvPr/>
        </p:nvSpPr>
        <p:spPr>
          <a:xfrm>
            <a:off x="365760" y="292608"/>
            <a:ext cx="813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SETUP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8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Create your Field Agent account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8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Eight steps. Five minutes. Once done, you're operational.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8"/>
          <p:cNvSpPr/>
          <p:nvPr/>
        </p:nvSpPr>
        <p:spPr>
          <a:xfrm>
            <a:off x="457200" y="1737360"/>
            <a:ext cx="310896" cy="310896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8"/>
          <p:cNvSpPr/>
          <p:nvPr/>
        </p:nvSpPr>
        <p:spPr>
          <a:xfrm>
            <a:off x="457200" y="17373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8"/>
          <p:cNvSpPr/>
          <p:nvPr/>
        </p:nvSpPr>
        <p:spPr>
          <a:xfrm>
            <a:off x="914400" y="171907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Go to makaug.com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3" name="Google Shape;663;p18"/>
          <p:cNvCxnSpPr/>
          <p:nvPr/>
        </p:nvCxnSpPr>
        <p:spPr>
          <a:xfrm>
            <a:off x="612648" y="2048256"/>
            <a:ext cx="0" cy="45720"/>
          </a:xfrm>
          <a:prstGeom prst="straightConnector1">
            <a:avLst/>
          </a:prstGeom>
          <a:noFill/>
          <a:ln cap="flat" cmpd="sng" w="19050">
            <a:solidFill>
              <a:srgbClr val="B7E1C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64" name="Google Shape;664;p18"/>
          <p:cNvSpPr/>
          <p:nvPr/>
        </p:nvSpPr>
        <p:spPr>
          <a:xfrm>
            <a:off x="457200" y="2093976"/>
            <a:ext cx="310896" cy="310896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8"/>
          <p:cNvSpPr/>
          <p:nvPr/>
        </p:nvSpPr>
        <p:spPr>
          <a:xfrm>
            <a:off x="457200" y="209397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8"/>
          <p:cNvSpPr/>
          <p:nvPr/>
        </p:nvSpPr>
        <p:spPr>
          <a:xfrm>
            <a:off x="914400" y="207568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Click Sign 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7" name="Google Shape;667;p18"/>
          <p:cNvCxnSpPr/>
          <p:nvPr/>
        </p:nvCxnSpPr>
        <p:spPr>
          <a:xfrm>
            <a:off x="612648" y="2404872"/>
            <a:ext cx="0" cy="45720"/>
          </a:xfrm>
          <a:prstGeom prst="straightConnector1">
            <a:avLst/>
          </a:prstGeom>
          <a:noFill/>
          <a:ln cap="flat" cmpd="sng" w="19050">
            <a:solidFill>
              <a:srgbClr val="B7E1C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68" name="Google Shape;668;p18"/>
          <p:cNvSpPr/>
          <p:nvPr/>
        </p:nvSpPr>
        <p:spPr>
          <a:xfrm>
            <a:off x="457200" y="2450592"/>
            <a:ext cx="310896" cy="310896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8"/>
          <p:cNvSpPr/>
          <p:nvPr/>
        </p:nvSpPr>
        <p:spPr>
          <a:xfrm>
            <a:off x="457200" y="245059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8"/>
          <p:cNvSpPr/>
          <p:nvPr/>
        </p:nvSpPr>
        <p:spPr>
          <a:xfrm>
            <a:off x="914400" y="243230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Choose Field Agent role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1" name="Google Shape;671;p18"/>
          <p:cNvCxnSpPr/>
          <p:nvPr/>
        </p:nvCxnSpPr>
        <p:spPr>
          <a:xfrm>
            <a:off x="612648" y="2761488"/>
            <a:ext cx="0" cy="45720"/>
          </a:xfrm>
          <a:prstGeom prst="straightConnector1">
            <a:avLst/>
          </a:prstGeom>
          <a:noFill/>
          <a:ln cap="flat" cmpd="sng" w="19050">
            <a:solidFill>
              <a:srgbClr val="B7E1C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72" name="Google Shape;672;p18"/>
          <p:cNvSpPr/>
          <p:nvPr/>
        </p:nvSpPr>
        <p:spPr>
          <a:xfrm>
            <a:off x="457200" y="2807208"/>
            <a:ext cx="310896" cy="310896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8"/>
          <p:cNvSpPr/>
          <p:nvPr/>
        </p:nvSpPr>
        <p:spPr>
          <a:xfrm>
            <a:off x="457200" y="28072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8"/>
          <p:cNvSpPr/>
          <p:nvPr/>
        </p:nvSpPr>
        <p:spPr>
          <a:xfrm>
            <a:off x="914400" y="27889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Enter first name, email, phone/WhatsApp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5" name="Google Shape;675;p18"/>
          <p:cNvCxnSpPr/>
          <p:nvPr/>
        </p:nvCxnSpPr>
        <p:spPr>
          <a:xfrm>
            <a:off x="612648" y="3118104"/>
            <a:ext cx="0" cy="45720"/>
          </a:xfrm>
          <a:prstGeom prst="straightConnector1">
            <a:avLst/>
          </a:prstGeom>
          <a:noFill/>
          <a:ln cap="flat" cmpd="sng" w="19050">
            <a:solidFill>
              <a:srgbClr val="B7E1C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76" name="Google Shape;676;p18"/>
          <p:cNvSpPr/>
          <p:nvPr/>
        </p:nvSpPr>
        <p:spPr>
          <a:xfrm>
            <a:off x="457200" y="3163824"/>
            <a:ext cx="310896" cy="310896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8"/>
          <p:cNvSpPr/>
          <p:nvPr/>
        </p:nvSpPr>
        <p:spPr>
          <a:xfrm>
            <a:off x="457200" y="316382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8"/>
          <p:cNvSpPr/>
          <p:nvPr/>
        </p:nvSpPr>
        <p:spPr>
          <a:xfrm>
            <a:off x="914400" y="314553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Answer onboarding questions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9" name="Google Shape;679;p18"/>
          <p:cNvCxnSpPr/>
          <p:nvPr/>
        </p:nvCxnSpPr>
        <p:spPr>
          <a:xfrm>
            <a:off x="612648" y="3474720"/>
            <a:ext cx="0" cy="45720"/>
          </a:xfrm>
          <a:prstGeom prst="straightConnector1">
            <a:avLst/>
          </a:prstGeom>
          <a:noFill/>
          <a:ln cap="flat" cmpd="sng" w="19050">
            <a:solidFill>
              <a:srgbClr val="B7E1C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80" name="Google Shape;680;p18"/>
          <p:cNvSpPr/>
          <p:nvPr/>
        </p:nvSpPr>
        <p:spPr>
          <a:xfrm>
            <a:off x="457200" y="3520440"/>
            <a:ext cx="310896" cy="310896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8"/>
          <p:cNvSpPr/>
          <p:nvPr/>
        </p:nvSpPr>
        <p:spPr>
          <a:xfrm>
            <a:off x="457200" y="35204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8"/>
          <p:cNvSpPr/>
          <p:nvPr/>
        </p:nvSpPr>
        <p:spPr>
          <a:xfrm>
            <a:off x="914400" y="350215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Create a strong password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3" name="Google Shape;683;p18"/>
          <p:cNvCxnSpPr/>
          <p:nvPr/>
        </p:nvCxnSpPr>
        <p:spPr>
          <a:xfrm>
            <a:off x="612648" y="3831336"/>
            <a:ext cx="0" cy="45720"/>
          </a:xfrm>
          <a:prstGeom prst="straightConnector1">
            <a:avLst/>
          </a:prstGeom>
          <a:noFill/>
          <a:ln cap="flat" cmpd="sng" w="19050">
            <a:solidFill>
              <a:srgbClr val="B7E1C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84" name="Google Shape;684;p18"/>
          <p:cNvSpPr/>
          <p:nvPr/>
        </p:nvSpPr>
        <p:spPr>
          <a:xfrm>
            <a:off x="457200" y="3877056"/>
            <a:ext cx="310896" cy="310896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8"/>
          <p:cNvSpPr/>
          <p:nvPr/>
        </p:nvSpPr>
        <p:spPr>
          <a:xfrm>
            <a:off x="457200" y="387705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8"/>
          <p:cNvSpPr/>
          <p:nvPr/>
        </p:nvSpPr>
        <p:spPr>
          <a:xfrm>
            <a:off x="914400" y="385876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Verify with OTP (SMS or email)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7" name="Google Shape;687;p18"/>
          <p:cNvCxnSpPr/>
          <p:nvPr/>
        </p:nvCxnSpPr>
        <p:spPr>
          <a:xfrm>
            <a:off x="612648" y="4187952"/>
            <a:ext cx="0" cy="45720"/>
          </a:xfrm>
          <a:prstGeom prst="straightConnector1">
            <a:avLst/>
          </a:prstGeom>
          <a:noFill/>
          <a:ln cap="flat" cmpd="sng" w="19050">
            <a:solidFill>
              <a:srgbClr val="B7E1C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88" name="Google Shape;688;p18"/>
          <p:cNvSpPr/>
          <p:nvPr/>
        </p:nvSpPr>
        <p:spPr>
          <a:xfrm>
            <a:off x="457200" y="4233672"/>
            <a:ext cx="310896" cy="310896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8"/>
          <p:cNvSpPr/>
          <p:nvPr/>
        </p:nvSpPr>
        <p:spPr>
          <a:xfrm>
            <a:off x="457200" y="42336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8"/>
          <p:cNvSpPr/>
          <p:nvPr/>
        </p:nvSpPr>
        <p:spPr>
          <a:xfrm>
            <a:off x="914400" y="421538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Open your Field Agent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8"/>
          <p:cNvSpPr/>
          <p:nvPr/>
        </p:nvSpPr>
        <p:spPr>
          <a:xfrm>
            <a:off x="5943600" y="1691640"/>
            <a:ext cx="2743200" cy="3017520"/>
          </a:xfrm>
          <a:prstGeom prst="roundRect">
            <a:avLst>
              <a:gd fmla="val 6000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8"/>
          <p:cNvSpPr/>
          <p:nvPr/>
        </p:nvSpPr>
        <p:spPr>
          <a:xfrm>
            <a:off x="6080760" y="1828800"/>
            <a:ext cx="2468880" cy="274320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8"/>
          <p:cNvSpPr/>
          <p:nvPr/>
        </p:nvSpPr>
        <p:spPr>
          <a:xfrm>
            <a:off x="6080760" y="1828800"/>
            <a:ext cx="2468880" cy="228600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8"/>
          <p:cNvSpPr/>
          <p:nvPr/>
        </p:nvSpPr>
        <p:spPr>
          <a:xfrm>
            <a:off x="6080760" y="182880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makaug.com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8"/>
          <p:cNvSpPr/>
          <p:nvPr/>
        </p:nvSpPr>
        <p:spPr>
          <a:xfrm>
            <a:off x="6172200" y="21945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Sign in 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8"/>
          <p:cNvSpPr/>
          <p:nvPr/>
        </p:nvSpPr>
        <p:spPr>
          <a:xfrm>
            <a:off x="6172200" y="2423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Field Agent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8"/>
          <p:cNvSpPr/>
          <p:nvPr/>
        </p:nvSpPr>
        <p:spPr>
          <a:xfrm>
            <a:off x="6217920" y="2880360"/>
            <a:ext cx="2194560" cy="256032"/>
          </a:xfrm>
          <a:prstGeom prst="roundRect">
            <a:avLst>
              <a:gd fmla="val 1428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8"/>
          <p:cNvSpPr/>
          <p:nvPr/>
        </p:nvSpPr>
        <p:spPr>
          <a:xfrm>
            <a:off x="6263640" y="288036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First name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8"/>
          <p:cNvSpPr/>
          <p:nvPr/>
        </p:nvSpPr>
        <p:spPr>
          <a:xfrm>
            <a:off x="6217920" y="3200400"/>
            <a:ext cx="2194560" cy="256032"/>
          </a:xfrm>
          <a:prstGeom prst="roundRect">
            <a:avLst>
              <a:gd fmla="val 1428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8"/>
          <p:cNvSpPr/>
          <p:nvPr/>
        </p:nvSpPr>
        <p:spPr>
          <a:xfrm>
            <a:off x="6263640" y="320040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8"/>
          <p:cNvSpPr/>
          <p:nvPr/>
        </p:nvSpPr>
        <p:spPr>
          <a:xfrm>
            <a:off x="6217920" y="3520440"/>
            <a:ext cx="2194560" cy="256032"/>
          </a:xfrm>
          <a:prstGeom prst="roundRect">
            <a:avLst>
              <a:gd fmla="val 1428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8"/>
          <p:cNvSpPr/>
          <p:nvPr/>
        </p:nvSpPr>
        <p:spPr>
          <a:xfrm>
            <a:off x="6263640" y="352044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Phone (WhatsApp)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8"/>
          <p:cNvSpPr/>
          <p:nvPr/>
        </p:nvSpPr>
        <p:spPr>
          <a:xfrm>
            <a:off x="6217920" y="3840480"/>
            <a:ext cx="2194560" cy="256032"/>
          </a:xfrm>
          <a:prstGeom prst="roundRect">
            <a:avLst>
              <a:gd fmla="val 1428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8"/>
          <p:cNvSpPr/>
          <p:nvPr/>
        </p:nvSpPr>
        <p:spPr>
          <a:xfrm>
            <a:off x="6263640" y="384048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Password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8"/>
          <p:cNvSpPr/>
          <p:nvPr/>
        </p:nvSpPr>
        <p:spPr>
          <a:xfrm>
            <a:off x="6217920" y="4251960"/>
            <a:ext cx="2194560" cy="292608"/>
          </a:xfrm>
          <a:prstGeom prst="roundRect">
            <a:avLst>
              <a:gd fmla="val 12500" name="adj"/>
            </a:avLst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8"/>
          <p:cNvSpPr/>
          <p:nvPr/>
        </p:nvSpPr>
        <p:spPr>
          <a:xfrm>
            <a:off x="6217920" y="425196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Continue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8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8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8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4 · Field Agent Setup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8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16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9"/>
          <p:cNvSpPr/>
          <p:nvPr/>
        </p:nvSpPr>
        <p:spPr>
          <a:xfrm>
            <a:off x="365760" y="292608"/>
            <a:ext cx="813816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9"/>
          <p:cNvSpPr/>
          <p:nvPr/>
        </p:nvSpPr>
        <p:spPr>
          <a:xfrm>
            <a:off x="365760" y="292608"/>
            <a:ext cx="813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SETUP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9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Your Field Agent dashboard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9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Where your work, status, and feedback live.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9"/>
          <p:cNvSpPr/>
          <p:nvPr/>
        </p:nvSpPr>
        <p:spPr>
          <a:xfrm>
            <a:off x="365760" y="1600200"/>
            <a:ext cx="841248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9"/>
          <p:cNvSpPr/>
          <p:nvPr/>
        </p:nvSpPr>
        <p:spPr>
          <a:xfrm>
            <a:off x="365760" y="1600200"/>
            <a:ext cx="1691640" cy="3200400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9"/>
          <p:cNvSpPr/>
          <p:nvPr/>
        </p:nvSpPr>
        <p:spPr>
          <a:xfrm>
            <a:off x="502920" y="17373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MakaUg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9"/>
          <p:cNvSpPr/>
          <p:nvPr/>
        </p:nvSpPr>
        <p:spPr>
          <a:xfrm>
            <a:off x="502920" y="201168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Field Agent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9"/>
          <p:cNvSpPr/>
          <p:nvPr/>
        </p:nvSpPr>
        <p:spPr>
          <a:xfrm>
            <a:off x="365760" y="2386584"/>
            <a:ext cx="1691640" cy="292608"/>
          </a:xfrm>
          <a:prstGeom prst="rect">
            <a:avLst/>
          </a:prstGeom>
          <a:solidFill>
            <a:srgbClr val="1A7A4C"/>
          </a:solidFill>
          <a:ln cap="flat" cmpd="sng" w="12700">
            <a:solidFill>
              <a:srgbClr val="1A7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9"/>
          <p:cNvSpPr/>
          <p:nvPr/>
        </p:nvSpPr>
        <p:spPr>
          <a:xfrm>
            <a:off x="502920" y="24048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9"/>
          <p:cNvSpPr/>
          <p:nvPr/>
        </p:nvSpPr>
        <p:spPr>
          <a:xfrm>
            <a:off x="502920" y="26974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Tasks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9"/>
          <p:cNvSpPr/>
          <p:nvPr/>
        </p:nvSpPr>
        <p:spPr>
          <a:xfrm>
            <a:off x="502920" y="299008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Listings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9"/>
          <p:cNvSpPr/>
          <p:nvPr/>
        </p:nvSpPr>
        <p:spPr>
          <a:xfrm>
            <a:off x="502920" y="328269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Approvals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9"/>
          <p:cNvSpPr/>
          <p:nvPr/>
        </p:nvSpPr>
        <p:spPr>
          <a:xfrm>
            <a:off x="502920" y="357530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Notifications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9"/>
          <p:cNvSpPr/>
          <p:nvPr/>
        </p:nvSpPr>
        <p:spPr>
          <a:xfrm>
            <a:off x="502920" y="38679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Payments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9"/>
          <p:cNvSpPr/>
          <p:nvPr/>
        </p:nvSpPr>
        <p:spPr>
          <a:xfrm>
            <a:off x="502920" y="41605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Help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9"/>
          <p:cNvSpPr/>
          <p:nvPr/>
        </p:nvSpPr>
        <p:spPr>
          <a:xfrm>
            <a:off x="2194560" y="1783080"/>
            <a:ext cx="1554480" cy="914400"/>
          </a:xfrm>
          <a:prstGeom prst="roundRect">
            <a:avLst>
              <a:gd fmla="val 1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9"/>
          <p:cNvSpPr/>
          <p:nvPr/>
        </p:nvSpPr>
        <p:spPr>
          <a:xfrm>
            <a:off x="2194560" y="1783080"/>
            <a:ext cx="1554480" cy="54864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9"/>
          <p:cNvSpPr/>
          <p:nvPr/>
        </p:nvSpPr>
        <p:spPr>
          <a:xfrm>
            <a:off x="2194560" y="192024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9"/>
          <p:cNvSpPr/>
          <p:nvPr/>
        </p:nvSpPr>
        <p:spPr>
          <a:xfrm>
            <a:off x="2194560" y="23774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Submitted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9"/>
          <p:cNvSpPr/>
          <p:nvPr/>
        </p:nvSpPr>
        <p:spPr>
          <a:xfrm>
            <a:off x="3840480" y="1783080"/>
            <a:ext cx="1554480" cy="914400"/>
          </a:xfrm>
          <a:prstGeom prst="roundRect">
            <a:avLst>
              <a:gd fmla="val 1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9"/>
          <p:cNvSpPr/>
          <p:nvPr/>
        </p:nvSpPr>
        <p:spPr>
          <a:xfrm>
            <a:off x="3840480" y="1783080"/>
            <a:ext cx="1554480" cy="5486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9"/>
          <p:cNvSpPr/>
          <p:nvPr/>
        </p:nvSpPr>
        <p:spPr>
          <a:xfrm>
            <a:off x="3840480" y="192024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9"/>
          <p:cNvSpPr/>
          <p:nvPr/>
        </p:nvSpPr>
        <p:spPr>
          <a:xfrm>
            <a:off x="3840480" y="23774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Approved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9"/>
          <p:cNvSpPr/>
          <p:nvPr/>
        </p:nvSpPr>
        <p:spPr>
          <a:xfrm>
            <a:off x="5486400" y="1783080"/>
            <a:ext cx="1554480" cy="914400"/>
          </a:xfrm>
          <a:prstGeom prst="roundRect">
            <a:avLst>
              <a:gd fmla="val 1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9"/>
          <p:cNvSpPr/>
          <p:nvPr/>
        </p:nvSpPr>
        <p:spPr>
          <a:xfrm>
            <a:off x="5486400" y="1783080"/>
            <a:ext cx="155448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9"/>
          <p:cNvSpPr/>
          <p:nvPr/>
        </p:nvSpPr>
        <p:spPr>
          <a:xfrm>
            <a:off x="5486400" y="192024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9"/>
          <p:cNvSpPr/>
          <p:nvPr/>
        </p:nvSpPr>
        <p:spPr>
          <a:xfrm>
            <a:off x="5486400" y="23774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9"/>
          <p:cNvSpPr/>
          <p:nvPr/>
        </p:nvSpPr>
        <p:spPr>
          <a:xfrm>
            <a:off x="7132320" y="1783080"/>
            <a:ext cx="1554480" cy="914400"/>
          </a:xfrm>
          <a:prstGeom prst="roundRect">
            <a:avLst>
              <a:gd fmla="val 1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9"/>
          <p:cNvSpPr/>
          <p:nvPr/>
        </p:nvSpPr>
        <p:spPr>
          <a:xfrm>
            <a:off x="7132320" y="1783080"/>
            <a:ext cx="1554480" cy="5486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9"/>
          <p:cNvSpPr/>
          <p:nvPr/>
        </p:nvSpPr>
        <p:spPr>
          <a:xfrm>
            <a:off x="7132320" y="192024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9"/>
          <p:cNvSpPr/>
          <p:nvPr/>
        </p:nvSpPr>
        <p:spPr>
          <a:xfrm>
            <a:off x="7132320" y="23774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9"/>
          <p:cNvSpPr/>
          <p:nvPr/>
        </p:nvSpPr>
        <p:spPr>
          <a:xfrm>
            <a:off x="2194560" y="2834640"/>
            <a:ext cx="6446520" cy="18745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9"/>
          <p:cNvSpPr/>
          <p:nvPr/>
        </p:nvSpPr>
        <p:spPr>
          <a:xfrm>
            <a:off x="2331720" y="29260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Recent listings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9"/>
          <p:cNvSpPr/>
          <p:nvPr/>
        </p:nvSpPr>
        <p:spPr>
          <a:xfrm>
            <a:off x="2194560" y="3200400"/>
            <a:ext cx="6446520" cy="292608"/>
          </a:xfrm>
          <a:prstGeom prst="rect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9"/>
          <p:cNvSpPr/>
          <p:nvPr/>
        </p:nvSpPr>
        <p:spPr>
          <a:xfrm>
            <a:off x="2331720" y="320040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Reference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9"/>
          <p:cNvSpPr/>
          <p:nvPr/>
        </p:nvSpPr>
        <p:spPr>
          <a:xfrm>
            <a:off x="3749040" y="320040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9"/>
          <p:cNvSpPr/>
          <p:nvPr/>
        </p:nvSpPr>
        <p:spPr>
          <a:xfrm>
            <a:off x="4937760" y="320040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Location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9"/>
          <p:cNvSpPr/>
          <p:nvPr/>
        </p:nvSpPr>
        <p:spPr>
          <a:xfrm>
            <a:off x="7498080" y="320040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9"/>
          <p:cNvSpPr/>
          <p:nvPr/>
        </p:nvSpPr>
        <p:spPr>
          <a:xfrm>
            <a:off x="2194560" y="3520440"/>
            <a:ext cx="6446520" cy="310896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9"/>
          <p:cNvSpPr/>
          <p:nvPr/>
        </p:nvSpPr>
        <p:spPr>
          <a:xfrm>
            <a:off x="2331720" y="352044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#MU-2451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9"/>
          <p:cNvSpPr/>
          <p:nvPr/>
        </p:nvSpPr>
        <p:spPr>
          <a:xfrm>
            <a:off x="3749040" y="352044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Rental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9"/>
          <p:cNvSpPr/>
          <p:nvPr/>
        </p:nvSpPr>
        <p:spPr>
          <a:xfrm>
            <a:off x="4937760" y="3520440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Ntinda, Kampala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9"/>
          <p:cNvSpPr/>
          <p:nvPr/>
        </p:nvSpPr>
        <p:spPr>
          <a:xfrm>
            <a:off x="7498080" y="3557016"/>
            <a:ext cx="960120" cy="237744"/>
          </a:xfrm>
          <a:prstGeom prst="roundRect">
            <a:avLst>
              <a:gd fmla="val 15385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9"/>
          <p:cNvSpPr/>
          <p:nvPr/>
        </p:nvSpPr>
        <p:spPr>
          <a:xfrm>
            <a:off x="7498080" y="355701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9"/>
          <p:cNvSpPr/>
          <p:nvPr/>
        </p:nvSpPr>
        <p:spPr>
          <a:xfrm>
            <a:off x="2331720" y="3831336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#MU-2450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9"/>
          <p:cNvSpPr/>
          <p:nvPr/>
        </p:nvSpPr>
        <p:spPr>
          <a:xfrm>
            <a:off x="3749040" y="3831336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9"/>
          <p:cNvSpPr/>
          <p:nvPr/>
        </p:nvSpPr>
        <p:spPr>
          <a:xfrm>
            <a:off x="4937760" y="3831336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Wakiso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9"/>
          <p:cNvSpPr/>
          <p:nvPr/>
        </p:nvSpPr>
        <p:spPr>
          <a:xfrm>
            <a:off x="7498080" y="3867912"/>
            <a:ext cx="960120" cy="237744"/>
          </a:xfrm>
          <a:prstGeom prst="roundRect">
            <a:avLst>
              <a:gd fmla="val 15385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9"/>
          <p:cNvSpPr/>
          <p:nvPr/>
        </p:nvSpPr>
        <p:spPr>
          <a:xfrm>
            <a:off x="7498080" y="386791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9"/>
          <p:cNvSpPr/>
          <p:nvPr/>
        </p:nvSpPr>
        <p:spPr>
          <a:xfrm>
            <a:off x="2194560" y="4142232"/>
            <a:ext cx="6446520" cy="310896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9"/>
          <p:cNvSpPr/>
          <p:nvPr/>
        </p:nvSpPr>
        <p:spPr>
          <a:xfrm>
            <a:off x="2331720" y="414223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#MU-2449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9"/>
          <p:cNvSpPr/>
          <p:nvPr/>
        </p:nvSpPr>
        <p:spPr>
          <a:xfrm>
            <a:off x="3749040" y="414223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9"/>
          <p:cNvSpPr/>
          <p:nvPr/>
        </p:nvSpPr>
        <p:spPr>
          <a:xfrm>
            <a:off x="4937760" y="4142232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Makerere area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9"/>
          <p:cNvSpPr/>
          <p:nvPr/>
        </p:nvSpPr>
        <p:spPr>
          <a:xfrm>
            <a:off x="7498080" y="4178808"/>
            <a:ext cx="960120" cy="237744"/>
          </a:xfrm>
          <a:prstGeom prst="roundRect">
            <a:avLst>
              <a:gd fmla="val 15385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9"/>
          <p:cNvSpPr/>
          <p:nvPr/>
        </p:nvSpPr>
        <p:spPr>
          <a:xfrm>
            <a:off x="7498080" y="417880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9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9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9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4 · Field Agent Setup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9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17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20"/>
          <p:cNvSpPr/>
          <p:nvPr/>
        </p:nvSpPr>
        <p:spPr>
          <a:xfrm>
            <a:off x="365760" y="292608"/>
            <a:ext cx="813816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0"/>
          <p:cNvSpPr/>
          <p:nvPr/>
        </p:nvSpPr>
        <p:spPr>
          <a:xfrm>
            <a:off x="365760" y="292608"/>
            <a:ext cx="813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SETUP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0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Channels &amp; languages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0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How to reach MakaUg — and meet listers where they are.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0"/>
          <p:cNvSpPr/>
          <p:nvPr/>
        </p:nvSpPr>
        <p:spPr>
          <a:xfrm>
            <a:off x="365760" y="1645920"/>
            <a:ext cx="4069080" cy="3154680"/>
          </a:xfrm>
          <a:prstGeom prst="roundRect">
            <a:avLst>
              <a:gd fmla="val 289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0"/>
          <p:cNvSpPr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OFFICIAL MAKAUG CHANNELS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0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8" name="Google Shape;7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" y="22768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20"/>
          <p:cNvSpPr/>
          <p:nvPr/>
        </p:nvSpPr>
        <p:spPr>
          <a:xfrm>
            <a:off x="1051560" y="21945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Website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0"/>
          <p:cNvSpPr/>
          <p:nvPr/>
        </p:nvSpPr>
        <p:spPr>
          <a:xfrm>
            <a:off x="2377440" y="2194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makaug.com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0"/>
          <p:cNvSpPr/>
          <p:nvPr/>
        </p:nvSpPr>
        <p:spPr>
          <a:xfrm>
            <a:off x="548640" y="2697480"/>
            <a:ext cx="365760" cy="3657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2" name="Google Shape;79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27797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20"/>
          <p:cNvSpPr/>
          <p:nvPr/>
        </p:nvSpPr>
        <p:spPr>
          <a:xfrm>
            <a:off x="1051560" y="26974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WhatsApp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0"/>
          <p:cNvSpPr/>
          <p:nvPr/>
        </p:nvSpPr>
        <p:spPr>
          <a:xfrm>
            <a:off x="2377440" y="26974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0760112587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0"/>
          <p:cNvSpPr/>
          <p:nvPr/>
        </p:nvSpPr>
        <p:spPr>
          <a:xfrm>
            <a:off x="548640" y="3200400"/>
            <a:ext cx="365760" cy="3657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6" name="Google Shape;79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36" y="328269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20"/>
          <p:cNvSpPr/>
          <p:nvPr/>
        </p:nvSpPr>
        <p:spPr>
          <a:xfrm>
            <a:off x="1051560" y="32004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0"/>
          <p:cNvSpPr/>
          <p:nvPr/>
        </p:nvSpPr>
        <p:spPr>
          <a:xfrm>
            <a:off x="2377440" y="32004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info@makaug.com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0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0" name="Google Shape;80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936" y="37856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20"/>
          <p:cNvSpPr/>
          <p:nvPr/>
        </p:nvSpPr>
        <p:spPr>
          <a:xfrm>
            <a:off x="1051560" y="37033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Dashboard alerts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0"/>
          <p:cNvSpPr/>
          <p:nvPr/>
        </p:nvSpPr>
        <p:spPr>
          <a:xfrm>
            <a:off x="2377440" y="37033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Live in your account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0"/>
          <p:cNvSpPr/>
          <p:nvPr/>
        </p:nvSpPr>
        <p:spPr>
          <a:xfrm>
            <a:off x="548640" y="4206240"/>
            <a:ext cx="365760" cy="3657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4" name="Google Shape;80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936" y="428853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20"/>
          <p:cNvSpPr/>
          <p:nvPr/>
        </p:nvSpPr>
        <p:spPr>
          <a:xfrm>
            <a:off x="1051560" y="42062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Admin follow-ups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0"/>
          <p:cNvSpPr/>
          <p:nvPr/>
        </p:nvSpPr>
        <p:spPr>
          <a:xfrm>
            <a:off x="2377440" y="42062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Through your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0"/>
          <p:cNvSpPr/>
          <p:nvPr/>
        </p:nvSpPr>
        <p:spPr>
          <a:xfrm>
            <a:off x="4709160" y="1645920"/>
            <a:ext cx="4069080" cy="3154680"/>
          </a:xfrm>
          <a:prstGeom prst="roundRect">
            <a:avLst>
              <a:gd fmla="val 2899" name="adj"/>
            </a:avLst>
          </a:prstGeom>
          <a:solidFill>
            <a:srgbClr val="0F5132"/>
          </a:solidFill>
          <a:ln cap="flat" cmpd="sng" w="9525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0"/>
          <p:cNvSpPr/>
          <p:nvPr/>
        </p:nvSpPr>
        <p:spPr>
          <a:xfrm>
            <a:off x="48920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SUPPORTED LANGUAGES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0"/>
          <p:cNvSpPr/>
          <p:nvPr/>
        </p:nvSpPr>
        <p:spPr>
          <a:xfrm>
            <a:off x="4892040" y="2057400"/>
            <a:ext cx="3703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1C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7E1C8"/>
                </a:solidFill>
                <a:latin typeface="Calibri"/>
                <a:ea typeface="Calibri"/>
                <a:cs typeface="Calibri"/>
                <a:sym typeface="Calibri"/>
              </a:rPr>
              <a:t>Help listers in their preferred language wherever possible.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0"/>
          <p:cNvSpPr/>
          <p:nvPr/>
        </p:nvSpPr>
        <p:spPr>
          <a:xfrm>
            <a:off x="4892040" y="2606040"/>
            <a:ext cx="1691640" cy="411480"/>
          </a:xfrm>
          <a:prstGeom prst="roundRect">
            <a:avLst>
              <a:gd fmla="val 13333" name="adj"/>
            </a:avLst>
          </a:prstGeom>
          <a:solidFill>
            <a:srgbClr val="1A7A4C"/>
          </a:solidFill>
          <a:ln cap="flat" cmpd="sng" w="9525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20"/>
          <p:cNvSpPr/>
          <p:nvPr/>
        </p:nvSpPr>
        <p:spPr>
          <a:xfrm>
            <a:off x="4892040" y="260604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English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0"/>
          <p:cNvSpPr/>
          <p:nvPr/>
        </p:nvSpPr>
        <p:spPr>
          <a:xfrm>
            <a:off x="6675120" y="2606040"/>
            <a:ext cx="1691640" cy="411480"/>
          </a:xfrm>
          <a:prstGeom prst="roundRect">
            <a:avLst>
              <a:gd fmla="val 13333" name="adj"/>
            </a:avLst>
          </a:prstGeom>
          <a:solidFill>
            <a:srgbClr val="1A7A4C"/>
          </a:solidFill>
          <a:ln cap="flat" cmpd="sng" w="9525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0"/>
          <p:cNvSpPr/>
          <p:nvPr/>
        </p:nvSpPr>
        <p:spPr>
          <a:xfrm>
            <a:off x="6675120" y="260604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Luganda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0"/>
          <p:cNvSpPr/>
          <p:nvPr/>
        </p:nvSpPr>
        <p:spPr>
          <a:xfrm>
            <a:off x="4892040" y="3108960"/>
            <a:ext cx="1691640" cy="411480"/>
          </a:xfrm>
          <a:prstGeom prst="roundRect">
            <a:avLst>
              <a:gd fmla="val 13333" name="adj"/>
            </a:avLst>
          </a:prstGeom>
          <a:solidFill>
            <a:srgbClr val="1A7A4C"/>
          </a:solidFill>
          <a:ln cap="flat" cmpd="sng" w="9525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0"/>
          <p:cNvSpPr/>
          <p:nvPr/>
        </p:nvSpPr>
        <p:spPr>
          <a:xfrm>
            <a:off x="4892040" y="310896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Kiswahili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0"/>
          <p:cNvSpPr/>
          <p:nvPr/>
        </p:nvSpPr>
        <p:spPr>
          <a:xfrm>
            <a:off x="6675120" y="3108960"/>
            <a:ext cx="1691640" cy="411480"/>
          </a:xfrm>
          <a:prstGeom prst="roundRect">
            <a:avLst>
              <a:gd fmla="val 13333" name="adj"/>
            </a:avLst>
          </a:prstGeom>
          <a:solidFill>
            <a:srgbClr val="1A7A4C"/>
          </a:solidFill>
          <a:ln cap="flat" cmpd="sng" w="9525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20"/>
          <p:cNvSpPr/>
          <p:nvPr/>
        </p:nvSpPr>
        <p:spPr>
          <a:xfrm>
            <a:off x="6675120" y="310896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Acholi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"/>
          <p:cNvSpPr/>
          <p:nvPr/>
        </p:nvSpPr>
        <p:spPr>
          <a:xfrm>
            <a:off x="4892040" y="3611880"/>
            <a:ext cx="1691640" cy="411480"/>
          </a:xfrm>
          <a:prstGeom prst="roundRect">
            <a:avLst>
              <a:gd fmla="val 13333" name="adj"/>
            </a:avLst>
          </a:prstGeom>
          <a:solidFill>
            <a:srgbClr val="1A7A4C"/>
          </a:solidFill>
          <a:ln cap="flat" cmpd="sng" w="9525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0"/>
          <p:cNvSpPr/>
          <p:nvPr/>
        </p:nvSpPr>
        <p:spPr>
          <a:xfrm>
            <a:off x="4892040" y="361188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Runyankole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0"/>
          <p:cNvSpPr/>
          <p:nvPr/>
        </p:nvSpPr>
        <p:spPr>
          <a:xfrm>
            <a:off x="6675120" y="3611880"/>
            <a:ext cx="1691640" cy="411480"/>
          </a:xfrm>
          <a:prstGeom prst="roundRect">
            <a:avLst>
              <a:gd fmla="val 13333" name="adj"/>
            </a:avLst>
          </a:prstGeom>
          <a:solidFill>
            <a:srgbClr val="1A7A4C"/>
          </a:solidFill>
          <a:ln cap="flat" cmpd="sng" w="9525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20"/>
          <p:cNvSpPr/>
          <p:nvPr/>
        </p:nvSpPr>
        <p:spPr>
          <a:xfrm>
            <a:off x="6675120" y="361188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Rukiga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0"/>
          <p:cNvSpPr/>
          <p:nvPr/>
        </p:nvSpPr>
        <p:spPr>
          <a:xfrm>
            <a:off x="4892040" y="4114800"/>
            <a:ext cx="1691640" cy="411480"/>
          </a:xfrm>
          <a:prstGeom prst="roundRect">
            <a:avLst>
              <a:gd fmla="val 13333" name="adj"/>
            </a:avLst>
          </a:prstGeom>
          <a:solidFill>
            <a:srgbClr val="1A7A4C"/>
          </a:solidFill>
          <a:ln cap="flat" cmpd="sng" w="9525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0"/>
          <p:cNvSpPr/>
          <p:nvPr/>
        </p:nvSpPr>
        <p:spPr>
          <a:xfrm>
            <a:off x="4892040" y="411480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Lusoga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0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20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0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4 · Field Agent Setup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0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18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21"/>
          <p:cNvSpPr/>
          <p:nvPr/>
        </p:nvSpPr>
        <p:spPr>
          <a:xfrm>
            <a:off x="365760" y="292608"/>
            <a:ext cx="969264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1"/>
          <p:cNvSpPr/>
          <p:nvPr/>
        </p:nvSpPr>
        <p:spPr>
          <a:xfrm>
            <a:off x="365760" y="292608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· LISTING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1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Two ways to list a property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1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Pick the path that matches the lister, the location, and the connection.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1"/>
          <p:cNvSpPr/>
          <p:nvPr/>
        </p:nvSpPr>
        <p:spPr>
          <a:xfrm>
            <a:off x="365760" y="1645920"/>
            <a:ext cx="4069080" cy="3154680"/>
          </a:xfrm>
          <a:prstGeom prst="roundRect">
            <a:avLst>
              <a:gd fmla="val 2899" name="adj"/>
            </a:avLst>
          </a:prstGeom>
          <a:solidFill>
            <a:srgbClr val="0F5132"/>
          </a:solidFill>
          <a:ln cap="flat" cmpd="sng" w="9525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1"/>
          <p:cNvSpPr/>
          <p:nvPr/>
        </p:nvSpPr>
        <p:spPr>
          <a:xfrm>
            <a:off x="548640" y="1828800"/>
            <a:ext cx="1097280" cy="320040"/>
          </a:xfrm>
          <a:prstGeom prst="roundRect">
            <a:avLst>
              <a:gd fmla="val 11429" name="adj"/>
            </a:avLst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21"/>
          <p:cNvSpPr/>
          <p:nvPr/>
        </p:nvSpPr>
        <p:spPr>
          <a:xfrm>
            <a:off x="548640" y="18288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PATH 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1"/>
          <p:cNvSpPr/>
          <p:nvPr/>
        </p:nvSpPr>
        <p:spPr>
          <a:xfrm>
            <a:off x="3474720" y="1783080"/>
            <a:ext cx="777240" cy="7772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1" name="Google Shape;8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9599" y="1957959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21"/>
          <p:cNvSpPr/>
          <p:nvPr/>
        </p:nvSpPr>
        <p:spPr>
          <a:xfrm>
            <a:off x="548640" y="22402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Online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1"/>
          <p:cNvSpPr/>
          <p:nvPr/>
        </p:nvSpPr>
        <p:spPr>
          <a:xfrm>
            <a:off x="548640" y="269748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1C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7E1C8"/>
                </a:solidFill>
                <a:latin typeface="Calibri"/>
                <a:ea typeface="Calibri"/>
                <a:cs typeface="Calibri"/>
                <a:sym typeface="Calibri"/>
              </a:rPr>
              <a:t>Use the makaug.com listing form on a browser.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1"/>
          <p:cNvSpPr/>
          <p:nvPr/>
        </p:nvSpPr>
        <p:spPr>
          <a:xfrm>
            <a:off x="548640" y="31089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Best when: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1"/>
          <p:cNvSpPr/>
          <p:nvPr/>
        </p:nvSpPr>
        <p:spPr>
          <a:xfrm>
            <a:off x="548640" y="3337560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Stable internet available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1"/>
          <p:cNvSpPr/>
          <p:nvPr/>
        </p:nvSpPr>
        <p:spPr>
          <a:xfrm>
            <a:off x="548640" y="3630168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All photos &amp; details ready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1"/>
          <p:cNvSpPr/>
          <p:nvPr/>
        </p:nvSpPr>
        <p:spPr>
          <a:xfrm>
            <a:off x="548640" y="3922776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Lister can verify by OTP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1"/>
          <p:cNvSpPr/>
          <p:nvPr/>
        </p:nvSpPr>
        <p:spPr>
          <a:xfrm>
            <a:off x="548640" y="4215384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You want full form control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1"/>
          <p:cNvSpPr/>
          <p:nvPr/>
        </p:nvSpPr>
        <p:spPr>
          <a:xfrm>
            <a:off x="4709160" y="1645920"/>
            <a:ext cx="4069080" cy="3154680"/>
          </a:xfrm>
          <a:prstGeom prst="roundRect">
            <a:avLst>
              <a:gd fmla="val 2899" name="adj"/>
            </a:avLst>
          </a:prstGeom>
          <a:solidFill>
            <a:srgbClr val="E8A02C"/>
          </a:solidFill>
          <a:ln cap="flat" cmpd="sng" w="9525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21"/>
          <p:cNvSpPr/>
          <p:nvPr/>
        </p:nvSpPr>
        <p:spPr>
          <a:xfrm>
            <a:off x="4892040" y="1828800"/>
            <a:ext cx="1097280" cy="320040"/>
          </a:xfrm>
          <a:prstGeom prst="roundRect">
            <a:avLst>
              <a:gd fmla="val 11429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21"/>
          <p:cNvSpPr/>
          <p:nvPr/>
        </p:nvSpPr>
        <p:spPr>
          <a:xfrm>
            <a:off x="4892040" y="18288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PATH 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1"/>
          <p:cNvSpPr/>
          <p:nvPr/>
        </p:nvSpPr>
        <p:spPr>
          <a:xfrm>
            <a:off x="7818120" y="1783080"/>
            <a:ext cx="777240" cy="77724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3" name="Google Shape;85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2999" y="1957959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21"/>
          <p:cNvSpPr/>
          <p:nvPr/>
        </p:nvSpPr>
        <p:spPr>
          <a:xfrm>
            <a:off x="4892040" y="22402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via WhatsApp AI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1"/>
          <p:cNvSpPr/>
          <p:nvPr/>
        </p:nvSpPr>
        <p:spPr>
          <a:xfrm>
            <a:off x="4892040" y="269748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Guided AI prompts on WhatsApp 0760112587.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1"/>
          <p:cNvSpPr/>
          <p:nvPr/>
        </p:nvSpPr>
        <p:spPr>
          <a:xfrm>
            <a:off x="4892040" y="31089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Best when: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1"/>
          <p:cNvSpPr/>
          <p:nvPr/>
        </p:nvSpPr>
        <p:spPr>
          <a:xfrm>
            <a:off x="4892040" y="3337560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Lister prefers WhatsApp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1"/>
          <p:cNvSpPr/>
          <p:nvPr/>
        </p:nvSpPr>
        <p:spPr>
          <a:xfrm>
            <a:off x="4892040" y="3630168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You're in the field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1"/>
          <p:cNvSpPr/>
          <p:nvPr/>
        </p:nvSpPr>
        <p:spPr>
          <a:xfrm>
            <a:off x="4892040" y="3922776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Internet is limited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1"/>
          <p:cNvSpPr/>
          <p:nvPr/>
        </p:nvSpPr>
        <p:spPr>
          <a:xfrm>
            <a:off x="4892040" y="4215384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Local language is needed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1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21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1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5 · How to List Property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1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19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22"/>
          <p:cNvSpPr/>
          <p:nvPr/>
        </p:nvSpPr>
        <p:spPr>
          <a:xfrm>
            <a:off x="365760" y="292608"/>
            <a:ext cx="969264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22"/>
          <p:cNvSpPr/>
          <p:nvPr/>
        </p:nvSpPr>
        <p:spPr>
          <a:xfrm>
            <a:off x="365760" y="292608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· LISTING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The 10-step listing workflow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2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Same steps for both paths. Memorise the sequence.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2"/>
          <p:cNvSpPr/>
          <p:nvPr/>
        </p:nvSpPr>
        <p:spPr>
          <a:xfrm>
            <a:off x="205740" y="1691640"/>
            <a:ext cx="1673352" cy="1207008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2"/>
          <p:cNvSpPr/>
          <p:nvPr/>
        </p:nvSpPr>
        <p:spPr>
          <a:xfrm>
            <a:off x="205740" y="1691640"/>
            <a:ext cx="54864" cy="1207008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2"/>
          <p:cNvSpPr/>
          <p:nvPr/>
        </p:nvSpPr>
        <p:spPr>
          <a:xfrm>
            <a:off x="370332" y="1837944"/>
            <a:ext cx="365760" cy="3657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7" name="Google Shape;8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628" y="19202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22"/>
          <p:cNvSpPr/>
          <p:nvPr/>
        </p:nvSpPr>
        <p:spPr>
          <a:xfrm>
            <a:off x="800100" y="18196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2"/>
          <p:cNvSpPr/>
          <p:nvPr/>
        </p:nvSpPr>
        <p:spPr>
          <a:xfrm>
            <a:off x="370332" y="2286000"/>
            <a:ext cx="1399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Choose listing type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2"/>
          <p:cNvSpPr/>
          <p:nvPr/>
        </p:nvSpPr>
        <p:spPr>
          <a:xfrm>
            <a:off x="1970532" y="1691640"/>
            <a:ext cx="1673352" cy="1207008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2"/>
          <p:cNvSpPr/>
          <p:nvPr/>
        </p:nvSpPr>
        <p:spPr>
          <a:xfrm>
            <a:off x="1970532" y="1691640"/>
            <a:ext cx="54864" cy="1207008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22"/>
          <p:cNvSpPr/>
          <p:nvPr/>
        </p:nvSpPr>
        <p:spPr>
          <a:xfrm>
            <a:off x="2135124" y="1837944"/>
            <a:ext cx="365760" cy="3657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3" name="Google Shape;88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7420" y="19202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22"/>
          <p:cNvSpPr/>
          <p:nvPr/>
        </p:nvSpPr>
        <p:spPr>
          <a:xfrm>
            <a:off x="2564892" y="18196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2"/>
          <p:cNvSpPr/>
          <p:nvPr/>
        </p:nvSpPr>
        <p:spPr>
          <a:xfrm>
            <a:off x="2135124" y="2286000"/>
            <a:ext cx="1399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Add a clear title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2"/>
          <p:cNvSpPr/>
          <p:nvPr/>
        </p:nvSpPr>
        <p:spPr>
          <a:xfrm>
            <a:off x="3735324" y="1691640"/>
            <a:ext cx="1673352" cy="1207008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2"/>
          <p:cNvSpPr/>
          <p:nvPr/>
        </p:nvSpPr>
        <p:spPr>
          <a:xfrm>
            <a:off x="3735324" y="1691640"/>
            <a:ext cx="54864" cy="1207008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22"/>
          <p:cNvSpPr/>
          <p:nvPr/>
        </p:nvSpPr>
        <p:spPr>
          <a:xfrm>
            <a:off x="3899916" y="1837944"/>
            <a:ext cx="365760" cy="3657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9" name="Google Shape;88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2212" y="19202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22"/>
          <p:cNvSpPr/>
          <p:nvPr/>
        </p:nvSpPr>
        <p:spPr>
          <a:xfrm>
            <a:off x="4329684" y="18196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2"/>
          <p:cNvSpPr/>
          <p:nvPr/>
        </p:nvSpPr>
        <p:spPr>
          <a:xfrm>
            <a:off x="3899916" y="2286000"/>
            <a:ext cx="1399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Find address or place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2"/>
          <p:cNvSpPr/>
          <p:nvPr/>
        </p:nvSpPr>
        <p:spPr>
          <a:xfrm>
            <a:off x="5500116" y="1691640"/>
            <a:ext cx="1673352" cy="1207008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2"/>
          <p:cNvSpPr/>
          <p:nvPr/>
        </p:nvSpPr>
        <p:spPr>
          <a:xfrm>
            <a:off x="5500116" y="1691640"/>
            <a:ext cx="54864" cy="1207008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2"/>
          <p:cNvSpPr/>
          <p:nvPr/>
        </p:nvSpPr>
        <p:spPr>
          <a:xfrm>
            <a:off x="5664708" y="1837944"/>
            <a:ext cx="365760" cy="3657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5" name="Google Shape;89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47004" y="19202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22"/>
          <p:cNvSpPr/>
          <p:nvPr/>
        </p:nvSpPr>
        <p:spPr>
          <a:xfrm>
            <a:off x="6094476" y="18196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2"/>
          <p:cNvSpPr/>
          <p:nvPr/>
        </p:nvSpPr>
        <p:spPr>
          <a:xfrm>
            <a:off x="5664708" y="2286000"/>
            <a:ext cx="1399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Confirm map pin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2"/>
          <p:cNvSpPr/>
          <p:nvPr/>
        </p:nvSpPr>
        <p:spPr>
          <a:xfrm>
            <a:off x="7264908" y="1691640"/>
            <a:ext cx="1673352" cy="1207008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2"/>
          <p:cNvSpPr/>
          <p:nvPr/>
        </p:nvSpPr>
        <p:spPr>
          <a:xfrm>
            <a:off x="7264908" y="1691640"/>
            <a:ext cx="54864" cy="1207008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22"/>
          <p:cNvSpPr/>
          <p:nvPr/>
        </p:nvSpPr>
        <p:spPr>
          <a:xfrm>
            <a:off x="7429500" y="1837944"/>
            <a:ext cx="365760" cy="3657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1" name="Google Shape;9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1796" y="19202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22"/>
          <p:cNvSpPr/>
          <p:nvPr/>
        </p:nvSpPr>
        <p:spPr>
          <a:xfrm>
            <a:off x="7859268" y="18196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2"/>
          <p:cNvSpPr/>
          <p:nvPr/>
        </p:nvSpPr>
        <p:spPr>
          <a:xfrm>
            <a:off x="7429500" y="2286000"/>
            <a:ext cx="1399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Add property details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2"/>
          <p:cNvSpPr/>
          <p:nvPr/>
        </p:nvSpPr>
        <p:spPr>
          <a:xfrm>
            <a:off x="205740" y="3063240"/>
            <a:ext cx="1673352" cy="1207008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2"/>
          <p:cNvSpPr/>
          <p:nvPr/>
        </p:nvSpPr>
        <p:spPr>
          <a:xfrm>
            <a:off x="205740" y="3063240"/>
            <a:ext cx="54864" cy="1207008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2"/>
          <p:cNvSpPr/>
          <p:nvPr/>
        </p:nvSpPr>
        <p:spPr>
          <a:xfrm>
            <a:off x="370332" y="3209544"/>
            <a:ext cx="365760" cy="3657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7" name="Google Shape;90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628" y="32918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22"/>
          <p:cNvSpPr/>
          <p:nvPr/>
        </p:nvSpPr>
        <p:spPr>
          <a:xfrm>
            <a:off x="800100" y="31912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2"/>
          <p:cNvSpPr/>
          <p:nvPr/>
        </p:nvSpPr>
        <p:spPr>
          <a:xfrm>
            <a:off x="370332" y="3657600"/>
            <a:ext cx="1399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Upload 5+ photos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2"/>
          <p:cNvSpPr/>
          <p:nvPr/>
        </p:nvSpPr>
        <p:spPr>
          <a:xfrm>
            <a:off x="1970532" y="3063240"/>
            <a:ext cx="1673352" cy="1207008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2"/>
          <p:cNvSpPr/>
          <p:nvPr/>
        </p:nvSpPr>
        <p:spPr>
          <a:xfrm>
            <a:off x="1970532" y="3063240"/>
            <a:ext cx="54864" cy="1207008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2"/>
          <p:cNvSpPr/>
          <p:nvPr/>
        </p:nvSpPr>
        <p:spPr>
          <a:xfrm>
            <a:off x="2135124" y="3209544"/>
            <a:ext cx="365760" cy="3657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3" name="Google Shape;91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17420" y="32918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22"/>
          <p:cNvSpPr/>
          <p:nvPr/>
        </p:nvSpPr>
        <p:spPr>
          <a:xfrm>
            <a:off x="2564892" y="31912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2"/>
          <p:cNvSpPr/>
          <p:nvPr/>
        </p:nvSpPr>
        <p:spPr>
          <a:xfrm>
            <a:off x="2135124" y="3657600"/>
            <a:ext cx="1399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Verify ID / contact (OTP)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2"/>
          <p:cNvSpPr/>
          <p:nvPr/>
        </p:nvSpPr>
        <p:spPr>
          <a:xfrm>
            <a:off x="3735324" y="3063240"/>
            <a:ext cx="1673352" cy="1207008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2"/>
          <p:cNvSpPr/>
          <p:nvPr/>
        </p:nvSpPr>
        <p:spPr>
          <a:xfrm>
            <a:off x="3735324" y="3063240"/>
            <a:ext cx="54864" cy="1207008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2"/>
          <p:cNvSpPr/>
          <p:nvPr/>
        </p:nvSpPr>
        <p:spPr>
          <a:xfrm>
            <a:off x="3899916" y="3209544"/>
            <a:ext cx="365760" cy="3657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9" name="Google Shape;91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82212" y="32918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22"/>
          <p:cNvSpPr/>
          <p:nvPr/>
        </p:nvSpPr>
        <p:spPr>
          <a:xfrm>
            <a:off x="4329684" y="31912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2"/>
          <p:cNvSpPr/>
          <p:nvPr/>
        </p:nvSpPr>
        <p:spPr>
          <a:xfrm>
            <a:off x="3899916" y="3657600"/>
            <a:ext cx="1399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Confirm review summary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2"/>
          <p:cNvSpPr/>
          <p:nvPr/>
        </p:nvSpPr>
        <p:spPr>
          <a:xfrm>
            <a:off x="5500116" y="3063240"/>
            <a:ext cx="1673352" cy="1207008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2"/>
          <p:cNvSpPr/>
          <p:nvPr/>
        </p:nvSpPr>
        <p:spPr>
          <a:xfrm>
            <a:off x="5500116" y="3063240"/>
            <a:ext cx="54864" cy="1207008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2"/>
          <p:cNvSpPr/>
          <p:nvPr/>
        </p:nvSpPr>
        <p:spPr>
          <a:xfrm>
            <a:off x="5664708" y="3209544"/>
            <a:ext cx="365760" cy="3657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5" name="Google Shape;925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47004" y="32918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22"/>
          <p:cNvSpPr/>
          <p:nvPr/>
        </p:nvSpPr>
        <p:spPr>
          <a:xfrm>
            <a:off x="6094476" y="31912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2"/>
          <p:cNvSpPr/>
          <p:nvPr/>
        </p:nvSpPr>
        <p:spPr>
          <a:xfrm>
            <a:off x="5664708" y="3657600"/>
            <a:ext cx="1399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Submit for admin review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2"/>
          <p:cNvSpPr/>
          <p:nvPr/>
        </p:nvSpPr>
        <p:spPr>
          <a:xfrm>
            <a:off x="7264908" y="3063240"/>
            <a:ext cx="1673352" cy="1207008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22"/>
          <p:cNvSpPr/>
          <p:nvPr/>
        </p:nvSpPr>
        <p:spPr>
          <a:xfrm>
            <a:off x="7264908" y="3063240"/>
            <a:ext cx="54864" cy="1207008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2"/>
          <p:cNvSpPr/>
          <p:nvPr/>
        </p:nvSpPr>
        <p:spPr>
          <a:xfrm>
            <a:off x="7429500" y="3209544"/>
            <a:ext cx="365760" cy="3657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1" name="Google Shape;931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11796" y="32918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22"/>
          <p:cNvSpPr/>
          <p:nvPr/>
        </p:nvSpPr>
        <p:spPr>
          <a:xfrm>
            <a:off x="7859268" y="31912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2"/>
          <p:cNvSpPr/>
          <p:nvPr/>
        </p:nvSpPr>
        <p:spPr>
          <a:xfrm>
            <a:off x="7429500" y="3657600"/>
            <a:ext cx="13990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Save reference number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2"/>
          <p:cNvSpPr/>
          <p:nvPr/>
        </p:nvSpPr>
        <p:spPr>
          <a:xfrm>
            <a:off x="365760" y="4370832"/>
            <a:ext cx="8412480" cy="457200"/>
          </a:xfrm>
          <a:prstGeom prst="roundRect">
            <a:avLst>
              <a:gd fmla="val 20000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2"/>
          <p:cNvSpPr/>
          <p:nvPr/>
        </p:nvSpPr>
        <p:spPr>
          <a:xfrm>
            <a:off x="365760" y="4370832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Always save the reference number </a:t>
            </a: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(e.g. #MU-2451) — both you and the lister will need it for tracking and admin queries.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2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22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2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5 · How to List Property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2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23"/>
          <p:cNvSpPr/>
          <p:nvPr/>
        </p:nvSpPr>
        <p:spPr>
          <a:xfrm>
            <a:off x="365760" y="292608"/>
            <a:ext cx="969264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23"/>
          <p:cNvSpPr/>
          <p:nvPr/>
        </p:nvSpPr>
        <p:spPr>
          <a:xfrm>
            <a:off x="365760" y="292608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· LISTING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Property title standards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3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title is the first thing seekers see. Make it specific, useful, factual.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3"/>
          <p:cNvSpPr/>
          <p:nvPr/>
        </p:nvSpPr>
        <p:spPr>
          <a:xfrm>
            <a:off x="365760" y="1645920"/>
            <a:ext cx="4069080" cy="3154680"/>
          </a:xfrm>
          <a:prstGeom prst="roundRect">
            <a:avLst>
              <a:gd fmla="val 2899" name="adj"/>
            </a:avLst>
          </a:prstGeom>
          <a:solidFill>
            <a:srgbClr val="ECF9F1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3"/>
          <p:cNvSpPr/>
          <p:nvPr/>
        </p:nvSpPr>
        <p:spPr>
          <a:xfrm>
            <a:off x="365760" y="1645920"/>
            <a:ext cx="4069080" cy="4572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3"/>
          <p:cNvSpPr/>
          <p:nvPr/>
        </p:nvSpPr>
        <p:spPr>
          <a:xfrm>
            <a:off x="365760" y="1645920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GOOD TITLES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23"/>
          <p:cNvSpPr/>
          <p:nvPr/>
        </p:nvSpPr>
        <p:spPr>
          <a:xfrm>
            <a:off x="548640" y="2286000"/>
            <a:ext cx="3703320" cy="384048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23"/>
          <p:cNvSpPr/>
          <p:nvPr/>
        </p:nvSpPr>
        <p:spPr>
          <a:xfrm>
            <a:off x="640080" y="2286000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"3-bedroom bungalow in Ntinda"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3"/>
          <p:cNvSpPr/>
          <p:nvPr/>
        </p:nvSpPr>
        <p:spPr>
          <a:xfrm>
            <a:off x="548640" y="2743200"/>
            <a:ext cx="3703320" cy="384048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3"/>
          <p:cNvSpPr/>
          <p:nvPr/>
        </p:nvSpPr>
        <p:spPr>
          <a:xfrm>
            <a:off x="640080" y="2743200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"Self-contained student room near Makerere"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23"/>
          <p:cNvSpPr/>
          <p:nvPr/>
        </p:nvSpPr>
        <p:spPr>
          <a:xfrm>
            <a:off x="548640" y="3200400"/>
            <a:ext cx="3703320" cy="384048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3"/>
          <p:cNvSpPr/>
          <p:nvPr/>
        </p:nvSpPr>
        <p:spPr>
          <a:xfrm>
            <a:off x="640080" y="3200400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"Commercial shop in Kira town centre"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3"/>
          <p:cNvSpPr/>
          <p:nvPr/>
        </p:nvSpPr>
        <p:spPr>
          <a:xfrm>
            <a:off x="548640" y="3657600"/>
            <a:ext cx="3703320" cy="384048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23"/>
          <p:cNvSpPr/>
          <p:nvPr/>
        </p:nvSpPr>
        <p:spPr>
          <a:xfrm>
            <a:off x="640080" y="3657600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"50x100 plot in Wakiso, Bombo road"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3"/>
          <p:cNvSpPr/>
          <p:nvPr/>
        </p:nvSpPr>
        <p:spPr>
          <a:xfrm>
            <a:off x="548640" y="4114800"/>
            <a:ext cx="3703320" cy="384048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23"/>
          <p:cNvSpPr/>
          <p:nvPr/>
        </p:nvSpPr>
        <p:spPr>
          <a:xfrm>
            <a:off x="640080" y="4114800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"2-bedroom apartment, Bukoto, furnished"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23"/>
          <p:cNvSpPr/>
          <p:nvPr/>
        </p:nvSpPr>
        <p:spPr>
          <a:xfrm>
            <a:off x="4709160" y="1645920"/>
            <a:ext cx="4069080" cy="3154680"/>
          </a:xfrm>
          <a:prstGeom prst="roundRect">
            <a:avLst>
              <a:gd fmla="val 2899" name="adj"/>
            </a:avLst>
          </a:prstGeom>
          <a:solidFill>
            <a:srgbClr val="FEF2F2"/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23"/>
          <p:cNvSpPr/>
          <p:nvPr/>
        </p:nvSpPr>
        <p:spPr>
          <a:xfrm>
            <a:off x="4709160" y="1645920"/>
            <a:ext cx="4069080" cy="4572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23"/>
          <p:cNvSpPr/>
          <p:nvPr/>
        </p:nvSpPr>
        <p:spPr>
          <a:xfrm>
            <a:off x="4709160" y="1645920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  BAD TITLES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3"/>
          <p:cNvSpPr/>
          <p:nvPr/>
        </p:nvSpPr>
        <p:spPr>
          <a:xfrm>
            <a:off x="4892040" y="2286000"/>
            <a:ext cx="3703320" cy="384048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23"/>
          <p:cNvSpPr/>
          <p:nvPr/>
        </p:nvSpPr>
        <p:spPr>
          <a:xfrm>
            <a:off x="4983480" y="2286000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"Nice house"   </a:t>
            </a: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→ No location, no type, no size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3"/>
          <p:cNvSpPr/>
          <p:nvPr/>
        </p:nvSpPr>
        <p:spPr>
          <a:xfrm>
            <a:off x="4892040" y="2743200"/>
            <a:ext cx="3703320" cy="384048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23"/>
          <p:cNvSpPr/>
          <p:nvPr/>
        </p:nvSpPr>
        <p:spPr>
          <a:xfrm>
            <a:off x="4983480" y="2743200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"Cheap land"   </a:t>
            </a: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→ Vague + price-bait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3"/>
          <p:cNvSpPr/>
          <p:nvPr/>
        </p:nvSpPr>
        <p:spPr>
          <a:xfrm>
            <a:off x="4892040" y="3200400"/>
            <a:ext cx="3703320" cy="384048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23"/>
          <p:cNvSpPr/>
          <p:nvPr/>
        </p:nvSpPr>
        <p:spPr>
          <a:xfrm>
            <a:off x="4983480" y="3200400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"Call me now"   </a:t>
            </a: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→ Not a property description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3"/>
          <p:cNvSpPr/>
          <p:nvPr/>
        </p:nvSpPr>
        <p:spPr>
          <a:xfrm>
            <a:off x="4892040" y="3657600"/>
            <a:ext cx="3703320" cy="384048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23"/>
          <p:cNvSpPr/>
          <p:nvPr/>
        </p:nvSpPr>
        <p:spPr>
          <a:xfrm>
            <a:off x="4983480" y="3657600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"URGENT must sell"   </a:t>
            </a: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→ Pressure language, no facts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3"/>
          <p:cNvSpPr/>
          <p:nvPr/>
        </p:nvSpPr>
        <p:spPr>
          <a:xfrm>
            <a:off x="4892040" y="4114800"/>
            <a:ext cx="3703320" cy="384048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23"/>
          <p:cNvSpPr/>
          <p:nvPr/>
        </p:nvSpPr>
        <p:spPr>
          <a:xfrm>
            <a:off x="4983480" y="4114800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"Best deal in Kampala"   </a:t>
            </a: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→ Marketing words, no specifics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3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3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3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5 · How to List Property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3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21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24"/>
          <p:cNvSpPr/>
          <p:nvPr/>
        </p:nvSpPr>
        <p:spPr>
          <a:xfrm>
            <a:off x="365760" y="292608"/>
            <a:ext cx="969264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24"/>
          <p:cNvSpPr/>
          <p:nvPr/>
        </p:nvSpPr>
        <p:spPr>
          <a:xfrm>
            <a:off x="365760" y="292608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· LISTING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24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Location &amp; map pin — get this right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4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wrong pin breaks trust faster than a missing photo.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4"/>
          <p:cNvSpPr/>
          <p:nvPr/>
        </p:nvSpPr>
        <p:spPr>
          <a:xfrm>
            <a:off x="365760" y="1645920"/>
            <a:ext cx="4663440" cy="3154680"/>
          </a:xfrm>
          <a:prstGeom prst="roundRect">
            <a:avLst>
              <a:gd fmla="val 289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24"/>
          <p:cNvSpPr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MAP PIN CHECKLIST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4"/>
          <p:cNvSpPr/>
          <p:nvPr/>
        </p:nvSpPr>
        <p:spPr>
          <a:xfrm>
            <a:off x="548640" y="214884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24"/>
          <p:cNvSpPr/>
          <p:nvPr/>
        </p:nvSpPr>
        <p:spPr>
          <a:xfrm>
            <a:off x="548640" y="214884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4"/>
          <p:cNvSpPr/>
          <p:nvPr/>
        </p:nvSpPr>
        <p:spPr>
          <a:xfrm>
            <a:off x="914400" y="213055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 "Find address or place" — type a landmark, road, or area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4"/>
          <p:cNvSpPr/>
          <p:nvPr/>
        </p:nvSpPr>
        <p:spPr>
          <a:xfrm>
            <a:off x="548640" y="251460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4"/>
          <p:cNvSpPr/>
          <p:nvPr/>
        </p:nvSpPr>
        <p:spPr>
          <a:xfrm>
            <a:off x="548640" y="25146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24"/>
          <p:cNvSpPr/>
          <p:nvPr/>
        </p:nvSpPr>
        <p:spPr>
          <a:xfrm>
            <a:off x="914400" y="249631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Wait for the map to load fully before placing the pin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4"/>
          <p:cNvSpPr/>
          <p:nvPr/>
        </p:nvSpPr>
        <p:spPr>
          <a:xfrm>
            <a:off x="548640" y="288036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24"/>
          <p:cNvSpPr/>
          <p:nvPr/>
        </p:nvSpPr>
        <p:spPr>
          <a:xfrm>
            <a:off x="548640" y="288036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4"/>
          <p:cNvSpPr/>
          <p:nvPr/>
        </p:nvSpPr>
        <p:spPr>
          <a:xfrm>
            <a:off x="914400" y="286207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Drag pin to the actual gate, structure, or plot boundary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24"/>
          <p:cNvSpPr/>
          <p:nvPr/>
        </p:nvSpPr>
        <p:spPr>
          <a:xfrm>
            <a:off x="548640" y="324612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24"/>
          <p:cNvSpPr/>
          <p:nvPr/>
        </p:nvSpPr>
        <p:spPr>
          <a:xfrm>
            <a:off x="548640" y="324612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4"/>
          <p:cNvSpPr/>
          <p:nvPr/>
        </p:nvSpPr>
        <p:spPr>
          <a:xfrm>
            <a:off x="914400" y="322783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Cross-check with a nearby landmark visible in your photos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4"/>
          <p:cNvSpPr/>
          <p:nvPr/>
        </p:nvSpPr>
        <p:spPr>
          <a:xfrm>
            <a:off x="548640" y="361188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24"/>
          <p:cNvSpPr/>
          <p:nvPr/>
        </p:nvSpPr>
        <p:spPr>
          <a:xfrm>
            <a:off x="548640" y="3611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4"/>
          <p:cNvSpPr/>
          <p:nvPr/>
        </p:nvSpPr>
        <p:spPr>
          <a:xfrm>
            <a:off x="914400" y="359359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Choose location privacy: exact / approximate / hidden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4"/>
          <p:cNvSpPr/>
          <p:nvPr/>
        </p:nvSpPr>
        <p:spPr>
          <a:xfrm>
            <a:off x="548640" y="397764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24"/>
          <p:cNvSpPr/>
          <p:nvPr/>
        </p:nvSpPr>
        <p:spPr>
          <a:xfrm>
            <a:off x="548640" y="397764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4"/>
          <p:cNvSpPr/>
          <p:nvPr/>
        </p:nvSpPr>
        <p:spPr>
          <a:xfrm>
            <a:off x="914400" y="395935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If the lister isn't sure, ask before placing — don't guess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24"/>
          <p:cNvSpPr/>
          <p:nvPr/>
        </p:nvSpPr>
        <p:spPr>
          <a:xfrm>
            <a:off x="548640" y="434340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24"/>
          <p:cNvSpPr/>
          <p:nvPr/>
        </p:nvSpPr>
        <p:spPr>
          <a:xfrm>
            <a:off x="548640" y="43434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4"/>
          <p:cNvSpPr/>
          <p:nvPr/>
        </p:nvSpPr>
        <p:spPr>
          <a:xfrm>
            <a:off x="914400" y="432511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Confirm the pin with the owner before you submit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4"/>
          <p:cNvSpPr/>
          <p:nvPr/>
        </p:nvSpPr>
        <p:spPr>
          <a:xfrm>
            <a:off x="5303520" y="1645920"/>
            <a:ext cx="3474720" cy="3154680"/>
          </a:xfrm>
          <a:prstGeom prst="roundRect">
            <a:avLst>
              <a:gd fmla="val 2899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24"/>
          <p:cNvSpPr/>
          <p:nvPr/>
        </p:nvSpPr>
        <p:spPr>
          <a:xfrm>
            <a:off x="5440680" y="1783080"/>
            <a:ext cx="777240" cy="521208"/>
          </a:xfrm>
          <a:prstGeom prst="rect">
            <a:avLst/>
          </a:prstGeom>
          <a:solidFill>
            <a:srgbClr val="D9F2E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24"/>
          <p:cNvSpPr/>
          <p:nvPr/>
        </p:nvSpPr>
        <p:spPr>
          <a:xfrm>
            <a:off x="6245352" y="1783080"/>
            <a:ext cx="777240" cy="521208"/>
          </a:xfrm>
          <a:prstGeom prst="rect">
            <a:avLst/>
          </a:prstGeom>
          <a:solidFill>
            <a:srgbClr val="B7E1C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24"/>
          <p:cNvSpPr/>
          <p:nvPr/>
        </p:nvSpPr>
        <p:spPr>
          <a:xfrm>
            <a:off x="7050024" y="1783080"/>
            <a:ext cx="777240" cy="521208"/>
          </a:xfrm>
          <a:prstGeom prst="rect">
            <a:avLst/>
          </a:prstGeom>
          <a:solidFill>
            <a:srgbClr val="D9F2E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24"/>
          <p:cNvSpPr/>
          <p:nvPr/>
        </p:nvSpPr>
        <p:spPr>
          <a:xfrm>
            <a:off x="7854696" y="1783080"/>
            <a:ext cx="777240" cy="521208"/>
          </a:xfrm>
          <a:prstGeom prst="rect">
            <a:avLst/>
          </a:prstGeom>
          <a:solidFill>
            <a:srgbClr val="B7E1C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24"/>
          <p:cNvSpPr/>
          <p:nvPr/>
        </p:nvSpPr>
        <p:spPr>
          <a:xfrm>
            <a:off x="5440680" y="2331720"/>
            <a:ext cx="777240" cy="521208"/>
          </a:xfrm>
          <a:prstGeom prst="rect">
            <a:avLst/>
          </a:prstGeom>
          <a:solidFill>
            <a:srgbClr val="B7E1C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4"/>
          <p:cNvSpPr/>
          <p:nvPr/>
        </p:nvSpPr>
        <p:spPr>
          <a:xfrm>
            <a:off x="6245352" y="2331720"/>
            <a:ext cx="777240" cy="521208"/>
          </a:xfrm>
          <a:prstGeom prst="rect">
            <a:avLst/>
          </a:prstGeom>
          <a:solidFill>
            <a:srgbClr val="D9F2E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24"/>
          <p:cNvSpPr/>
          <p:nvPr/>
        </p:nvSpPr>
        <p:spPr>
          <a:xfrm>
            <a:off x="7050024" y="2331720"/>
            <a:ext cx="777240" cy="521208"/>
          </a:xfrm>
          <a:prstGeom prst="rect">
            <a:avLst/>
          </a:prstGeom>
          <a:solidFill>
            <a:srgbClr val="B7E1C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24"/>
          <p:cNvSpPr/>
          <p:nvPr/>
        </p:nvSpPr>
        <p:spPr>
          <a:xfrm>
            <a:off x="7854696" y="2331720"/>
            <a:ext cx="777240" cy="521208"/>
          </a:xfrm>
          <a:prstGeom prst="rect">
            <a:avLst/>
          </a:prstGeom>
          <a:solidFill>
            <a:srgbClr val="D9F2E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24"/>
          <p:cNvSpPr/>
          <p:nvPr/>
        </p:nvSpPr>
        <p:spPr>
          <a:xfrm>
            <a:off x="5440680" y="2880360"/>
            <a:ext cx="777240" cy="521208"/>
          </a:xfrm>
          <a:prstGeom prst="rect">
            <a:avLst/>
          </a:prstGeom>
          <a:solidFill>
            <a:srgbClr val="D9F2E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24"/>
          <p:cNvSpPr/>
          <p:nvPr/>
        </p:nvSpPr>
        <p:spPr>
          <a:xfrm>
            <a:off x="6245352" y="2880360"/>
            <a:ext cx="777240" cy="521208"/>
          </a:xfrm>
          <a:prstGeom prst="rect">
            <a:avLst/>
          </a:prstGeom>
          <a:solidFill>
            <a:srgbClr val="B7E1C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24"/>
          <p:cNvSpPr/>
          <p:nvPr/>
        </p:nvSpPr>
        <p:spPr>
          <a:xfrm>
            <a:off x="7050024" y="2880360"/>
            <a:ext cx="777240" cy="521208"/>
          </a:xfrm>
          <a:prstGeom prst="rect">
            <a:avLst/>
          </a:prstGeom>
          <a:solidFill>
            <a:srgbClr val="D9F2E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24"/>
          <p:cNvSpPr/>
          <p:nvPr/>
        </p:nvSpPr>
        <p:spPr>
          <a:xfrm>
            <a:off x="7854696" y="2880360"/>
            <a:ext cx="777240" cy="521208"/>
          </a:xfrm>
          <a:prstGeom prst="rect">
            <a:avLst/>
          </a:prstGeom>
          <a:solidFill>
            <a:srgbClr val="B7E1C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24"/>
          <p:cNvSpPr/>
          <p:nvPr/>
        </p:nvSpPr>
        <p:spPr>
          <a:xfrm>
            <a:off x="5440680" y="3429000"/>
            <a:ext cx="777240" cy="521208"/>
          </a:xfrm>
          <a:prstGeom prst="rect">
            <a:avLst/>
          </a:prstGeom>
          <a:solidFill>
            <a:srgbClr val="B7E1C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24"/>
          <p:cNvSpPr/>
          <p:nvPr/>
        </p:nvSpPr>
        <p:spPr>
          <a:xfrm>
            <a:off x="6245352" y="3429000"/>
            <a:ext cx="777240" cy="521208"/>
          </a:xfrm>
          <a:prstGeom prst="rect">
            <a:avLst/>
          </a:prstGeom>
          <a:solidFill>
            <a:srgbClr val="D9F2E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24"/>
          <p:cNvSpPr/>
          <p:nvPr/>
        </p:nvSpPr>
        <p:spPr>
          <a:xfrm>
            <a:off x="7050024" y="3429000"/>
            <a:ext cx="777240" cy="521208"/>
          </a:xfrm>
          <a:prstGeom prst="rect">
            <a:avLst/>
          </a:prstGeom>
          <a:solidFill>
            <a:srgbClr val="B7E1C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24"/>
          <p:cNvSpPr/>
          <p:nvPr/>
        </p:nvSpPr>
        <p:spPr>
          <a:xfrm>
            <a:off x="7854696" y="3429000"/>
            <a:ext cx="777240" cy="521208"/>
          </a:xfrm>
          <a:prstGeom prst="rect">
            <a:avLst/>
          </a:prstGeom>
          <a:solidFill>
            <a:srgbClr val="D9F2E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24"/>
          <p:cNvSpPr/>
          <p:nvPr/>
        </p:nvSpPr>
        <p:spPr>
          <a:xfrm>
            <a:off x="5440680" y="3977640"/>
            <a:ext cx="777240" cy="521208"/>
          </a:xfrm>
          <a:prstGeom prst="rect">
            <a:avLst/>
          </a:prstGeom>
          <a:solidFill>
            <a:srgbClr val="D9F2E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24"/>
          <p:cNvSpPr/>
          <p:nvPr/>
        </p:nvSpPr>
        <p:spPr>
          <a:xfrm>
            <a:off x="6245352" y="3977640"/>
            <a:ext cx="777240" cy="521208"/>
          </a:xfrm>
          <a:prstGeom prst="rect">
            <a:avLst/>
          </a:prstGeom>
          <a:solidFill>
            <a:srgbClr val="B7E1C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24"/>
          <p:cNvSpPr/>
          <p:nvPr/>
        </p:nvSpPr>
        <p:spPr>
          <a:xfrm>
            <a:off x="7050024" y="3977640"/>
            <a:ext cx="777240" cy="521208"/>
          </a:xfrm>
          <a:prstGeom prst="rect">
            <a:avLst/>
          </a:prstGeom>
          <a:solidFill>
            <a:srgbClr val="D9F2E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24"/>
          <p:cNvSpPr/>
          <p:nvPr/>
        </p:nvSpPr>
        <p:spPr>
          <a:xfrm>
            <a:off x="7854696" y="3977640"/>
            <a:ext cx="777240" cy="521208"/>
          </a:xfrm>
          <a:prstGeom prst="rect">
            <a:avLst/>
          </a:prstGeom>
          <a:solidFill>
            <a:srgbClr val="B7E1C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2" name="Google Shape;1032;p24"/>
          <p:cNvCxnSpPr/>
          <p:nvPr/>
        </p:nvCxnSpPr>
        <p:spPr>
          <a:xfrm>
            <a:off x="5440680" y="2834640"/>
            <a:ext cx="3246120" cy="0"/>
          </a:xfrm>
          <a:prstGeom prst="straightConnector1">
            <a:avLst/>
          </a:prstGeom>
          <a:noFill/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3" name="Google Shape;1033;p24"/>
          <p:cNvCxnSpPr/>
          <p:nvPr/>
        </p:nvCxnSpPr>
        <p:spPr>
          <a:xfrm>
            <a:off x="6766560" y="1783080"/>
            <a:ext cx="0" cy="2880360"/>
          </a:xfrm>
          <a:prstGeom prst="straightConnector1">
            <a:avLst/>
          </a:prstGeom>
          <a:noFill/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4" name="Google Shape;1034;p24"/>
          <p:cNvSpPr/>
          <p:nvPr/>
        </p:nvSpPr>
        <p:spPr>
          <a:xfrm>
            <a:off x="6583680" y="2697480"/>
            <a:ext cx="411480" cy="411480"/>
          </a:xfrm>
          <a:prstGeom prst="ellipse">
            <a:avLst/>
          </a:prstGeom>
          <a:solidFill>
            <a:srgbClr val="DC262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24"/>
          <p:cNvSpPr/>
          <p:nvPr/>
        </p:nvSpPr>
        <p:spPr>
          <a:xfrm>
            <a:off x="6693408" y="2807208"/>
            <a:ext cx="192024" cy="19202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24"/>
          <p:cNvSpPr/>
          <p:nvPr/>
        </p:nvSpPr>
        <p:spPr>
          <a:xfrm>
            <a:off x="5486400" y="4114800"/>
            <a:ext cx="3154680" cy="50292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24"/>
          <p:cNvSpPr/>
          <p:nvPr/>
        </p:nvSpPr>
        <p:spPr>
          <a:xfrm>
            <a:off x="5577840" y="41148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📍 Pin confirmed: </a:t>
            </a: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Plot 14, Kira Road, Ntinda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24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24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4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5 · How to List Property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4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22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25"/>
          <p:cNvSpPr/>
          <p:nvPr/>
        </p:nvSpPr>
        <p:spPr>
          <a:xfrm>
            <a:off x="365760" y="292608"/>
            <a:ext cx="969264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5"/>
          <p:cNvSpPr/>
          <p:nvPr/>
        </p:nvSpPr>
        <p:spPr>
          <a:xfrm>
            <a:off x="365760" y="292608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· LISTING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5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Location detail &amp; property details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5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Two field groups you fill on every listing. Check, don't guess.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5"/>
          <p:cNvSpPr/>
          <p:nvPr/>
        </p:nvSpPr>
        <p:spPr>
          <a:xfrm>
            <a:off x="365760" y="1645920"/>
            <a:ext cx="4069080" cy="3154680"/>
          </a:xfrm>
          <a:prstGeom prst="roundRect">
            <a:avLst>
              <a:gd fmla="val 289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25"/>
          <p:cNvSpPr/>
          <p:nvPr/>
        </p:nvSpPr>
        <p:spPr>
          <a:xfrm>
            <a:off x="365760" y="1645920"/>
            <a:ext cx="4069080" cy="365760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25"/>
          <p:cNvSpPr/>
          <p:nvPr/>
        </p:nvSpPr>
        <p:spPr>
          <a:xfrm>
            <a:off x="365760" y="1645920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LOCATION DETAIL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25"/>
          <p:cNvSpPr/>
          <p:nvPr/>
        </p:nvSpPr>
        <p:spPr>
          <a:xfrm>
            <a:off x="548640" y="21488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District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5"/>
          <p:cNvSpPr/>
          <p:nvPr/>
        </p:nvSpPr>
        <p:spPr>
          <a:xfrm>
            <a:off x="2011680" y="214884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e.g. Kampala, Wakiso, Mbarara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25"/>
          <p:cNvSpPr/>
          <p:nvPr/>
        </p:nvSpPr>
        <p:spPr>
          <a:xfrm>
            <a:off x="548640" y="25146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Town / 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5"/>
          <p:cNvSpPr/>
          <p:nvPr/>
        </p:nvSpPr>
        <p:spPr>
          <a:xfrm>
            <a:off x="2011680" y="251460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e.g. Kampala City, Entebbe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5"/>
          <p:cNvSpPr/>
          <p:nvPr/>
        </p:nvSpPr>
        <p:spPr>
          <a:xfrm>
            <a:off x="548640" y="28803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Neighbourhood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5"/>
          <p:cNvSpPr/>
          <p:nvPr/>
        </p:nvSpPr>
        <p:spPr>
          <a:xfrm>
            <a:off x="2011680" y="288036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e.g. Ntinda, Bukoto, Najjera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25"/>
          <p:cNvSpPr/>
          <p:nvPr/>
        </p:nvSpPr>
        <p:spPr>
          <a:xfrm>
            <a:off x="548640" y="324612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Street / road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25"/>
          <p:cNvSpPr/>
          <p:nvPr/>
        </p:nvSpPr>
        <p:spPr>
          <a:xfrm>
            <a:off x="2011680" y="324612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e.g. Kira Road, Plot number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25"/>
          <p:cNvSpPr/>
          <p:nvPr/>
        </p:nvSpPr>
        <p:spPr>
          <a:xfrm>
            <a:off x="548640" y="36118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Full address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25"/>
          <p:cNvSpPr/>
          <p:nvPr/>
        </p:nvSpPr>
        <p:spPr>
          <a:xfrm>
            <a:off x="2011680" y="361188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Optional but valuable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25"/>
          <p:cNvSpPr/>
          <p:nvPr/>
        </p:nvSpPr>
        <p:spPr>
          <a:xfrm>
            <a:off x="548640" y="39776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Coordinates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25"/>
          <p:cNvSpPr/>
          <p:nvPr/>
        </p:nvSpPr>
        <p:spPr>
          <a:xfrm>
            <a:off x="2011680" y="397764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Auto-filled from map pin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25"/>
          <p:cNvSpPr/>
          <p:nvPr/>
        </p:nvSpPr>
        <p:spPr>
          <a:xfrm>
            <a:off x="548640" y="43434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Location privacy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25"/>
          <p:cNvSpPr/>
          <p:nvPr/>
        </p:nvSpPr>
        <p:spPr>
          <a:xfrm>
            <a:off x="2011680" y="434340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Exact / Approximate / Hidden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25"/>
          <p:cNvSpPr/>
          <p:nvPr/>
        </p:nvSpPr>
        <p:spPr>
          <a:xfrm>
            <a:off x="4709160" y="1645920"/>
            <a:ext cx="4069080" cy="3154680"/>
          </a:xfrm>
          <a:prstGeom prst="roundRect">
            <a:avLst>
              <a:gd fmla="val 289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25"/>
          <p:cNvSpPr/>
          <p:nvPr/>
        </p:nvSpPr>
        <p:spPr>
          <a:xfrm>
            <a:off x="4709160" y="1645920"/>
            <a:ext cx="4069080" cy="365760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25"/>
          <p:cNvSpPr/>
          <p:nvPr/>
        </p:nvSpPr>
        <p:spPr>
          <a:xfrm>
            <a:off x="4709160" y="1645920"/>
            <a:ext cx="4069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PROPERTY DETAILS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5"/>
          <p:cNvSpPr/>
          <p:nvPr/>
        </p:nvSpPr>
        <p:spPr>
          <a:xfrm>
            <a:off x="4892040" y="212140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Listing type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25"/>
          <p:cNvSpPr/>
          <p:nvPr/>
        </p:nvSpPr>
        <p:spPr>
          <a:xfrm>
            <a:off x="6446520" y="2121408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Sale / Rent / Lease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25"/>
          <p:cNvSpPr/>
          <p:nvPr/>
        </p:nvSpPr>
        <p:spPr>
          <a:xfrm>
            <a:off x="4892040" y="245059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25"/>
          <p:cNvSpPr/>
          <p:nvPr/>
        </p:nvSpPr>
        <p:spPr>
          <a:xfrm>
            <a:off x="6446520" y="2450592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Home / Land / Student / Commercial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5"/>
          <p:cNvSpPr/>
          <p:nvPr/>
        </p:nvSpPr>
        <p:spPr>
          <a:xfrm>
            <a:off x="4892040" y="2779776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Price + period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25"/>
          <p:cNvSpPr/>
          <p:nvPr/>
        </p:nvSpPr>
        <p:spPr>
          <a:xfrm>
            <a:off x="6446520" y="2779776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UGX, monthly / once-off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25"/>
          <p:cNvSpPr/>
          <p:nvPr/>
        </p:nvSpPr>
        <p:spPr>
          <a:xfrm>
            <a:off x="4892040" y="310896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Available 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25"/>
          <p:cNvSpPr/>
          <p:nvPr/>
        </p:nvSpPr>
        <p:spPr>
          <a:xfrm>
            <a:off x="6446520" y="3108960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Move-in or sale date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25"/>
          <p:cNvSpPr/>
          <p:nvPr/>
        </p:nvSpPr>
        <p:spPr>
          <a:xfrm>
            <a:off x="4892040" y="3438144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Bedrooms / Bathrooms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25"/>
          <p:cNvSpPr/>
          <p:nvPr/>
        </p:nvSpPr>
        <p:spPr>
          <a:xfrm>
            <a:off x="6446520" y="3438144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If applicable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25"/>
          <p:cNvSpPr/>
          <p:nvPr/>
        </p:nvSpPr>
        <p:spPr>
          <a:xfrm>
            <a:off x="4892040" y="376732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25"/>
          <p:cNvSpPr/>
          <p:nvPr/>
        </p:nvSpPr>
        <p:spPr>
          <a:xfrm>
            <a:off x="6446520" y="3767328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Sq ft / sq m / decimals / acres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5"/>
          <p:cNvSpPr/>
          <p:nvPr/>
        </p:nvSpPr>
        <p:spPr>
          <a:xfrm>
            <a:off x="4892040" y="409651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Amenities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5"/>
          <p:cNvSpPr/>
          <p:nvPr/>
        </p:nvSpPr>
        <p:spPr>
          <a:xfrm>
            <a:off x="6446520" y="4096512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Water, power, parking, security…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25"/>
          <p:cNvSpPr/>
          <p:nvPr/>
        </p:nvSpPr>
        <p:spPr>
          <a:xfrm>
            <a:off x="4892040" y="4425696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5"/>
          <p:cNvSpPr/>
          <p:nvPr/>
        </p:nvSpPr>
        <p:spPr>
          <a:xfrm>
            <a:off x="6446520" y="4425696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See next slide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25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25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5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5 · How to List Property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25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23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26"/>
          <p:cNvSpPr/>
          <p:nvPr/>
        </p:nvSpPr>
        <p:spPr>
          <a:xfrm>
            <a:off x="365760" y="292608"/>
            <a:ext cx="969264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26"/>
          <p:cNvSpPr/>
          <p:nvPr/>
        </p:nvSpPr>
        <p:spPr>
          <a:xfrm>
            <a:off x="365760" y="292608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· LISTING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6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Writing the description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6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Short, factual, scannable. Cover ten things — in any order.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26"/>
          <p:cNvSpPr/>
          <p:nvPr/>
        </p:nvSpPr>
        <p:spPr>
          <a:xfrm>
            <a:off x="365760" y="1645920"/>
            <a:ext cx="4572000" cy="3154680"/>
          </a:xfrm>
          <a:prstGeom prst="roundRect">
            <a:avLst>
              <a:gd fmla="val 289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26"/>
          <p:cNvSpPr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INCLUDE THESE 10 ELEMENTS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26"/>
          <p:cNvSpPr/>
          <p:nvPr/>
        </p:nvSpPr>
        <p:spPr>
          <a:xfrm>
            <a:off x="548640" y="2240280"/>
            <a:ext cx="256032" cy="256032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26"/>
          <p:cNvSpPr/>
          <p:nvPr/>
        </p:nvSpPr>
        <p:spPr>
          <a:xfrm>
            <a:off x="548640" y="22402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6"/>
          <p:cNvSpPr/>
          <p:nvPr/>
        </p:nvSpPr>
        <p:spPr>
          <a:xfrm>
            <a:off x="896112" y="21945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Property type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6"/>
          <p:cNvSpPr/>
          <p:nvPr/>
        </p:nvSpPr>
        <p:spPr>
          <a:xfrm>
            <a:off x="2651760" y="2240280"/>
            <a:ext cx="256032" cy="256032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26"/>
          <p:cNvSpPr/>
          <p:nvPr/>
        </p:nvSpPr>
        <p:spPr>
          <a:xfrm>
            <a:off x="2651760" y="22402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6"/>
          <p:cNvSpPr/>
          <p:nvPr/>
        </p:nvSpPr>
        <p:spPr>
          <a:xfrm>
            <a:off x="2999232" y="21945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Location &amp; area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6"/>
          <p:cNvSpPr/>
          <p:nvPr/>
        </p:nvSpPr>
        <p:spPr>
          <a:xfrm>
            <a:off x="548640" y="2697480"/>
            <a:ext cx="256032" cy="256032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26"/>
          <p:cNvSpPr/>
          <p:nvPr/>
        </p:nvSpPr>
        <p:spPr>
          <a:xfrm>
            <a:off x="548640" y="26974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26"/>
          <p:cNvSpPr/>
          <p:nvPr/>
        </p:nvSpPr>
        <p:spPr>
          <a:xfrm>
            <a:off x="896112" y="26517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Size / land area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26"/>
          <p:cNvSpPr/>
          <p:nvPr/>
        </p:nvSpPr>
        <p:spPr>
          <a:xfrm>
            <a:off x="2651760" y="2697480"/>
            <a:ext cx="256032" cy="256032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26"/>
          <p:cNvSpPr/>
          <p:nvPr/>
        </p:nvSpPr>
        <p:spPr>
          <a:xfrm>
            <a:off x="2651760" y="26974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26"/>
          <p:cNvSpPr/>
          <p:nvPr/>
        </p:nvSpPr>
        <p:spPr>
          <a:xfrm>
            <a:off x="2999232" y="26517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Number of rooms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26"/>
          <p:cNvSpPr/>
          <p:nvPr/>
        </p:nvSpPr>
        <p:spPr>
          <a:xfrm>
            <a:off x="548640" y="3154680"/>
            <a:ext cx="256032" cy="256032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26"/>
          <p:cNvSpPr/>
          <p:nvPr/>
        </p:nvSpPr>
        <p:spPr>
          <a:xfrm>
            <a:off x="548640" y="31546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26"/>
          <p:cNvSpPr/>
          <p:nvPr/>
        </p:nvSpPr>
        <p:spPr>
          <a:xfrm>
            <a:off x="896112" y="31089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Security features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26"/>
          <p:cNvSpPr/>
          <p:nvPr/>
        </p:nvSpPr>
        <p:spPr>
          <a:xfrm>
            <a:off x="2651760" y="3154680"/>
            <a:ext cx="256032" cy="256032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26"/>
          <p:cNvSpPr/>
          <p:nvPr/>
        </p:nvSpPr>
        <p:spPr>
          <a:xfrm>
            <a:off x="2651760" y="31546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26"/>
          <p:cNvSpPr/>
          <p:nvPr/>
        </p:nvSpPr>
        <p:spPr>
          <a:xfrm>
            <a:off x="2999232" y="31089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Water supply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26"/>
          <p:cNvSpPr/>
          <p:nvPr/>
        </p:nvSpPr>
        <p:spPr>
          <a:xfrm>
            <a:off x="548640" y="3611880"/>
            <a:ext cx="256032" cy="256032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26"/>
          <p:cNvSpPr/>
          <p:nvPr/>
        </p:nvSpPr>
        <p:spPr>
          <a:xfrm>
            <a:off x="548640" y="3611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26"/>
          <p:cNvSpPr/>
          <p:nvPr/>
        </p:nvSpPr>
        <p:spPr>
          <a:xfrm>
            <a:off x="896112" y="35661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Power / backup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6"/>
          <p:cNvSpPr/>
          <p:nvPr/>
        </p:nvSpPr>
        <p:spPr>
          <a:xfrm>
            <a:off x="2651760" y="3611880"/>
            <a:ext cx="256032" cy="256032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26"/>
          <p:cNvSpPr/>
          <p:nvPr/>
        </p:nvSpPr>
        <p:spPr>
          <a:xfrm>
            <a:off x="2651760" y="36118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26"/>
          <p:cNvSpPr/>
          <p:nvPr/>
        </p:nvSpPr>
        <p:spPr>
          <a:xfrm>
            <a:off x="2999232" y="35661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Transport access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26"/>
          <p:cNvSpPr/>
          <p:nvPr/>
        </p:nvSpPr>
        <p:spPr>
          <a:xfrm>
            <a:off x="548640" y="4069080"/>
            <a:ext cx="256032" cy="256032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26"/>
          <p:cNvSpPr/>
          <p:nvPr/>
        </p:nvSpPr>
        <p:spPr>
          <a:xfrm>
            <a:off x="548640" y="40690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26"/>
          <p:cNvSpPr/>
          <p:nvPr/>
        </p:nvSpPr>
        <p:spPr>
          <a:xfrm>
            <a:off x="896112" y="40233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Nearby landmarks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6"/>
          <p:cNvSpPr/>
          <p:nvPr/>
        </p:nvSpPr>
        <p:spPr>
          <a:xfrm>
            <a:off x="2651760" y="4069080"/>
            <a:ext cx="256032" cy="256032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26"/>
          <p:cNvSpPr/>
          <p:nvPr/>
        </p:nvSpPr>
        <p:spPr>
          <a:xfrm>
            <a:off x="2651760" y="40690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26"/>
          <p:cNvSpPr/>
          <p:nvPr/>
        </p:nvSpPr>
        <p:spPr>
          <a:xfrm>
            <a:off x="2999232" y="40233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Viewing instructions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26"/>
          <p:cNvSpPr/>
          <p:nvPr/>
        </p:nvSpPr>
        <p:spPr>
          <a:xfrm>
            <a:off x="5212080" y="1645920"/>
            <a:ext cx="3566160" cy="3154680"/>
          </a:xfrm>
          <a:prstGeom prst="roundRect">
            <a:avLst>
              <a:gd fmla="val 2899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26"/>
          <p:cNvSpPr/>
          <p:nvPr/>
        </p:nvSpPr>
        <p:spPr>
          <a:xfrm>
            <a:off x="5394960" y="17830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26"/>
          <p:cNvSpPr/>
          <p:nvPr/>
        </p:nvSpPr>
        <p:spPr>
          <a:xfrm>
            <a:off x="5394960" y="2103120"/>
            <a:ext cx="32461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3-bedroom bungalow in Ntinda, ~150 sqm, on a quiet residential road. Walled compound with 24-hour security. NWSC water + UMEME power, with a 1000L backup tank. 10 minutes from Ntinda shopping centre and Kiwatule. Available from 1st of next month. Viewings welcome between 9am–5pm; please call ahead via WhatsApp.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26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26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26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5 · How to List Property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6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24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27"/>
          <p:cNvSpPr/>
          <p:nvPr/>
        </p:nvSpPr>
        <p:spPr>
          <a:xfrm>
            <a:off x="365760" y="292608"/>
            <a:ext cx="891540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27"/>
          <p:cNvSpPr/>
          <p:nvPr/>
        </p:nvSpPr>
        <p:spPr>
          <a:xfrm>
            <a:off x="365760" y="292608"/>
            <a:ext cx="8915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· PHOTOS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27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Photo requirements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27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Photos make or break a listing. Spend the extra five minutes.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27"/>
          <p:cNvSpPr/>
          <p:nvPr/>
        </p:nvSpPr>
        <p:spPr>
          <a:xfrm>
            <a:off x="365760" y="1645920"/>
            <a:ext cx="2651760" cy="3154680"/>
          </a:xfrm>
          <a:prstGeom prst="roundRect">
            <a:avLst>
              <a:gd fmla="val 3448" name="adj"/>
            </a:avLst>
          </a:prstGeom>
          <a:solidFill>
            <a:srgbClr val="0F5132"/>
          </a:solidFill>
          <a:ln cap="flat" cmpd="sng" w="9525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27"/>
          <p:cNvSpPr/>
          <p:nvPr/>
        </p:nvSpPr>
        <p:spPr>
          <a:xfrm>
            <a:off x="365760" y="1828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AIM FOR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27"/>
          <p:cNvSpPr/>
          <p:nvPr/>
        </p:nvSpPr>
        <p:spPr>
          <a:xfrm>
            <a:off x="365760" y="2194560"/>
            <a:ext cx="26517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Calibri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5+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27"/>
          <p:cNvSpPr/>
          <p:nvPr/>
        </p:nvSpPr>
        <p:spPr>
          <a:xfrm>
            <a:off x="365760" y="3749040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E1C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B7E1C8"/>
                </a:solidFill>
                <a:latin typeface="Calibri"/>
                <a:ea typeface="Calibri"/>
                <a:cs typeface="Calibri"/>
                <a:sym typeface="Calibri"/>
              </a:rPr>
              <a:t>clear, daylight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E1C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B7E1C8"/>
                </a:solidFill>
                <a:latin typeface="Calibri"/>
                <a:ea typeface="Calibri"/>
                <a:cs typeface="Calibri"/>
                <a:sym typeface="Calibri"/>
              </a:rPr>
              <a:t>photos per listing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27"/>
          <p:cNvSpPr/>
          <p:nvPr/>
        </p:nvSpPr>
        <p:spPr>
          <a:xfrm>
            <a:off x="3200400" y="1645920"/>
            <a:ext cx="5577840" cy="1508760"/>
          </a:xfrm>
          <a:prstGeom prst="roundRect">
            <a:avLst>
              <a:gd fmla="val 6061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27"/>
          <p:cNvSpPr/>
          <p:nvPr/>
        </p:nvSpPr>
        <p:spPr>
          <a:xfrm>
            <a:off x="3383280" y="17373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27"/>
          <p:cNvSpPr/>
          <p:nvPr/>
        </p:nvSpPr>
        <p:spPr>
          <a:xfrm>
            <a:off x="3383280" y="2057400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 Shoot in daylight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27"/>
          <p:cNvSpPr/>
          <p:nvPr/>
        </p:nvSpPr>
        <p:spPr>
          <a:xfrm>
            <a:off x="6080760" y="2057400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 Hold the phone steady (use 2 hands)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27"/>
          <p:cNvSpPr/>
          <p:nvPr/>
        </p:nvSpPr>
        <p:spPr>
          <a:xfrm>
            <a:off x="3383280" y="244144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 Cover all rooms / angles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27"/>
          <p:cNvSpPr/>
          <p:nvPr/>
        </p:nvSpPr>
        <p:spPr>
          <a:xfrm>
            <a:off x="6080760" y="244144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 Show the compound and surroundings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27"/>
          <p:cNvSpPr/>
          <p:nvPr/>
        </p:nvSpPr>
        <p:spPr>
          <a:xfrm>
            <a:off x="3200400" y="3291840"/>
            <a:ext cx="5577840" cy="1508760"/>
          </a:xfrm>
          <a:prstGeom prst="roundRect">
            <a:avLst>
              <a:gd fmla="val 6061" name="adj"/>
            </a:avLst>
          </a:prstGeom>
          <a:solidFill>
            <a:srgbClr val="FEF2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7"/>
          <p:cNvSpPr/>
          <p:nvPr/>
        </p:nvSpPr>
        <p:spPr>
          <a:xfrm>
            <a:off x="3383280" y="33832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DON'T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27"/>
          <p:cNvSpPr/>
          <p:nvPr/>
        </p:nvSpPr>
        <p:spPr>
          <a:xfrm>
            <a:off x="3383280" y="3703320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✕  Use blurry / dark images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27"/>
          <p:cNvSpPr/>
          <p:nvPr/>
        </p:nvSpPr>
        <p:spPr>
          <a:xfrm>
            <a:off x="6080760" y="3703320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✕  Photograph private documents publicly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27"/>
          <p:cNvSpPr/>
          <p:nvPr/>
        </p:nvSpPr>
        <p:spPr>
          <a:xfrm>
            <a:off x="3383280" y="408736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✕  Use misleading angles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27"/>
          <p:cNvSpPr/>
          <p:nvPr/>
        </p:nvSpPr>
        <p:spPr>
          <a:xfrm>
            <a:off x="6080760" y="4087368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✕  Reuse photos from another property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27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27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27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6 · Photos &amp; Media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27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25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28"/>
          <p:cNvSpPr/>
          <p:nvPr/>
        </p:nvSpPr>
        <p:spPr>
          <a:xfrm>
            <a:off x="365760" y="292608"/>
            <a:ext cx="891540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28"/>
          <p:cNvSpPr/>
          <p:nvPr/>
        </p:nvSpPr>
        <p:spPr>
          <a:xfrm>
            <a:off x="365760" y="292608"/>
            <a:ext cx="8915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· PHOTOS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28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Photo checklist by property type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28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Different property types demand different shots.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28"/>
          <p:cNvSpPr/>
          <p:nvPr/>
        </p:nvSpPr>
        <p:spPr>
          <a:xfrm>
            <a:off x="370332" y="1691640"/>
            <a:ext cx="2011680" cy="301752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28"/>
          <p:cNvSpPr/>
          <p:nvPr/>
        </p:nvSpPr>
        <p:spPr>
          <a:xfrm>
            <a:off x="370332" y="1691640"/>
            <a:ext cx="2011680" cy="594360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28"/>
          <p:cNvSpPr/>
          <p:nvPr/>
        </p:nvSpPr>
        <p:spPr>
          <a:xfrm>
            <a:off x="507492" y="182880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0" name="Google Shape;118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92808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28"/>
          <p:cNvSpPr/>
          <p:nvPr/>
        </p:nvSpPr>
        <p:spPr>
          <a:xfrm>
            <a:off x="873252" y="169164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Homes / Rentals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28"/>
          <p:cNvSpPr/>
          <p:nvPr/>
        </p:nvSpPr>
        <p:spPr>
          <a:xfrm>
            <a:off x="507492" y="246888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28"/>
          <p:cNvSpPr/>
          <p:nvPr/>
        </p:nvSpPr>
        <p:spPr>
          <a:xfrm>
            <a:off x="754380" y="246888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Exterior front view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28"/>
          <p:cNvSpPr/>
          <p:nvPr/>
        </p:nvSpPr>
        <p:spPr>
          <a:xfrm>
            <a:off x="507492" y="2816352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28"/>
          <p:cNvSpPr/>
          <p:nvPr/>
        </p:nvSpPr>
        <p:spPr>
          <a:xfrm>
            <a:off x="754380" y="281635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Sitting room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28"/>
          <p:cNvSpPr/>
          <p:nvPr/>
        </p:nvSpPr>
        <p:spPr>
          <a:xfrm>
            <a:off x="507492" y="3163824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28"/>
          <p:cNvSpPr/>
          <p:nvPr/>
        </p:nvSpPr>
        <p:spPr>
          <a:xfrm>
            <a:off x="754380" y="3163824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Bedrooms (each)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28"/>
          <p:cNvSpPr/>
          <p:nvPr/>
        </p:nvSpPr>
        <p:spPr>
          <a:xfrm>
            <a:off x="507492" y="3511296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28"/>
          <p:cNvSpPr/>
          <p:nvPr/>
        </p:nvSpPr>
        <p:spPr>
          <a:xfrm>
            <a:off x="754380" y="3511296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Kitchen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28"/>
          <p:cNvSpPr/>
          <p:nvPr/>
        </p:nvSpPr>
        <p:spPr>
          <a:xfrm>
            <a:off x="507492" y="3858768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28"/>
          <p:cNvSpPr/>
          <p:nvPr/>
        </p:nvSpPr>
        <p:spPr>
          <a:xfrm>
            <a:off x="754380" y="385876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Bathroom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28"/>
          <p:cNvSpPr/>
          <p:nvPr/>
        </p:nvSpPr>
        <p:spPr>
          <a:xfrm>
            <a:off x="507492" y="420624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28"/>
          <p:cNvSpPr/>
          <p:nvPr/>
        </p:nvSpPr>
        <p:spPr>
          <a:xfrm>
            <a:off x="754380" y="420624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Compound &amp; parking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28"/>
          <p:cNvSpPr/>
          <p:nvPr/>
        </p:nvSpPr>
        <p:spPr>
          <a:xfrm>
            <a:off x="2500884" y="1691640"/>
            <a:ext cx="2011680" cy="301752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28"/>
          <p:cNvSpPr/>
          <p:nvPr/>
        </p:nvSpPr>
        <p:spPr>
          <a:xfrm>
            <a:off x="2500884" y="1691640"/>
            <a:ext cx="2011680" cy="594360"/>
          </a:xfrm>
          <a:prstGeom prst="rect">
            <a:avLst/>
          </a:prstGeom>
          <a:solidFill>
            <a:srgbClr val="1A7A4C"/>
          </a:solidFill>
          <a:ln cap="flat" cmpd="sng" w="12700">
            <a:solidFill>
              <a:srgbClr val="1A7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28"/>
          <p:cNvSpPr/>
          <p:nvPr/>
        </p:nvSpPr>
        <p:spPr>
          <a:xfrm>
            <a:off x="2638044" y="182880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7" name="Google Shape;119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2052" y="1892808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28"/>
          <p:cNvSpPr/>
          <p:nvPr/>
        </p:nvSpPr>
        <p:spPr>
          <a:xfrm>
            <a:off x="3003804" y="169164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 Housing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28"/>
          <p:cNvSpPr/>
          <p:nvPr/>
        </p:nvSpPr>
        <p:spPr>
          <a:xfrm>
            <a:off x="2638044" y="246888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7A4C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28"/>
          <p:cNvSpPr/>
          <p:nvPr/>
        </p:nvSpPr>
        <p:spPr>
          <a:xfrm>
            <a:off x="2884932" y="246888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room itself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28"/>
          <p:cNvSpPr/>
          <p:nvPr/>
        </p:nvSpPr>
        <p:spPr>
          <a:xfrm>
            <a:off x="2638044" y="2816352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7A4C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28"/>
          <p:cNvSpPr/>
          <p:nvPr/>
        </p:nvSpPr>
        <p:spPr>
          <a:xfrm>
            <a:off x="2884932" y="281635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Bed / sleep space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28"/>
          <p:cNvSpPr/>
          <p:nvPr/>
        </p:nvSpPr>
        <p:spPr>
          <a:xfrm>
            <a:off x="2638044" y="3163824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7A4C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28"/>
          <p:cNvSpPr/>
          <p:nvPr/>
        </p:nvSpPr>
        <p:spPr>
          <a:xfrm>
            <a:off x="2884932" y="3163824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Shared facilities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28"/>
          <p:cNvSpPr/>
          <p:nvPr/>
        </p:nvSpPr>
        <p:spPr>
          <a:xfrm>
            <a:off x="2638044" y="3511296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7A4C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28"/>
          <p:cNvSpPr/>
          <p:nvPr/>
        </p:nvSpPr>
        <p:spPr>
          <a:xfrm>
            <a:off x="2884932" y="3511296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Security gate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28"/>
          <p:cNvSpPr/>
          <p:nvPr/>
        </p:nvSpPr>
        <p:spPr>
          <a:xfrm>
            <a:off x="2638044" y="3858768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7A4C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28"/>
          <p:cNvSpPr/>
          <p:nvPr/>
        </p:nvSpPr>
        <p:spPr>
          <a:xfrm>
            <a:off x="2884932" y="385876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Water source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28"/>
          <p:cNvSpPr/>
          <p:nvPr/>
        </p:nvSpPr>
        <p:spPr>
          <a:xfrm>
            <a:off x="2638044" y="420624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7A4C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28"/>
          <p:cNvSpPr/>
          <p:nvPr/>
        </p:nvSpPr>
        <p:spPr>
          <a:xfrm>
            <a:off x="2884932" y="420624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Wi-Fi / common area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28"/>
          <p:cNvSpPr/>
          <p:nvPr/>
        </p:nvSpPr>
        <p:spPr>
          <a:xfrm>
            <a:off x="4631436" y="1691640"/>
            <a:ext cx="2011680" cy="301752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28"/>
          <p:cNvSpPr/>
          <p:nvPr/>
        </p:nvSpPr>
        <p:spPr>
          <a:xfrm>
            <a:off x="4631436" y="1691640"/>
            <a:ext cx="2011680" cy="594360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28"/>
          <p:cNvSpPr/>
          <p:nvPr/>
        </p:nvSpPr>
        <p:spPr>
          <a:xfrm>
            <a:off x="4768596" y="182880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4" name="Google Shape;121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2604" y="1892808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28"/>
          <p:cNvSpPr/>
          <p:nvPr/>
        </p:nvSpPr>
        <p:spPr>
          <a:xfrm>
            <a:off x="5134356" y="169164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28"/>
          <p:cNvSpPr/>
          <p:nvPr/>
        </p:nvSpPr>
        <p:spPr>
          <a:xfrm>
            <a:off x="4768596" y="246888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28"/>
          <p:cNvSpPr/>
          <p:nvPr/>
        </p:nvSpPr>
        <p:spPr>
          <a:xfrm>
            <a:off x="5015484" y="246888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Road access view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28"/>
          <p:cNvSpPr/>
          <p:nvPr/>
        </p:nvSpPr>
        <p:spPr>
          <a:xfrm>
            <a:off x="4768596" y="2816352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28"/>
          <p:cNvSpPr/>
          <p:nvPr/>
        </p:nvSpPr>
        <p:spPr>
          <a:xfrm>
            <a:off x="5015484" y="281635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Boundary markers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28"/>
          <p:cNvSpPr/>
          <p:nvPr/>
        </p:nvSpPr>
        <p:spPr>
          <a:xfrm>
            <a:off x="4768596" y="3163824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28"/>
          <p:cNvSpPr/>
          <p:nvPr/>
        </p:nvSpPr>
        <p:spPr>
          <a:xfrm>
            <a:off x="5015484" y="3163824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Nearby landmark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28"/>
          <p:cNvSpPr/>
          <p:nvPr/>
        </p:nvSpPr>
        <p:spPr>
          <a:xfrm>
            <a:off x="4768596" y="3511296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28"/>
          <p:cNvSpPr/>
          <p:nvPr/>
        </p:nvSpPr>
        <p:spPr>
          <a:xfrm>
            <a:off x="5015484" y="3511296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Site overview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28"/>
          <p:cNvSpPr/>
          <p:nvPr/>
        </p:nvSpPr>
        <p:spPr>
          <a:xfrm>
            <a:off x="4768596" y="3858768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28"/>
          <p:cNvSpPr/>
          <p:nvPr/>
        </p:nvSpPr>
        <p:spPr>
          <a:xfrm>
            <a:off x="5015484" y="385876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Access path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28"/>
          <p:cNvSpPr/>
          <p:nvPr/>
        </p:nvSpPr>
        <p:spPr>
          <a:xfrm>
            <a:off x="4768596" y="420624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28"/>
          <p:cNvSpPr/>
          <p:nvPr/>
        </p:nvSpPr>
        <p:spPr>
          <a:xfrm>
            <a:off x="5015484" y="420624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Neighbouring plots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28"/>
          <p:cNvSpPr/>
          <p:nvPr/>
        </p:nvSpPr>
        <p:spPr>
          <a:xfrm>
            <a:off x="6761988" y="1691640"/>
            <a:ext cx="2011680" cy="301752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28"/>
          <p:cNvSpPr/>
          <p:nvPr/>
        </p:nvSpPr>
        <p:spPr>
          <a:xfrm>
            <a:off x="6761988" y="1691640"/>
            <a:ext cx="2011680" cy="594360"/>
          </a:xfrm>
          <a:prstGeom prst="rect">
            <a:avLst/>
          </a:prstGeom>
          <a:solidFill>
            <a:srgbClr val="047857"/>
          </a:solidFill>
          <a:ln cap="flat" cmpd="sng" w="127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28"/>
          <p:cNvSpPr/>
          <p:nvPr/>
        </p:nvSpPr>
        <p:spPr>
          <a:xfrm>
            <a:off x="6899148" y="182880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1" name="Google Shape;123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3156" y="1892808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32" name="Google Shape;1232;p28"/>
          <p:cNvSpPr/>
          <p:nvPr/>
        </p:nvSpPr>
        <p:spPr>
          <a:xfrm>
            <a:off x="7264908" y="169164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Commercial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28"/>
          <p:cNvSpPr/>
          <p:nvPr/>
        </p:nvSpPr>
        <p:spPr>
          <a:xfrm>
            <a:off x="6899148" y="246888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47857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28"/>
          <p:cNvSpPr/>
          <p:nvPr/>
        </p:nvSpPr>
        <p:spPr>
          <a:xfrm>
            <a:off x="7146036" y="246888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Storefront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28"/>
          <p:cNvSpPr/>
          <p:nvPr/>
        </p:nvSpPr>
        <p:spPr>
          <a:xfrm>
            <a:off x="6899148" y="2816352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47857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28"/>
          <p:cNvSpPr/>
          <p:nvPr/>
        </p:nvSpPr>
        <p:spPr>
          <a:xfrm>
            <a:off x="7146036" y="281635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Interior space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28"/>
          <p:cNvSpPr/>
          <p:nvPr/>
        </p:nvSpPr>
        <p:spPr>
          <a:xfrm>
            <a:off x="6899148" y="3163824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47857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28"/>
          <p:cNvSpPr/>
          <p:nvPr/>
        </p:nvSpPr>
        <p:spPr>
          <a:xfrm>
            <a:off x="7146036" y="3163824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Parking area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28"/>
          <p:cNvSpPr/>
          <p:nvPr/>
        </p:nvSpPr>
        <p:spPr>
          <a:xfrm>
            <a:off x="6899148" y="3511296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47857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28"/>
          <p:cNvSpPr/>
          <p:nvPr/>
        </p:nvSpPr>
        <p:spPr>
          <a:xfrm>
            <a:off x="7146036" y="3511296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Road frontage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28"/>
          <p:cNvSpPr/>
          <p:nvPr/>
        </p:nvSpPr>
        <p:spPr>
          <a:xfrm>
            <a:off x="6899148" y="3858768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47857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28"/>
          <p:cNvSpPr/>
          <p:nvPr/>
        </p:nvSpPr>
        <p:spPr>
          <a:xfrm>
            <a:off x="7146036" y="3858768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Utilities (water/power)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28"/>
          <p:cNvSpPr/>
          <p:nvPr/>
        </p:nvSpPr>
        <p:spPr>
          <a:xfrm>
            <a:off x="6899148" y="420624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47857"/>
                </a:solidFill>
                <a:latin typeface="Calibri"/>
                <a:ea typeface="Calibri"/>
                <a:cs typeface="Calibri"/>
                <a:sym typeface="Calibri"/>
              </a:rPr>
              <a:t>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28"/>
          <p:cNvSpPr/>
          <p:nvPr/>
        </p:nvSpPr>
        <p:spPr>
          <a:xfrm>
            <a:off x="7146036" y="420624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Loading / access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28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8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28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6 · Photos &amp; Media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28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26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29"/>
          <p:cNvSpPr/>
          <p:nvPr/>
        </p:nvSpPr>
        <p:spPr>
          <a:xfrm>
            <a:off x="365760" y="292608"/>
            <a:ext cx="891540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29"/>
          <p:cNvSpPr/>
          <p:nvPr/>
        </p:nvSpPr>
        <p:spPr>
          <a:xfrm>
            <a:off x="365760" y="292608"/>
            <a:ext cx="8915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· PHOTOS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29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Video walkthrough — when it's worth it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29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 optional but powerful upgrade for the right kind of listing.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29"/>
          <p:cNvSpPr/>
          <p:nvPr/>
        </p:nvSpPr>
        <p:spPr>
          <a:xfrm>
            <a:off x="365760" y="1645920"/>
            <a:ext cx="4069080" cy="3154680"/>
          </a:xfrm>
          <a:prstGeom prst="roundRect">
            <a:avLst>
              <a:gd fmla="val 289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29"/>
          <p:cNvSpPr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USE A VIDEO WHEN…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29"/>
          <p:cNvSpPr/>
          <p:nvPr/>
        </p:nvSpPr>
        <p:spPr>
          <a:xfrm>
            <a:off x="548640" y="2240280"/>
            <a:ext cx="384048" cy="384048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1" name="Google Shape;126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051" y="2326691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29"/>
          <p:cNvSpPr/>
          <p:nvPr/>
        </p:nvSpPr>
        <p:spPr>
          <a:xfrm>
            <a:off x="1097280" y="224028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Large or multi-room property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29"/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4" name="Google Shape;126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51" y="2829611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29"/>
          <p:cNvSpPr/>
          <p:nvPr/>
        </p:nvSpPr>
        <p:spPr>
          <a:xfrm>
            <a:off x="1097280" y="274320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Student housing — show shared spaces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29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7" name="Google Shape;126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051" y="3332531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29"/>
          <p:cNvSpPr/>
          <p:nvPr/>
        </p:nvSpPr>
        <p:spPr>
          <a:xfrm>
            <a:off x="1097280" y="324612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Commercial space — flow &amp; layout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29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0" name="Google Shape;127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5051" y="3835451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29"/>
          <p:cNvSpPr/>
          <p:nvPr/>
        </p:nvSpPr>
        <p:spPr>
          <a:xfrm>
            <a:off x="1097280" y="374904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Diaspora or remote buyers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29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3" name="Google Shape;1273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5051" y="4338371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29"/>
          <p:cNvSpPr/>
          <p:nvPr/>
        </p:nvSpPr>
        <p:spPr>
          <a:xfrm>
            <a:off x="1097280" y="425196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Land plots that span beyond a photo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29"/>
          <p:cNvSpPr/>
          <p:nvPr/>
        </p:nvSpPr>
        <p:spPr>
          <a:xfrm>
            <a:off x="4709160" y="1645920"/>
            <a:ext cx="4069080" cy="3154680"/>
          </a:xfrm>
          <a:prstGeom prst="roundRect">
            <a:avLst>
              <a:gd fmla="val 2899" name="adj"/>
            </a:avLst>
          </a:prstGeom>
          <a:solidFill>
            <a:srgbClr val="0F5132"/>
          </a:solidFill>
          <a:ln cap="flat" cmpd="sng" w="9525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29"/>
          <p:cNvSpPr/>
          <p:nvPr/>
        </p:nvSpPr>
        <p:spPr>
          <a:xfrm>
            <a:off x="48920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VIDEO TIPS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29"/>
          <p:cNvSpPr/>
          <p:nvPr/>
        </p:nvSpPr>
        <p:spPr>
          <a:xfrm>
            <a:off x="4892040" y="2295144"/>
            <a:ext cx="201168" cy="201168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29"/>
          <p:cNvSpPr/>
          <p:nvPr/>
        </p:nvSpPr>
        <p:spPr>
          <a:xfrm>
            <a:off x="4892040" y="229514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29"/>
          <p:cNvSpPr/>
          <p:nvPr/>
        </p:nvSpPr>
        <p:spPr>
          <a:xfrm>
            <a:off x="5212080" y="2240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Hold phone horizontally (landscape)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29"/>
          <p:cNvSpPr/>
          <p:nvPr/>
        </p:nvSpPr>
        <p:spPr>
          <a:xfrm>
            <a:off x="4892040" y="2679192"/>
            <a:ext cx="201168" cy="201168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29"/>
          <p:cNvSpPr/>
          <p:nvPr/>
        </p:nvSpPr>
        <p:spPr>
          <a:xfrm>
            <a:off x="4892040" y="267919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29"/>
          <p:cNvSpPr/>
          <p:nvPr/>
        </p:nvSpPr>
        <p:spPr>
          <a:xfrm>
            <a:off x="5212080" y="262432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Walk slowly — viewer should keep 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29"/>
          <p:cNvSpPr/>
          <p:nvPr/>
        </p:nvSpPr>
        <p:spPr>
          <a:xfrm>
            <a:off x="4892040" y="3063240"/>
            <a:ext cx="201168" cy="201168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29"/>
          <p:cNvSpPr/>
          <p:nvPr/>
        </p:nvSpPr>
        <p:spPr>
          <a:xfrm>
            <a:off x="4892040" y="306324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29"/>
          <p:cNvSpPr/>
          <p:nvPr/>
        </p:nvSpPr>
        <p:spPr>
          <a:xfrm>
            <a:off x="5212080" y="3008376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outside, then enter and tour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29"/>
          <p:cNvSpPr/>
          <p:nvPr/>
        </p:nvSpPr>
        <p:spPr>
          <a:xfrm>
            <a:off x="4892040" y="3447288"/>
            <a:ext cx="201168" cy="201168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29"/>
          <p:cNvSpPr/>
          <p:nvPr/>
        </p:nvSpPr>
        <p:spPr>
          <a:xfrm>
            <a:off x="4892040" y="344728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29"/>
          <p:cNvSpPr/>
          <p:nvPr/>
        </p:nvSpPr>
        <p:spPr>
          <a:xfrm>
            <a:off x="5212080" y="3392424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Narrate key features in any language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29"/>
          <p:cNvSpPr/>
          <p:nvPr/>
        </p:nvSpPr>
        <p:spPr>
          <a:xfrm>
            <a:off x="4892040" y="3831336"/>
            <a:ext cx="201168" cy="201168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29"/>
          <p:cNvSpPr/>
          <p:nvPr/>
        </p:nvSpPr>
        <p:spPr>
          <a:xfrm>
            <a:off x="4892040" y="383133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29"/>
          <p:cNvSpPr/>
          <p:nvPr/>
        </p:nvSpPr>
        <p:spPr>
          <a:xfrm>
            <a:off x="5212080" y="3776472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Keep clip under 90 seconds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29"/>
          <p:cNvSpPr/>
          <p:nvPr/>
        </p:nvSpPr>
        <p:spPr>
          <a:xfrm>
            <a:off x="4892040" y="4215384"/>
            <a:ext cx="201168" cy="201168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29"/>
          <p:cNvSpPr/>
          <p:nvPr/>
        </p:nvSpPr>
        <p:spPr>
          <a:xfrm>
            <a:off x="4892040" y="421538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29"/>
          <p:cNvSpPr/>
          <p:nvPr/>
        </p:nvSpPr>
        <p:spPr>
          <a:xfrm>
            <a:off x="5212080" y="41605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 to YouTube and paste the link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29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29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29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6 · Photos &amp; Media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29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27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30"/>
          <p:cNvSpPr/>
          <p:nvPr/>
        </p:nvSpPr>
        <p:spPr>
          <a:xfrm>
            <a:off x="365760" y="292608"/>
            <a:ext cx="813816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30"/>
          <p:cNvSpPr/>
          <p:nvPr/>
        </p:nvSpPr>
        <p:spPr>
          <a:xfrm>
            <a:off x="365760" y="292608"/>
            <a:ext cx="813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· TRUST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30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Why verification matters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30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Verification is the line between a real listing and a scam.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30"/>
          <p:cNvSpPr/>
          <p:nvPr/>
        </p:nvSpPr>
        <p:spPr>
          <a:xfrm>
            <a:off x="365760" y="1645920"/>
            <a:ext cx="4023360" cy="3154680"/>
          </a:xfrm>
          <a:prstGeom prst="roundRect">
            <a:avLst>
              <a:gd fmla="val 2899" name="adj"/>
            </a:avLst>
          </a:prstGeom>
          <a:solidFill>
            <a:srgbClr val="0F5132"/>
          </a:solidFill>
          <a:ln cap="flat" cmpd="sng" w="9525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30"/>
          <p:cNvSpPr/>
          <p:nvPr/>
        </p:nvSpPr>
        <p:spPr>
          <a:xfrm>
            <a:off x="548640" y="18288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EVERY LISTING IS CHECKED FOR…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30"/>
          <p:cNvSpPr/>
          <p:nvPr/>
        </p:nvSpPr>
        <p:spPr>
          <a:xfrm>
            <a:off x="548640" y="21945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30"/>
          <p:cNvSpPr/>
          <p:nvPr/>
        </p:nvSpPr>
        <p:spPr>
          <a:xfrm>
            <a:off x="868680" y="21945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contact details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30"/>
          <p:cNvSpPr/>
          <p:nvPr/>
        </p:nvSpPr>
        <p:spPr>
          <a:xfrm>
            <a:off x="548640" y="25786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30"/>
          <p:cNvSpPr/>
          <p:nvPr/>
        </p:nvSpPr>
        <p:spPr>
          <a:xfrm>
            <a:off x="868680" y="257860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Genuine ownership claims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30"/>
          <p:cNvSpPr/>
          <p:nvPr/>
        </p:nvSpPr>
        <p:spPr>
          <a:xfrm>
            <a:off x="548640" y="296265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30"/>
          <p:cNvSpPr/>
          <p:nvPr/>
        </p:nvSpPr>
        <p:spPr>
          <a:xfrm>
            <a:off x="868680" y="2962656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Original (not stolen) photos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30"/>
          <p:cNvSpPr/>
          <p:nvPr/>
        </p:nvSpPr>
        <p:spPr>
          <a:xfrm>
            <a:off x="548640" y="33467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30"/>
          <p:cNvSpPr/>
          <p:nvPr/>
        </p:nvSpPr>
        <p:spPr>
          <a:xfrm>
            <a:off x="868680" y="334670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Plausible price for the area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30"/>
          <p:cNvSpPr/>
          <p:nvPr/>
        </p:nvSpPr>
        <p:spPr>
          <a:xfrm>
            <a:off x="548640" y="373075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30"/>
          <p:cNvSpPr/>
          <p:nvPr/>
        </p:nvSpPr>
        <p:spPr>
          <a:xfrm>
            <a:off x="868680" y="373075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Clear, accurate location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30"/>
          <p:cNvSpPr/>
          <p:nvPr/>
        </p:nvSpPr>
        <p:spPr>
          <a:xfrm>
            <a:off x="548640" y="41148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30"/>
          <p:cNvSpPr/>
          <p:nvPr/>
        </p:nvSpPr>
        <p:spPr>
          <a:xfrm>
            <a:off x="868680" y="41148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duplicate submissions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30"/>
          <p:cNvSpPr/>
          <p:nvPr/>
        </p:nvSpPr>
        <p:spPr>
          <a:xfrm>
            <a:off x="4663440" y="1645920"/>
            <a:ext cx="4114800" cy="96012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30"/>
          <p:cNvSpPr/>
          <p:nvPr/>
        </p:nvSpPr>
        <p:spPr>
          <a:xfrm>
            <a:off x="4663440" y="1645920"/>
            <a:ext cx="91440" cy="96012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30"/>
          <p:cNvSpPr/>
          <p:nvPr/>
        </p:nvSpPr>
        <p:spPr>
          <a:xfrm>
            <a:off x="4846320" y="1828800"/>
            <a:ext cx="594360" cy="5943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5" name="Google Shape;13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0051" y="1962531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30"/>
          <p:cNvSpPr/>
          <p:nvPr/>
        </p:nvSpPr>
        <p:spPr>
          <a:xfrm>
            <a:off x="5577840" y="181051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Approved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30"/>
          <p:cNvSpPr/>
          <p:nvPr/>
        </p:nvSpPr>
        <p:spPr>
          <a:xfrm>
            <a:off x="5577840" y="210312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Listing goes live within review window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30"/>
          <p:cNvSpPr/>
          <p:nvPr/>
        </p:nvSpPr>
        <p:spPr>
          <a:xfrm>
            <a:off x="4663440" y="2724912"/>
            <a:ext cx="4114800" cy="96012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30"/>
          <p:cNvSpPr/>
          <p:nvPr/>
        </p:nvSpPr>
        <p:spPr>
          <a:xfrm>
            <a:off x="4663440" y="2724912"/>
            <a:ext cx="91440" cy="9601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30"/>
          <p:cNvSpPr/>
          <p:nvPr/>
        </p:nvSpPr>
        <p:spPr>
          <a:xfrm>
            <a:off x="4846320" y="2907792"/>
            <a:ext cx="594360" cy="5943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1" name="Google Shape;133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0051" y="3041523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30"/>
          <p:cNvSpPr/>
          <p:nvPr/>
        </p:nvSpPr>
        <p:spPr>
          <a:xfrm>
            <a:off x="5577840" y="288950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Held for 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30"/>
          <p:cNvSpPr/>
          <p:nvPr/>
        </p:nvSpPr>
        <p:spPr>
          <a:xfrm>
            <a:off x="5577840" y="3182112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Admin requests clarification or evidence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30"/>
          <p:cNvSpPr/>
          <p:nvPr/>
        </p:nvSpPr>
        <p:spPr>
          <a:xfrm>
            <a:off x="4663440" y="3803904"/>
            <a:ext cx="4114800" cy="96012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30"/>
          <p:cNvSpPr/>
          <p:nvPr/>
        </p:nvSpPr>
        <p:spPr>
          <a:xfrm>
            <a:off x="4663440" y="3803904"/>
            <a:ext cx="91440" cy="9601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30"/>
          <p:cNvSpPr/>
          <p:nvPr/>
        </p:nvSpPr>
        <p:spPr>
          <a:xfrm>
            <a:off x="4846320" y="3986784"/>
            <a:ext cx="594360" cy="59436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7" name="Google Shape;133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0051" y="4120515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30"/>
          <p:cNvSpPr/>
          <p:nvPr/>
        </p:nvSpPr>
        <p:spPr>
          <a:xfrm>
            <a:off x="5577840" y="396849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30"/>
          <p:cNvSpPr/>
          <p:nvPr/>
        </p:nvSpPr>
        <p:spPr>
          <a:xfrm>
            <a:off x="5577840" y="4261104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Lister gets reason; you fix and resubmit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30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30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30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7 · Verification &amp; Anti-Fraud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30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28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31"/>
          <p:cNvSpPr/>
          <p:nvPr/>
        </p:nvSpPr>
        <p:spPr>
          <a:xfrm>
            <a:off x="365760" y="292608"/>
            <a:ext cx="813816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31"/>
          <p:cNvSpPr/>
          <p:nvPr/>
        </p:nvSpPr>
        <p:spPr>
          <a:xfrm>
            <a:off x="365760" y="292608"/>
            <a:ext cx="813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· TRUST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31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Verification fields you'll fill in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31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Required during the listing flow. Don't skip; don't fake.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31"/>
          <p:cNvSpPr/>
          <p:nvPr/>
        </p:nvSpPr>
        <p:spPr>
          <a:xfrm>
            <a:off x="365760" y="1691640"/>
            <a:ext cx="406908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31"/>
          <p:cNvSpPr/>
          <p:nvPr/>
        </p:nvSpPr>
        <p:spPr>
          <a:xfrm>
            <a:off x="475488" y="1783080"/>
            <a:ext cx="530352" cy="530352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5" name="Google Shape;135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817" y="1902409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31"/>
          <p:cNvSpPr/>
          <p:nvPr/>
        </p:nvSpPr>
        <p:spPr>
          <a:xfrm>
            <a:off x="1143000" y="173736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Full name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31"/>
          <p:cNvSpPr/>
          <p:nvPr/>
        </p:nvSpPr>
        <p:spPr>
          <a:xfrm>
            <a:off x="1143000" y="205740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Owner / authorised contact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31"/>
          <p:cNvSpPr/>
          <p:nvPr/>
        </p:nvSpPr>
        <p:spPr>
          <a:xfrm>
            <a:off x="3383280" y="1856232"/>
            <a:ext cx="960120" cy="274320"/>
          </a:xfrm>
          <a:prstGeom prst="roundRect">
            <a:avLst>
              <a:gd fmla="val 13333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31"/>
          <p:cNvSpPr/>
          <p:nvPr/>
        </p:nvSpPr>
        <p:spPr>
          <a:xfrm>
            <a:off x="3383280" y="1856232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31"/>
          <p:cNvSpPr/>
          <p:nvPr/>
        </p:nvSpPr>
        <p:spPr>
          <a:xfrm>
            <a:off x="4544568" y="1691640"/>
            <a:ext cx="406908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31"/>
          <p:cNvSpPr/>
          <p:nvPr/>
        </p:nvSpPr>
        <p:spPr>
          <a:xfrm>
            <a:off x="4654296" y="1783080"/>
            <a:ext cx="530352" cy="530352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2" name="Google Shape;136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3625" y="1902409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31"/>
          <p:cNvSpPr/>
          <p:nvPr/>
        </p:nvSpPr>
        <p:spPr>
          <a:xfrm>
            <a:off x="5321808" y="173736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Display name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31"/>
          <p:cNvSpPr/>
          <p:nvPr/>
        </p:nvSpPr>
        <p:spPr>
          <a:xfrm>
            <a:off x="5321808" y="205740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Public name on the listing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31"/>
          <p:cNvSpPr/>
          <p:nvPr/>
        </p:nvSpPr>
        <p:spPr>
          <a:xfrm>
            <a:off x="7562088" y="1856232"/>
            <a:ext cx="960120" cy="274320"/>
          </a:xfrm>
          <a:prstGeom prst="roundRect">
            <a:avLst>
              <a:gd fmla="val 13333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31"/>
          <p:cNvSpPr/>
          <p:nvPr/>
        </p:nvSpPr>
        <p:spPr>
          <a:xfrm>
            <a:off x="7562088" y="1856232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31"/>
          <p:cNvSpPr/>
          <p:nvPr/>
        </p:nvSpPr>
        <p:spPr>
          <a:xfrm>
            <a:off x="365760" y="2496312"/>
            <a:ext cx="406908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31"/>
          <p:cNvSpPr/>
          <p:nvPr/>
        </p:nvSpPr>
        <p:spPr>
          <a:xfrm>
            <a:off x="475488" y="2587752"/>
            <a:ext cx="530352" cy="530352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9" name="Google Shape;136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817" y="2707081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31"/>
          <p:cNvSpPr/>
          <p:nvPr/>
        </p:nvSpPr>
        <p:spPr>
          <a:xfrm>
            <a:off x="1143000" y="254203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Phone number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31"/>
          <p:cNvSpPr/>
          <p:nvPr/>
        </p:nvSpPr>
        <p:spPr>
          <a:xfrm>
            <a:off x="1143000" y="2862072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Used for OTP &amp; lead calls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31"/>
          <p:cNvSpPr/>
          <p:nvPr/>
        </p:nvSpPr>
        <p:spPr>
          <a:xfrm>
            <a:off x="3383280" y="2660904"/>
            <a:ext cx="960120" cy="274320"/>
          </a:xfrm>
          <a:prstGeom prst="roundRect">
            <a:avLst>
              <a:gd fmla="val 13333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31"/>
          <p:cNvSpPr/>
          <p:nvPr/>
        </p:nvSpPr>
        <p:spPr>
          <a:xfrm>
            <a:off x="3383280" y="2660904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31"/>
          <p:cNvSpPr/>
          <p:nvPr/>
        </p:nvSpPr>
        <p:spPr>
          <a:xfrm>
            <a:off x="4544568" y="2496312"/>
            <a:ext cx="406908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31"/>
          <p:cNvSpPr/>
          <p:nvPr/>
        </p:nvSpPr>
        <p:spPr>
          <a:xfrm>
            <a:off x="4654296" y="2587752"/>
            <a:ext cx="530352" cy="530352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6" name="Google Shape;137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73625" y="2707081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31"/>
          <p:cNvSpPr/>
          <p:nvPr/>
        </p:nvSpPr>
        <p:spPr>
          <a:xfrm>
            <a:off x="5321808" y="254203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Email address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31"/>
          <p:cNvSpPr/>
          <p:nvPr/>
        </p:nvSpPr>
        <p:spPr>
          <a:xfrm>
            <a:off x="5321808" y="2862072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Confirmations &amp; dashboard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31"/>
          <p:cNvSpPr/>
          <p:nvPr/>
        </p:nvSpPr>
        <p:spPr>
          <a:xfrm>
            <a:off x="7562088" y="2660904"/>
            <a:ext cx="960120" cy="274320"/>
          </a:xfrm>
          <a:prstGeom prst="roundRect">
            <a:avLst>
              <a:gd fmla="val 13333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31"/>
          <p:cNvSpPr/>
          <p:nvPr/>
        </p:nvSpPr>
        <p:spPr>
          <a:xfrm>
            <a:off x="7562088" y="2660904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31"/>
          <p:cNvSpPr/>
          <p:nvPr/>
        </p:nvSpPr>
        <p:spPr>
          <a:xfrm>
            <a:off x="365760" y="3300984"/>
            <a:ext cx="406908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31"/>
          <p:cNvSpPr/>
          <p:nvPr/>
        </p:nvSpPr>
        <p:spPr>
          <a:xfrm>
            <a:off x="475488" y="3392424"/>
            <a:ext cx="530352" cy="530352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3" name="Google Shape;1383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4817" y="3511753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31"/>
          <p:cNvSpPr/>
          <p:nvPr/>
        </p:nvSpPr>
        <p:spPr>
          <a:xfrm>
            <a:off x="1143000" y="3346704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OTP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31"/>
          <p:cNvSpPr/>
          <p:nvPr/>
        </p:nvSpPr>
        <p:spPr>
          <a:xfrm>
            <a:off x="1143000" y="366674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SMS or email — must verify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31"/>
          <p:cNvSpPr/>
          <p:nvPr/>
        </p:nvSpPr>
        <p:spPr>
          <a:xfrm>
            <a:off x="3383280" y="3465576"/>
            <a:ext cx="960120" cy="274320"/>
          </a:xfrm>
          <a:prstGeom prst="roundRect">
            <a:avLst>
              <a:gd fmla="val 13333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31"/>
          <p:cNvSpPr/>
          <p:nvPr/>
        </p:nvSpPr>
        <p:spPr>
          <a:xfrm>
            <a:off x="3383280" y="3465576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31"/>
          <p:cNvSpPr/>
          <p:nvPr/>
        </p:nvSpPr>
        <p:spPr>
          <a:xfrm>
            <a:off x="4544568" y="3300984"/>
            <a:ext cx="406908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31"/>
          <p:cNvSpPr/>
          <p:nvPr/>
        </p:nvSpPr>
        <p:spPr>
          <a:xfrm>
            <a:off x="4654296" y="3392424"/>
            <a:ext cx="530352" cy="530352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0" name="Google Shape;1390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73625" y="3511753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31"/>
          <p:cNvSpPr/>
          <p:nvPr/>
        </p:nvSpPr>
        <p:spPr>
          <a:xfrm>
            <a:off x="5321808" y="3346704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NIN / National 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31"/>
          <p:cNvSpPr/>
          <p:nvPr/>
        </p:nvSpPr>
        <p:spPr>
          <a:xfrm>
            <a:off x="5321808" y="366674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High-value or land categories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31"/>
          <p:cNvSpPr/>
          <p:nvPr/>
        </p:nvSpPr>
        <p:spPr>
          <a:xfrm>
            <a:off x="7562088" y="3465576"/>
            <a:ext cx="960120" cy="274320"/>
          </a:xfrm>
          <a:prstGeom prst="roundRect">
            <a:avLst>
              <a:gd fmla="val 13333" name="adj"/>
            </a:avLst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31"/>
          <p:cNvSpPr/>
          <p:nvPr/>
        </p:nvSpPr>
        <p:spPr>
          <a:xfrm>
            <a:off x="7562088" y="3465576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required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31"/>
          <p:cNvSpPr/>
          <p:nvPr/>
        </p:nvSpPr>
        <p:spPr>
          <a:xfrm>
            <a:off x="365760" y="4105656"/>
            <a:ext cx="406908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31"/>
          <p:cNvSpPr/>
          <p:nvPr/>
        </p:nvSpPr>
        <p:spPr>
          <a:xfrm>
            <a:off x="475488" y="4197096"/>
            <a:ext cx="530352" cy="530352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7" name="Google Shape;1397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4817" y="4316425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31"/>
          <p:cNvSpPr/>
          <p:nvPr/>
        </p:nvSpPr>
        <p:spPr>
          <a:xfrm>
            <a:off x="1143000" y="4151376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Broker verification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31"/>
          <p:cNvSpPr/>
          <p:nvPr/>
        </p:nvSpPr>
        <p:spPr>
          <a:xfrm>
            <a:off x="1143000" y="4471416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Registered broker check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31"/>
          <p:cNvSpPr/>
          <p:nvPr/>
        </p:nvSpPr>
        <p:spPr>
          <a:xfrm>
            <a:off x="3383280" y="4270248"/>
            <a:ext cx="960120" cy="274320"/>
          </a:xfrm>
          <a:prstGeom prst="roundRect">
            <a:avLst>
              <a:gd fmla="val 13333" name="adj"/>
            </a:avLst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31"/>
          <p:cNvSpPr/>
          <p:nvPr/>
        </p:nvSpPr>
        <p:spPr>
          <a:xfrm>
            <a:off x="3383280" y="42702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applies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31"/>
          <p:cNvSpPr/>
          <p:nvPr/>
        </p:nvSpPr>
        <p:spPr>
          <a:xfrm>
            <a:off x="4544568" y="4105656"/>
            <a:ext cx="406908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31"/>
          <p:cNvSpPr/>
          <p:nvPr/>
        </p:nvSpPr>
        <p:spPr>
          <a:xfrm>
            <a:off x="4654296" y="4197096"/>
            <a:ext cx="530352" cy="530352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4" name="Google Shape;1404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73625" y="4316425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31"/>
          <p:cNvSpPr/>
          <p:nvPr/>
        </p:nvSpPr>
        <p:spPr>
          <a:xfrm>
            <a:off x="5321808" y="4151376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Field Agent assisted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31"/>
          <p:cNvSpPr/>
          <p:nvPr/>
        </p:nvSpPr>
        <p:spPr>
          <a:xfrm>
            <a:off x="5321808" y="4471416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Toggle Yes + your Field Agent 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31"/>
          <p:cNvSpPr/>
          <p:nvPr/>
        </p:nvSpPr>
        <p:spPr>
          <a:xfrm>
            <a:off x="7562088" y="4270248"/>
            <a:ext cx="960120" cy="274320"/>
          </a:xfrm>
          <a:prstGeom prst="roundRect">
            <a:avLst>
              <a:gd fmla="val 13333" name="adj"/>
            </a:avLst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31"/>
          <p:cNvSpPr/>
          <p:nvPr/>
        </p:nvSpPr>
        <p:spPr>
          <a:xfrm>
            <a:off x="7562088" y="4270248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assisted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31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31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31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7 · Verification &amp; Anti-Fraud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31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29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32"/>
          <p:cNvSpPr/>
          <p:nvPr/>
        </p:nvSpPr>
        <p:spPr>
          <a:xfrm>
            <a:off x="365760" y="292608"/>
            <a:ext cx="813816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32"/>
          <p:cNvSpPr/>
          <p:nvPr/>
        </p:nvSpPr>
        <p:spPr>
          <a:xfrm>
            <a:off x="365760" y="292608"/>
            <a:ext cx="813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· TRUST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3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The "Field Agent assisted" toggle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32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How MakaUg knows you helped — and how you get credit.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32"/>
          <p:cNvSpPr/>
          <p:nvPr/>
        </p:nvSpPr>
        <p:spPr>
          <a:xfrm>
            <a:off x="365760" y="1645920"/>
            <a:ext cx="4572000" cy="3154680"/>
          </a:xfrm>
          <a:prstGeom prst="roundRect">
            <a:avLst>
              <a:gd fmla="val 289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32"/>
          <p:cNvSpPr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32"/>
          <p:cNvSpPr/>
          <p:nvPr/>
        </p:nvSpPr>
        <p:spPr>
          <a:xfrm>
            <a:off x="548640" y="2194560"/>
            <a:ext cx="329184" cy="329184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32"/>
          <p:cNvSpPr/>
          <p:nvPr/>
        </p:nvSpPr>
        <p:spPr>
          <a:xfrm>
            <a:off x="548640" y="21945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32"/>
          <p:cNvSpPr/>
          <p:nvPr/>
        </p:nvSpPr>
        <p:spPr>
          <a:xfrm>
            <a:off x="1005840" y="219456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On the listing form, find the "Did a Field Agent help you?" toggle.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32"/>
          <p:cNvSpPr/>
          <p:nvPr/>
        </p:nvSpPr>
        <p:spPr>
          <a:xfrm>
            <a:off x="548640" y="2697480"/>
            <a:ext cx="329184" cy="329184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32"/>
          <p:cNvSpPr/>
          <p:nvPr/>
        </p:nvSpPr>
        <p:spPr>
          <a:xfrm>
            <a:off x="548640" y="269748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32"/>
          <p:cNvSpPr/>
          <p:nvPr/>
        </p:nvSpPr>
        <p:spPr>
          <a:xfrm>
            <a:off x="1005840" y="269748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Set it to YES if you really did help fill the form.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32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32"/>
          <p:cNvSpPr/>
          <p:nvPr/>
        </p:nvSpPr>
        <p:spPr>
          <a:xfrm>
            <a:off x="548640" y="320040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32"/>
          <p:cNvSpPr/>
          <p:nvPr/>
        </p:nvSpPr>
        <p:spPr>
          <a:xfrm>
            <a:off x="1005840" y="320040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Enter your Field Agent ID exactly as shown on your dashboard.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32"/>
          <p:cNvSpPr/>
          <p:nvPr/>
        </p:nvSpPr>
        <p:spPr>
          <a:xfrm>
            <a:off x="548640" y="3703320"/>
            <a:ext cx="329184" cy="329184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32"/>
          <p:cNvSpPr/>
          <p:nvPr/>
        </p:nvSpPr>
        <p:spPr>
          <a:xfrm>
            <a:off x="548640" y="370332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32"/>
          <p:cNvSpPr/>
          <p:nvPr/>
        </p:nvSpPr>
        <p:spPr>
          <a:xfrm>
            <a:off x="1005840" y="37033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Submission is now linked to you — visible to admin and to your KPIs.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32"/>
          <p:cNvSpPr/>
          <p:nvPr/>
        </p:nvSpPr>
        <p:spPr>
          <a:xfrm>
            <a:off x="548640" y="4206240"/>
            <a:ext cx="329184" cy="329184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32"/>
          <p:cNvSpPr/>
          <p:nvPr/>
        </p:nvSpPr>
        <p:spPr>
          <a:xfrm>
            <a:off x="548640" y="420624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32"/>
          <p:cNvSpPr/>
          <p:nvPr/>
        </p:nvSpPr>
        <p:spPr>
          <a:xfrm>
            <a:off x="1005840" y="420624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Never set this to YES if you didn't actually assist.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32"/>
          <p:cNvSpPr/>
          <p:nvPr/>
        </p:nvSpPr>
        <p:spPr>
          <a:xfrm>
            <a:off x="5120640" y="1645920"/>
            <a:ext cx="3657600" cy="3154680"/>
          </a:xfrm>
          <a:prstGeom prst="roundRect">
            <a:avLst>
              <a:gd fmla="val 289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32"/>
          <p:cNvSpPr/>
          <p:nvPr/>
        </p:nvSpPr>
        <p:spPr>
          <a:xfrm>
            <a:off x="5303520" y="17830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On the form…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32"/>
          <p:cNvSpPr/>
          <p:nvPr/>
        </p:nvSpPr>
        <p:spPr>
          <a:xfrm>
            <a:off x="5303520" y="21031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Did a Field Agent help you fill this listing?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32"/>
          <p:cNvSpPr/>
          <p:nvPr/>
        </p:nvSpPr>
        <p:spPr>
          <a:xfrm>
            <a:off x="5303520" y="2514600"/>
            <a:ext cx="1463040" cy="411480"/>
          </a:xfrm>
          <a:prstGeom prst="roundRect">
            <a:avLst>
              <a:gd fmla="val 13333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32"/>
          <p:cNvSpPr/>
          <p:nvPr/>
        </p:nvSpPr>
        <p:spPr>
          <a:xfrm>
            <a:off x="5303520" y="251460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● 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32"/>
          <p:cNvSpPr/>
          <p:nvPr/>
        </p:nvSpPr>
        <p:spPr>
          <a:xfrm>
            <a:off x="6903720" y="2514600"/>
            <a:ext cx="1463040" cy="41148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32"/>
          <p:cNvSpPr/>
          <p:nvPr/>
        </p:nvSpPr>
        <p:spPr>
          <a:xfrm>
            <a:off x="6903720" y="251460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○ 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32"/>
          <p:cNvSpPr/>
          <p:nvPr/>
        </p:nvSpPr>
        <p:spPr>
          <a:xfrm>
            <a:off x="5303520" y="31089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Field Agent 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32"/>
          <p:cNvSpPr/>
          <p:nvPr/>
        </p:nvSpPr>
        <p:spPr>
          <a:xfrm>
            <a:off x="5303520" y="3383280"/>
            <a:ext cx="3291840" cy="3657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32"/>
          <p:cNvSpPr/>
          <p:nvPr/>
        </p:nvSpPr>
        <p:spPr>
          <a:xfrm>
            <a:off x="5440680" y="33832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FA-UG-00472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32"/>
          <p:cNvSpPr/>
          <p:nvPr/>
        </p:nvSpPr>
        <p:spPr>
          <a:xfrm>
            <a:off x="5303520" y="39319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 Linked. You'll get credit on your dashboard.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32"/>
          <p:cNvSpPr/>
          <p:nvPr/>
        </p:nvSpPr>
        <p:spPr>
          <a:xfrm>
            <a:off x="5303520" y="4251960"/>
            <a:ext cx="3291840" cy="457200"/>
          </a:xfrm>
          <a:prstGeom prst="roundRect">
            <a:avLst>
              <a:gd fmla="val 20000" name="adj"/>
            </a:avLst>
          </a:prstGeom>
          <a:solidFill>
            <a:srgbClr val="FED7AA"/>
          </a:solidFill>
          <a:ln cap="flat" cmpd="sng" w="9525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32"/>
          <p:cNvSpPr/>
          <p:nvPr/>
        </p:nvSpPr>
        <p:spPr>
          <a:xfrm>
            <a:off x="5303520" y="42519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⚠  Only use YES if you really helped.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32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32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32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7 · Verification &amp; Anti-Fraud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32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30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33"/>
          <p:cNvSpPr/>
          <p:nvPr/>
        </p:nvSpPr>
        <p:spPr>
          <a:xfrm>
            <a:off x="365760" y="292608"/>
            <a:ext cx="813816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33"/>
          <p:cNvSpPr/>
          <p:nvPr/>
        </p:nvSpPr>
        <p:spPr>
          <a:xfrm>
            <a:off x="365760" y="292608"/>
            <a:ext cx="813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· TRUST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3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Fraud red flags — memorise these 10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33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If you spot one, slow down. If you spot two, escalate.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33"/>
          <p:cNvSpPr/>
          <p:nvPr/>
        </p:nvSpPr>
        <p:spPr>
          <a:xfrm>
            <a:off x="283464" y="1691640"/>
            <a:ext cx="1627632" cy="1280160"/>
          </a:xfrm>
          <a:prstGeom prst="roundRect">
            <a:avLst>
              <a:gd fmla="val 7143" name="adj"/>
            </a:avLst>
          </a:prstGeom>
          <a:solidFill>
            <a:srgbClr val="FEF2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33"/>
          <p:cNvSpPr/>
          <p:nvPr/>
        </p:nvSpPr>
        <p:spPr>
          <a:xfrm>
            <a:off x="283464" y="1691640"/>
            <a:ext cx="1627632" cy="5486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33"/>
          <p:cNvSpPr/>
          <p:nvPr/>
        </p:nvSpPr>
        <p:spPr>
          <a:xfrm>
            <a:off x="868680" y="1856232"/>
            <a:ext cx="457200" cy="45720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33"/>
          <p:cNvSpPr/>
          <p:nvPr/>
        </p:nvSpPr>
        <p:spPr>
          <a:xfrm>
            <a:off x="868680" y="1856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33"/>
          <p:cNvSpPr/>
          <p:nvPr/>
        </p:nvSpPr>
        <p:spPr>
          <a:xfrm>
            <a:off x="374904" y="2404872"/>
            <a:ext cx="14447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Price unusually low for the area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33"/>
          <p:cNvSpPr/>
          <p:nvPr/>
        </p:nvSpPr>
        <p:spPr>
          <a:xfrm>
            <a:off x="2020824" y="1691640"/>
            <a:ext cx="1627632" cy="1280160"/>
          </a:xfrm>
          <a:prstGeom prst="roundRect">
            <a:avLst>
              <a:gd fmla="val 7143" name="adj"/>
            </a:avLst>
          </a:prstGeom>
          <a:solidFill>
            <a:srgbClr val="FEF2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33"/>
          <p:cNvSpPr/>
          <p:nvPr/>
        </p:nvSpPr>
        <p:spPr>
          <a:xfrm>
            <a:off x="2020824" y="1691640"/>
            <a:ext cx="1627632" cy="5486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33"/>
          <p:cNvSpPr/>
          <p:nvPr/>
        </p:nvSpPr>
        <p:spPr>
          <a:xfrm>
            <a:off x="2606040" y="1856232"/>
            <a:ext cx="457200" cy="45720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33"/>
          <p:cNvSpPr/>
          <p:nvPr/>
        </p:nvSpPr>
        <p:spPr>
          <a:xfrm>
            <a:off x="2606040" y="1856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33"/>
          <p:cNvSpPr/>
          <p:nvPr/>
        </p:nvSpPr>
        <p:spPr>
          <a:xfrm>
            <a:off x="2112264" y="2404872"/>
            <a:ext cx="14447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Owner refuses any viewing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33"/>
          <p:cNvSpPr/>
          <p:nvPr/>
        </p:nvSpPr>
        <p:spPr>
          <a:xfrm>
            <a:off x="3758184" y="1691640"/>
            <a:ext cx="1627632" cy="1280160"/>
          </a:xfrm>
          <a:prstGeom prst="roundRect">
            <a:avLst>
              <a:gd fmla="val 7143" name="adj"/>
            </a:avLst>
          </a:prstGeom>
          <a:solidFill>
            <a:srgbClr val="FEF2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33"/>
          <p:cNvSpPr/>
          <p:nvPr/>
        </p:nvSpPr>
        <p:spPr>
          <a:xfrm>
            <a:off x="3758184" y="1691640"/>
            <a:ext cx="1627632" cy="5486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33"/>
          <p:cNvSpPr/>
          <p:nvPr/>
        </p:nvSpPr>
        <p:spPr>
          <a:xfrm>
            <a:off x="4343400" y="1856232"/>
            <a:ext cx="457200" cy="45720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33"/>
          <p:cNvSpPr/>
          <p:nvPr/>
        </p:nvSpPr>
        <p:spPr>
          <a:xfrm>
            <a:off x="4343400" y="1856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33"/>
          <p:cNvSpPr/>
          <p:nvPr/>
        </p:nvSpPr>
        <p:spPr>
          <a:xfrm>
            <a:off x="3849624" y="2404872"/>
            <a:ext cx="14447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Pressure to pay before viewing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33"/>
          <p:cNvSpPr/>
          <p:nvPr/>
        </p:nvSpPr>
        <p:spPr>
          <a:xfrm>
            <a:off x="5495544" y="1691640"/>
            <a:ext cx="1627632" cy="1280160"/>
          </a:xfrm>
          <a:prstGeom prst="roundRect">
            <a:avLst>
              <a:gd fmla="val 7143" name="adj"/>
            </a:avLst>
          </a:prstGeom>
          <a:solidFill>
            <a:srgbClr val="FEF2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33"/>
          <p:cNvSpPr/>
          <p:nvPr/>
        </p:nvSpPr>
        <p:spPr>
          <a:xfrm>
            <a:off x="5495544" y="1691640"/>
            <a:ext cx="1627632" cy="5486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33"/>
          <p:cNvSpPr/>
          <p:nvPr/>
        </p:nvSpPr>
        <p:spPr>
          <a:xfrm>
            <a:off x="6080760" y="1856232"/>
            <a:ext cx="457200" cy="45720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33"/>
          <p:cNvSpPr/>
          <p:nvPr/>
        </p:nvSpPr>
        <p:spPr>
          <a:xfrm>
            <a:off x="6080760" y="1856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33"/>
          <p:cNvSpPr/>
          <p:nvPr/>
        </p:nvSpPr>
        <p:spPr>
          <a:xfrm>
            <a:off x="5586984" y="2404872"/>
            <a:ext cx="14447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Location stays vague after asking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33"/>
          <p:cNvSpPr/>
          <p:nvPr/>
        </p:nvSpPr>
        <p:spPr>
          <a:xfrm>
            <a:off x="7232904" y="1691640"/>
            <a:ext cx="1627632" cy="1280160"/>
          </a:xfrm>
          <a:prstGeom prst="roundRect">
            <a:avLst>
              <a:gd fmla="val 7143" name="adj"/>
            </a:avLst>
          </a:prstGeom>
          <a:solidFill>
            <a:srgbClr val="FEF2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33"/>
          <p:cNvSpPr/>
          <p:nvPr/>
        </p:nvSpPr>
        <p:spPr>
          <a:xfrm>
            <a:off x="7232904" y="1691640"/>
            <a:ext cx="1627632" cy="5486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33"/>
          <p:cNvSpPr/>
          <p:nvPr/>
        </p:nvSpPr>
        <p:spPr>
          <a:xfrm>
            <a:off x="7818120" y="1856232"/>
            <a:ext cx="457200" cy="45720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33"/>
          <p:cNvSpPr/>
          <p:nvPr/>
        </p:nvSpPr>
        <p:spPr>
          <a:xfrm>
            <a:off x="7818120" y="18562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33"/>
          <p:cNvSpPr/>
          <p:nvPr/>
        </p:nvSpPr>
        <p:spPr>
          <a:xfrm>
            <a:off x="7324344" y="2404872"/>
            <a:ext cx="14447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Photos look copied / found online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33"/>
          <p:cNvSpPr/>
          <p:nvPr/>
        </p:nvSpPr>
        <p:spPr>
          <a:xfrm>
            <a:off x="283464" y="3136392"/>
            <a:ext cx="1627632" cy="1280160"/>
          </a:xfrm>
          <a:prstGeom prst="roundRect">
            <a:avLst>
              <a:gd fmla="val 7143" name="adj"/>
            </a:avLst>
          </a:prstGeom>
          <a:solidFill>
            <a:srgbClr val="FEF2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33"/>
          <p:cNvSpPr/>
          <p:nvPr/>
        </p:nvSpPr>
        <p:spPr>
          <a:xfrm>
            <a:off x="283464" y="3136392"/>
            <a:ext cx="1627632" cy="5486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33"/>
          <p:cNvSpPr/>
          <p:nvPr/>
        </p:nvSpPr>
        <p:spPr>
          <a:xfrm>
            <a:off x="868680" y="3300984"/>
            <a:ext cx="457200" cy="45720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33"/>
          <p:cNvSpPr/>
          <p:nvPr/>
        </p:nvSpPr>
        <p:spPr>
          <a:xfrm>
            <a:off x="868680" y="33009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33"/>
          <p:cNvSpPr/>
          <p:nvPr/>
        </p:nvSpPr>
        <p:spPr>
          <a:xfrm>
            <a:off x="374904" y="3849624"/>
            <a:ext cx="14447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Names on docs don't match the lister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33"/>
          <p:cNvSpPr/>
          <p:nvPr/>
        </p:nvSpPr>
        <p:spPr>
          <a:xfrm>
            <a:off x="2020824" y="3136392"/>
            <a:ext cx="1627632" cy="1280160"/>
          </a:xfrm>
          <a:prstGeom prst="roundRect">
            <a:avLst>
              <a:gd fmla="val 7143" name="adj"/>
            </a:avLst>
          </a:prstGeom>
          <a:solidFill>
            <a:srgbClr val="FEF2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33"/>
          <p:cNvSpPr/>
          <p:nvPr/>
        </p:nvSpPr>
        <p:spPr>
          <a:xfrm>
            <a:off x="2020824" y="3136392"/>
            <a:ext cx="1627632" cy="5486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33"/>
          <p:cNvSpPr/>
          <p:nvPr/>
        </p:nvSpPr>
        <p:spPr>
          <a:xfrm>
            <a:off x="2606040" y="3300984"/>
            <a:ext cx="457200" cy="45720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33"/>
          <p:cNvSpPr/>
          <p:nvPr/>
        </p:nvSpPr>
        <p:spPr>
          <a:xfrm>
            <a:off x="2606040" y="33009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33"/>
          <p:cNvSpPr/>
          <p:nvPr/>
        </p:nvSpPr>
        <p:spPr>
          <a:xfrm>
            <a:off x="2112264" y="3849624"/>
            <a:ext cx="14447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Required documents are "missing"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33"/>
          <p:cNvSpPr/>
          <p:nvPr/>
        </p:nvSpPr>
        <p:spPr>
          <a:xfrm>
            <a:off x="3758184" y="3136392"/>
            <a:ext cx="1627632" cy="1280160"/>
          </a:xfrm>
          <a:prstGeom prst="roundRect">
            <a:avLst>
              <a:gd fmla="val 7143" name="adj"/>
            </a:avLst>
          </a:prstGeom>
          <a:solidFill>
            <a:srgbClr val="FEF2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33"/>
          <p:cNvSpPr/>
          <p:nvPr/>
        </p:nvSpPr>
        <p:spPr>
          <a:xfrm>
            <a:off x="3758184" y="3136392"/>
            <a:ext cx="1627632" cy="5486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33"/>
          <p:cNvSpPr/>
          <p:nvPr/>
        </p:nvSpPr>
        <p:spPr>
          <a:xfrm>
            <a:off x="4343400" y="3300984"/>
            <a:ext cx="457200" cy="45720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33"/>
          <p:cNvSpPr/>
          <p:nvPr/>
        </p:nvSpPr>
        <p:spPr>
          <a:xfrm>
            <a:off x="4343400" y="33009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33"/>
          <p:cNvSpPr/>
          <p:nvPr/>
        </p:nvSpPr>
        <p:spPr>
          <a:xfrm>
            <a:off x="3849624" y="3849624"/>
            <a:ext cx="14447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Land title status is unclear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33"/>
          <p:cNvSpPr/>
          <p:nvPr/>
        </p:nvSpPr>
        <p:spPr>
          <a:xfrm>
            <a:off x="5495544" y="3136392"/>
            <a:ext cx="1627632" cy="1280160"/>
          </a:xfrm>
          <a:prstGeom prst="roundRect">
            <a:avLst>
              <a:gd fmla="val 7143" name="adj"/>
            </a:avLst>
          </a:prstGeom>
          <a:solidFill>
            <a:srgbClr val="FEF2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33"/>
          <p:cNvSpPr/>
          <p:nvPr/>
        </p:nvSpPr>
        <p:spPr>
          <a:xfrm>
            <a:off x="5495544" y="3136392"/>
            <a:ext cx="1627632" cy="5486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33"/>
          <p:cNvSpPr/>
          <p:nvPr/>
        </p:nvSpPr>
        <p:spPr>
          <a:xfrm>
            <a:off x="6080760" y="3300984"/>
            <a:ext cx="457200" cy="45720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33"/>
          <p:cNvSpPr/>
          <p:nvPr/>
        </p:nvSpPr>
        <p:spPr>
          <a:xfrm>
            <a:off x="6080760" y="33009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33"/>
          <p:cNvSpPr/>
          <p:nvPr/>
        </p:nvSpPr>
        <p:spPr>
          <a:xfrm>
            <a:off x="5586984" y="3849624"/>
            <a:ext cx="14447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Identical listing exists elsewhere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33"/>
          <p:cNvSpPr/>
          <p:nvPr/>
        </p:nvSpPr>
        <p:spPr>
          <a:xfrm>
            <a:off x="7232904" y="3136392"/>
            <a:ext cx="1627632" cy="1280160"/>
          </a:xfrm>
          <a:prstGeom prst="roundRect">
            <a:avLst>
              <a:gd fmla="val 7143" name="adj"/>
            </a:avLst>
          </a:prstGeom>
          <a:solidFill>
            <a:srgbClr val="FEF2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33"/>
          <p:cNvSpPr/>
          <p:nvPr/>
        </p:nvSpPr>
        <p:spPr>
          <a:xfrm>
            <a:off x="7232904" y="3136392"/>
            <a:ext cx="1627632" cy="5486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33"/>
          <p:cNvSpPr/>
          <p:nvPr/>
        </p:nvSpPr>
        <p:spPr>
          <a:xfrm>
            <a:off x="7818120" y="3300984"/>
            <a:ext cx="457200" cy="45720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33"/>
          <p:cNvSpPr/>
          <p:nvPr/>
        </p:nvSpPr>
        <p:spPr>
          <a:xfrm>
            <a:off x="7818120" y="33009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33"/>
          <p:cNvSpPr/>
          <p:nvPr/>
        </p:nvSpPr>
        <p:spPr>
          <a:xfrm>
            <a:off x="7324344" y="3849624"/>
            <a:ext cx="14447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Lister becomes aggressive when questioned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33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33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33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7 · Verification &amp; Anti-Fraud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33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31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34"/>
          <p:cNvSpPr/>
          <p:nvPr/>
        </p:nvSpPr>
        <p:spPr>
          <a:xfrm>
            <a:off x="365760" y="292608"/>
            <a:ext cx="813816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34"/>
          <p:cNvSpPr/>
          <p:nvPr/>
        </p:nvSpPr>
        <p:spPr>
          <a:xfrm>
            <a:off x="365760" y="292608"/>
            <a:ext cx="813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· TRUST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34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What to do when something feels off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34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6-step protocol. Use it whenever a flag goes up.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34"/>
          <p:cNvSpPr/>
          <p:nvPr/>
        </p:nvSpPr>
        <p:spPr>
          <a:xfrm>
            <a:off x="406908" y="1691640"/>
            <a:ext cx="269748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34"/>
          <p:cNvSpPr/>
          <p:nvPr/>
        </p:nvSpPr>
        <p:spPr>
          <a:xfrm>
            <a:off x="406908" y="1691640"/>
            <a:ext cx="73152" cy="141732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34"/>
          <p:cNvSpPr/>
          <p:nvPr/>
        </p:nvSpPr>
        <p:spPr>
          <a:xfrm>
            <a:off x="589788" y="182880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34"/>
          <p:cNvSpPr/>
          <p:nvPr/>
        </p:nvSpPr>
        <p:spPr>
          <a:xfrm>
            <a:off x="1184148" y="18562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PAUSE the submission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34"/>
          <p:cNvSpPr/>
          <p:nvPr/>
        </p:nvSpPr>
        <p:spPr>
          <a:xfrm>
            <a:off x="589788" y="246888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Don't click submit. Don't promise approval.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34"/>
          <p:cNvSpPr/>
          <p:nvPr/>
        </p:nvSpPr>
        <p:spPr>
          <a:xfrm>
            <a:off x="3223260" y="1691640"/>
            <a:ext cx="269748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34"/>
          <p:cNvSpPr/>
          <p:nvPr/>
        </p:nvSpPr>
        <p:spPr>
          <a:xfrm>
            <a:off x="3223260" y="1691640"/>
            <a:ext cx="73152" cy="141732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34"/>
          <p:cNvSpPr/>
          <p:nvPr/>
        </p:nvSpPr>
        <p:spPr>
          <a:xfrm>
            <a:off x="3406140" y="182880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34"/>
          <p:cNvSpPr/>
          <p:nvPr/>
        </p:nvSpPr>
        <p:spPr>
          <a:xfrm>
            <a:off x="4000500" y="18562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Ask for clarification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34"/>
          <p:cNvSpPr/>
          <p:nvPr/>
        </p:nvSpPr>
        <p:spPr>
          <a:xfrm>
            <a:off x="3406140" y="246888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Politely. Frame it as MakaUg policy, not personal doubt.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34"/>
          <p:cNvSpPr/>
          <p:nvPr/>
        </p:nvSpPr>
        <p:spPr>
          <a:xfrm>
            <a:off x="6039612" y="1691640"/>
            <a:ext cx="269748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34"/>
          <p:cNvSpPr/>
          <p:nvPr/>
        </p:nvSpPr>
        <p:spPr>
          <a:xfrm>
            <a:off x="6039612" y="1691640"/>
            <a:ext cx="73152" cy="141732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34"/>
          <p:cNvSpPr/>
          <p:nvPr/>
        </p:nvSpPr>
        <p:spPr>
          <a:xfrm>
            <a:off x="6222492" y="1828800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34"/>
          <p:cNvSpPr/>
          <p:nvPr/>
        </p:nvSpPr>
        <p:spPr>
          <a:xfrm>
            <a:off x="6816852" y="18562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Document what you see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34"/>
          <p:cNvSpPr/>
          <p:nvPr/>
        </p:nvSpPr>
        <p:spPr>
          <a:xfrm>
            <a:off x="6222492" y="246888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Photos, screenshots, conversation notes.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34"/>
          <p:cNvSpPr/>
          <p:nvPr/>
        </p:nvSpPr>
        <p:spPr>
          <a:xfrm>
            <a:off x="406908" y="3273552"/>
            <a:ext cx="269748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34"/>
          <p:cNvSpPr/>
          <p:nvPr/>
        </p:nvSpPr>
        <p:spPr>
          <a:xfrm>
            <a:off x="406908" y="3273552"/>
            <a:ext cx="73152" cy="141732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34"/>
          <p:cNvSpPr/>
          <p:nvPr/>
        </p:nvSpPr>
        <p:spPr>
          <a:xfrm>
            <a:off x="589788" y="3410712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34"/>
          <p:cNvSpPr/>
          <p:nvPr/>
        </p:nvSpPr>
        <p:spPr>
          <a:xfrm>
            <a:off x="1184148" y="343814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Don't make promises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34"/>
          <p:cNvSpPr/>
          <p:nvPr/>
        </p:nvSpPr>
        <p:spPr>
          <a:xfrm>
            <a:off x="589788" y="4050792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Never guarantee approval, ownership or payment.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34"/>
          <p:cNvSpPr/>
          <p:nvPr/>
        </p:nvSpPr>
        <p:spPr>
          <a:xfrm>
            <a:off x="3223260" y="3273552"/>
            <a:ext cx="269748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34"/>
          <p:cNvSpPr/>
          <p:nvPr/>
        </p:nvSpPr>
        <p:spPr>
          <a:xfrm>
            <a:off x="3223260" y="3273552"/>
            <a:ext cx="73152" cy="141732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34"/>
          <p:cNvSpPr/>
          <p:nvPr/>
        </p:nvSpPr>
        <p:spPr>
          <a:xfrm>
            <a:off x="3406140" y="3410712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34"/>
          <p:cNvSpPr/>
          <p:nvPr/>
        </p:nvSpPr>
        <p:spPr>
          <a:xfrm>
            <a:off x="4000500" y="343814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Report to MakaUg admin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34"/>
          <p:cNvSpPr/>
          <p:nvPr/>
        </p:nvSpPr>
        <p:spPr>
          <a:xfrm>
            <a:off x="3406140" y="4050792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Through your dashboard or the Report a Listing button.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34"/>
          <p:cNvSpPr/>
          <p:nvPr/>
        </p:nvSpPr>
        <p:spPr>
          <a:xfrm>
            <a:off x="6039612" y="3273552"/>
            <a:ext cx="269748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34"/>
          <p:cNvSpPr/>
          <p:nvPr/>
        </p:nvSpPr>
        <p:spPr>
          <a:xfrm>
            <a:off x="6039612" y="3273552"/>
            <a:ext cx="73152" cy="141732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34"/>
          <p:cNvSpPr/>
          <p:nvPr/>
        </p:nvSpPr>
        <p:spPr>
          <a:xfrm>
            <a:off x="6222492" y="3410712"/>
            <a:ext cx="548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34"/>
          <p:cNvSpPr/>
          <p:nvPr/>
        </p:nvSpPr>
        <p:spPr>
          <a:xfrm>
            <a:off x="6816852" y="343814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Walk away if unsafe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34"/>
          <p:cNvSpPr/>
          <p:nvPr/>
        </p:nvSpPr>
        <p:spPr>
          <a:xfrm>
            <a:off x="6222492" y="4050792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Your safety is non-negotiable. Leave first, escalate second.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34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34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34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7 · Verification &amp; Anti-Fraud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34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32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35"/>
          <p:cNvSpPr/>
          <p:nvPr/>
        </p:nvSpPr>
        <p:spPr>
          <a:xfrm>
            <a:off x="365760" y="292608"/>
            <a:ext cx="813816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35"/>
          <p:cNvSpPr/>
          <p:nvPr/>
        </p:nvSpPr>
        <p:spPr>
          <a:xfrm>
            <a:off x="365760" y="292608"/>
            <a:ext cx="813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· TRUST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35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Personal safety rules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35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Non-negotiable. No listing is worth your safety.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35"/>
          <p:cNvSpPr/>
          <p:nvPr/>
        </p:nvSpPr>
        <p:spPr>
          <a:xfrm>
            <a:off x="342900" y="1691640"/>
            <a:ext cx="201168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35"/>
          <p:cNvSpPr/>
          <p:nvPr/>
        </p:nvSpPr>
        <p:spPr>
          <a:xfrm>
            <a:off x="1097280" y="1856232"/>
            <a:ext cx="502920" cy="50292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3" name="Google Shape;157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0437" y="1969389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35"/>
          <p:cNvSpPr/>
          <p:nvPr/>
        </p:nvSpPr>
        <p:spPr>
          <a:xfrm>
            <a:off x="434340" y="24231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Never collect cash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35"/>
          <p:cNvSpPr/>
          <p:nvPr/>
        </p:nvSpPr>
        <p:spPr>
          <a:xfrm>
            <a:off x="480060" y="271576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MakaUg agents do not handle customer money.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35"/>
          <p:cNvSpPr/>
          <p:nvPr/>
        </p:nvSpPr>
        <p:spPr>
          <a:xfrm>
            <a:off x="2491740" y="1691640"/>
            <a:ext cx="201168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35"/>
          <p:cNvSpPr/>
          <p:nvPr/>
        </p:nvSpPr>
        <p:spPr>
          <a:xfrm>
            <a:off x="3246120" y="1856232"/>
            <a:ext cx="502920" cy="50292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8" name="Google Shape;157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9277" y="1969389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1579" name="Google Shape;1579;p35"/>
          <p:cNvSpPr/>
          <p:nvPr/>
        </p:nvSpPr>
        <p:spPr>
          <a:xfrm>
            <a:off x="2583180" y="24231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Share your location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35"/>
          <p:cNvSpPr/>
          <p:nvPr/>
        </p:nvSpPr>
        <p:spPr>
          <a:xfrm>
            <a:off x="2628900" y="271576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With a colleague or family member before each visit.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35"/>
          <p:cNvSpPr/>
          <p:nvPr/>
        </p:nvSpPr>
        <p:spPr>
          <a:xfrm>
            <a:off x="4640580" y="1691640"/>
            <a:ext cx="201168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35"/>
          <p:cNvSpPr/>
          <p:nvPr/>
        </p:nvSpPr>
        <p:spPr>
          <a:xfrm>
            <a:off x="5394960" y="1856232"/>
            <a:ext cx="502920" cy="50292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3" name="Google Shape;1583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8117" y="1969389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1584" name="Google Shape;1584;p35"/>
          <p:cNvSpPr/>
          <p:nvPr/>
        </p:nvSpPr>
        <p:spPr>
          <a:xfrm>
            <a:off x="4732020" y="24231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Visit in daylight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35"/>
          <p:cNvSpPr/>
          <p:nvPr/>
        </p:nvSpPr>
        <p:spPr>
          <a:xfrm>
            <a:off x="4777740" y="271576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Especially first-time visits and remote sites.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35"/>
          <p:cNvSpPr/>
          <p:nvPr/>
        </p:nvSpPr>
        <p:spPr>
          <a:xfrm>
            <a:off x="6789420" y="1691640"/>
            <a:ext cx="201168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35"/>
          <p:cNvSpPr/>
          <p:nvPr/>
        </p:nvSpPr>
        <p:spPr>
          <a:xfrm>
            <a:off x="7543800" y="1856232"/>
            <a:ext cx="502920" cy="50292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8" name="Google Shape;1588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56957" y="1969389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1589" name="Google Shape;1589;p35"/>
          <p:cNvSpPr/>
          <p:nvPr/>
        </p:nvSpPr>
        <p:spPr>
          <a:xfrm>
            <a:off x="6880860" y="24231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Avoid unsafe premises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35"/>
          <p:cNvSpPr/>
          <p:nvPr/>
        </p:nvSpPr>
        <p:spPr>
          <a:xfrm>
            <a:off x="6926580" y="271576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Don't enter abandoned or hostile environments.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35"/>
          <p:cNvSpPr/>
          <p:nvPr/>
        </p:nvSpPr>
        <p:spPr>
          <a:xfrm>
            <a:off x="342900" y="3227832"/>
            <a:ext cx="201168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35"/>
          <p:cNvSpPr/>
          <p:nvPr/>
        </p:nvSpPr>
        <p:spPr>
          <a:xfrm>
            <a:off x="1097280" y="3392424"/>
            <a:ext cx="502920" cy="50292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3" name="Google Shape;1593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10437" y="3505581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1594" name="Google Shape;1594;p35"/>
          <p:cNvSpPr/>
          <p:nvPr/>
        </p:nvSpPr>
        <p:spPr>
          <a:xfrm>
            <a:off x="434340" y="395935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Bring a colleague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35"/>
          <p:cNvSpPr/>
          <p:nvPr/>
        </p:nvSpPr>
        <p:spPr>
          <a:xfrm>
            <a:off x="480060" y="42519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When the area or contact feels uncertain.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35"/>
          <p:cNvSpPr/>
          <p:nvPr/>
        </p:nvSpPr>
        <p:spPr>
          <a:xfrm>
            <a:off x="2491740" y="3227832"/>
            <a:ext cx="201168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35"/>
          <p:cNvSpPr/>
          <p:nvPr/>
        </p:nvSpPr>
        <p:spPr>
          <a:xfrm>
            <a:off x="3246120" y="3392424"/>
            <a:ext cx="502920" cy="50292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8" name="Google Shape;1598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59277" y="3505581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1599" name="Google Shape;1599;p35"/>
          <p:cNvSpPr/>
          <p:nvPr/>
        </p:nvSpPr>
        <p:spPr>
          <a:xfrm>
            <a:off x="2583180" y="395935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Respect privacy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35"/>
          <p:cNvSpPr/>
          <p:nvPr/>
        </p:nvSpPr>
        <p:spPr>
          <a:xfrm>
            <a:off x="2628900" y="42519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Don't film tenants or take photos without consent.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35"/>
          <p:cNvSpPr/>
          <p:nvPr/>
        </p:nvSpPr>
        <p:spPr>
          <a:xfrm>
            <a:off x="4640580" y="3227832"/>
            <a:ext cx="201168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35"/>
          <p:cNvSpPr/>
          <p:nvPr/>
        </p:nvSpPr>
        <p:spPr>
          <a:xfrm>
            <a:off x="5394960" y="3392424"/>
            <a:ext cx="502920" cy="50292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3" name="Google Shape;1603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08117" y="3505581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1604" name="Google Shape;1604;p35"/>
          <p:cNvSpPr/>
          <p:nvPr/>
        </p:nvSpPr>
        <p:spPr>
          <a:xfrm>
            <a:off x="4732020" y="395935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Don't argue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35"/>
          <p:cNvSpPr/>
          <p:nvPr/>
        </p:nvSpPr>
        <p:spPr>
          <a:xfrm>
            <a:off x="4777740" y="42519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If owners or brokers escalate, leave and report.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35"/>
          <p:cNvSpPr/>
          <p:nvPr/>
        </p:nvSpPr>
        <p:spPr>
          <a:xfrm>
            <a:off x="6789420" y="3227832"/>
            <a:ext cx="201168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35"/>
          <p:cNvSpPr/>
          <p:nvPr/>
        </p:nvSpPr>
        <p:spPr>
          <a:xfrm>
            <a:off x="7543800" y="3392424"/>
            <a:ext cx="502920" cy="50292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8" name="Google Shape;1608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56957" y="3505581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1609" name="Google Shape;1609;p35"/>
          <p:cNvSpPr/>
          <p:nvPr/>
        </p:nvSpPr>
        <p:spPr>
          <a:xfrm>
            <a:off x="6880860" y="395935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Escalate risk early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35"/>
          <p:cNvSpPr/>
          <p:nvPr/>
        </p:nvSpPr>
        <p:spPr>
          <a:xfrm>
            <a:off x="6926580" y="42519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Use the dashboard or WhatsApp 0760112587.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35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35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35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7 · Verification &amp; Anti-Fraud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35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33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6"/>
          <p:cNvSpPr/>
          <p:nvPr/>
        </p:nvSpPr>
        <p:spPr>
          <a:xfrm>
            <a:off x="365760" y="292608"/>
            <a:ext cx="1435608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36"/>
          <p:cNvSpPr/>
          <p:nvPr/>
        </p:nvSpPr>
        <p:spPr>
          <a:xfrm>
            <a:off x="365760" y="292608"/>
            <a:ext cx="1435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 · COMMUNICATION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36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Use WhatsApp the MakaUg way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36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Six rules to keep every conversation clean, clear, and professional.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36"/>
          <p:cNvSpPr/>
          <p:nvPr/>
        </p:nvSpPr>
        <p:spPr>
          <a:xfrm>
            <a:off x="365760" y="1645920"/>
            <a:ext cx="3200400" cy="3154680"/>
          </a:xfrm>
          <a:prstGeom prst="roundRect">
            <a:avLst>
              <a:gd fmla="val 2899" name="adj"/>
            </a:avLst>
          </a:prstGeom>
          <a:solidFill>
            <a:srgbClr val="ECE5DD"/>
          </a:solidFill>
          <a:ln cap="flat" cmpd="sng" w="9525">
            <a:solidFill>
              <a:srgbClr val="ECE5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36"/>
          <p:cNvSpPr/>
          <p:nvPr/>
        </p:nvSpPr>
        <p:spPr>
          <a:xfrm>
            <a:off x="365760" y="1645920"/>
            <a:ext cx="3200400" cy="457200"/>
          </a:xfrm>
          <a:prstGeom prst="rect">
            <a:avLst/>
          </a:prstGeom>
          <a:solidFill>
            <a:srgbClr val="075E54"/>
          </a:solidFill>
          <a:ln cap="flat" cmpd="sng" w="12700">
            <a:solidFill>
              <a:srgbClr val="075E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36"/>
          <p:cNvSpPr/>
          <p:nvPr/>
        </p:nvSpPr>
        <p:spPr>
          <a:xfrm>
            <a:off x="502920" y="16459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MakaUg • Field Agent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36"/>
          <p:cNvSpPr/>
          <p:nvPr/>
        </p:nvSpPr>
        <p:spPr>
          <a:xfrm>
            <a:off x="502920" y="2194560"/>
            <a:ext cx="2377440" cy="50292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36"/>
          <p:cNvSpPr/>
          <p:nvPr/>
        </p:nvSpPr>
        <p:spPr>
          <a:xfrm>
            <a:off x="594360" y="21945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Hello, am I speaking with the property owner?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36"/>
          <p:cNvSpPr/>
          <p:nvPr/>
        </p:nvSpPr>
        <p:spPr>
          <a:xfrm>
            <a:off x="914400" y="2788920"/>
            <a:ext cx="2606040" cy="502920"/>
          </a:xfrm>
          <a:prstGeom prst="roundRect">
            <a:avLst>
              <a:gd fmla="val 10909" name="adj"/>
            </a:avLst>
          </a:prstGeom>
          <a:solidFill>
            <a:srgbClr val="DCF8C6"/>
          </a:solidFill>
          <a:ln cap="flat" cmpd="sng" w="12700">
            <a:solidFill>
              <a:srgbClr val="DCF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36"/>
          <p:cNvSpPr/>
          <p:nvPr/>
        </p:nvSpPr>
        <p:spPr>
          <a:xfrm>
            <a:off x="1005840" y="278892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Yes, this is John. Are you calling about the listing?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36"/>
          <p:cNvSpPr/>
          <p:nvPr/>
        </p:nvSpPr>
        <p:spPr>
          <a:xfrm>
            <a:off x="502920" y="3383280"/>
            <a:ext cx="283464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36"/>
          <p:cNvSpPr/>
          <p:nvPr/>
        </p:nvSpPr>
        <p:spPr>
          <a:xfrm>
            <a:off x="594360" y="3383280"/>
            <a:ext cx="2697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Great! I'm a MakaUg Field Agent. I'd like to help you list your property today. Can I send you the details we'll need?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36"/>
          <p:cNvSpPr/>
          <p:nvPr/>
        </p:nvSpPr>
        <p:spPr>
          <a:xfrm>
            <a:off x="3840480" y="17830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THE 6 RULES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36"/>
          <p:cNvSpPr/>
          <p:nvPr/>
        </p:nvSpPr>
        <p:spPr>
          <a:xfrm>
            <a:off x="3840480" y="2148840"/>
            <a:ext cx="292608" cy="29260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36"/>
          <p:cNvSpPr/>
          <p:nvPr/>
        </p:nvSpPr>
        <p:spPr>
          <a:xfrm>
            <a:off x="3840480" y="21488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36"/>
          <p:cNvSpPr/>
          <p:nvPr/>
        </p:nvSpPr>
        <p:spPr>
          <a:xfrm>
            <a:off x="4251960" y="2130552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Identify yourself as a MakaUg Field Agent in the first message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36"/>
          <p:cNvSpPr/>
          <p:nvPr/>
        </p:nvSpPr>
        <p:spPr>
          <a:xfrm>
            <a:off x="3840480" y="2606040"/>
            <a:ext cx="292608" cy="29260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36"/>
          <p:cNvSpPr/>
          <p:nvPr/>
        </p:nvSpPr>
        <p:spPr>
          <a:xfrm>
            <a:off x="3840480" y="26060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36"/>
          <p:cNvSpPr/>
          <p:nvPr/>
        </p:nvSpPr>
        <p:spPr>
          <a:xfrm>
            <a:off x="4251960" y="2587752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 clear, simple sentences — switch to local language when helpful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36"/>
          <p:cNvSpPr/>
          <p:nvPr/>
        </p:nvSpPr>
        <p:spPr>
          <a:xfrm>
            <a:off x="3840480" y="3063240"/>
            <a:ext cx="292608" cy="29260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36"/>
          <p:cNvSpPr/>
          <p:nvPr/>
        </p:nvSpPr>
        <p:spPr>
          <a:xfrm>
            <a:off x="3840480" y="30632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36"/>
          <p:cNvSpPr/>
          <p:nvPr/>
        </p:nvSpPr>
        <p:spPr>
          <a:xfrm>
            <a:off x="4251960" y="3044952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Confirm the listing context before asking for details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36"/>
          <p:cNvSpPr/>
          <p:nvPr/>
        </p:nvSpPr>
        <p:spPr>
          <a:xfrm>
            <a:off x="3840480" y="3520440"/>
            <a:ext cx="292608" cy="29260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36"/>
          <p:cNvSpPr/>
          <p:nvPr/>
        </p:nvSpPr>
        <p:spPr>
          <a:xfrm>
            <a:off x="3840480" y="35204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36"/>
          <p:cNvSpPr/>
          <p:nvPr/>
        </p:nvSpPr>
        <p:spPr>
          <a:xfrm>
            <a:off x="4251960" y="3502152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Avoid informal promises ("don't worry, you'll be approved")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36"/>
          <p:cNvSpPr/>
          <p:nvPr/>
        </p:nvSpPr>
        <p:spPr>
          <a:xfrm>
            <a:off x="3840480" y="3977640"/>
            <a:ext cx="292608" cy="29260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36"/>
          <p:cNvSpPr/>
          <p:nvPr/>
        </p:nvSpPr>
        <p:spPr>
          <a:xfrm>
            <a:off x="3840480" y="39776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36"/>
          <p:cNvSpPr/>
          <p:nvPr/>
        </p:nvSpPr>
        <p:spPr>
          <a:xfrm>
            <a:off x="4251960" y="3959352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Keep all evidence and chats — don't delete conversations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36"/>
          <p:cNvSpPr/>
          <p:nvPr/>
        </p:nvSpPr>
        <p:spPr>
          <a:xfrm>
            <a:off x="3840480" y="4434840"/>
            <a:ext cx="292608" cy="29260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36"/>
          <p:cNvSpPr/>
          <p:nvPr/>
        </p:nvSpPr>
        <p:spPr>
          <a:xfrm>
            <a:off x="3840480" y="44348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36"/>
          <p:cNvSpPr/>
          <p:nvPr/>
        </p:nvSpPr>
        <p:spPr>
          <a:xfrm>
            <a:off x="4251960" y="4416552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Never request, accept, or arrange any kind of payment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36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36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36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8 · WhatsApp &amp; Customer Communication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36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34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37"/>
          <p:cNvSpPr/>
          <p:nvPr/>
        </p:nvSpPr>
        <p:spPr>
          <a:xfrm>
            <a:off x="365760" y="292608"/>
            <a:ext cx="1435608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37"/>
          <p:cNvSpPr/>
          <p:nvPr/>
        </p:nvSpPr>
        <p:spPr>
          <a:xfrm>
            <a:off x="365760" y="292608"/>
            <a:ext cx="1435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 · COMMUNICATION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37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Three ready-to-use WhatsApp scripts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37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Adapt freely — but keep the structure.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37"/>
          <p:cNvSpPr/>
          <p:nvPr/>
        </p:nvSpPr>
        <p:spPr>
          <a:xfrm>
            <a:off x="365760" y="1691640"/>
            <a:ext cx="8412480" cy="1005840"/>
          </a:xfrm>
          <a:prstGeom prst="roundRect">
            <a:avLst>
              <a:gd fmla="val 909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37"/>
          <p:cNvSpPr/>
          <p:nvPr/>
        </p:nvSpPr>
        <p:spPr>
          <a:xfrm>
            <a:off x="365760" y="1691640"/>
            <a:ext cx="91440" cy="1005840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37"/>
          <p:cNvSpPr/>
          <p:nvPr/>
        </p:nvSpPr>
        <p:spPr>
          <a:xfrm>
            <a:off x="594360" y="1892808"/>
            <a:ext cx="594360" cy="59436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8" name="Google Shape;166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091" y="2026539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1669" name="Google Shape;1669;p37"/>
          <p:cNvSpPr/>
          <p:nvPr/>
        </p:nvSpPr>
        <p:spPr>
          <a:xfrm>
            <a:off x="1371600" y="1828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FOR PROPERTY OWNERS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37"/>
          <p:cNvSpPr/>
          <p:nvPr/>
        </p:nvSpPr>
        <p:spPr>
          <a:xfrm>
            <a:off x="1371600" y="21031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"Hi, I'm a MakaUg Field Agent. I'm helping you list your property on MakaUg today. I'll need: property type, location, price, photos, contact details, and a short verification step. When works for you?"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37"/>
          <p:cNvSpPr/>
          <p:nvPr/>
        </p:nvSpPr>
        <p:spPr>
          <a:xfrm>
            <a:off x="365760" y="2816352"/>
            <a:ext cx="8412480" cy="1005840"/>
          </a:xfrm>
          <a:prstGeom prst="roundRect">
            <a:avLst>
              <a:gd fmla="val 909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37"/>
          <p:cNvSpPr/>
          <p:nvPr/>
        </p:nvSpPr>
        <p:spPr>
          <a:xfrm>
            <a:off x="365760" y="2816352"/>
            <a:ext cx="91440" cy="1005840"/>
          </a:xfrm>
          <a:prstGeom prst="rect">
            <a:avLst/>
          </a:prstGeom>
          <a:solidFill>
            <a:srgbClr val="1A7A4C"/>
          </a:solidFill>
          <a:ln cap="flat" cmpd="sng" w="12700">
            <a:solidFill>
              <a:srgbClr val="1A7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37"/>
          <p:cNvSpPr/>
          <p:nvPr/>
        </p:nvSpPr>
        <p:spPr>
          <a:xfrm>
            <a:off x="594360" y="3017520"/>
            <a:ext cx="594360" cy="59436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4" name="Google Shape;167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091" y="3151251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1675" name="Google Shape;1675;p37"/>
          <p:cNvSpPr/>
          <p:nvPr/>
        </p:nvSpPr>
        <p:spPr>
          <a:xfrm>
            <a:off x="1371600" y="295351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7A4C"/>
                </a:solidFill>
                <a:latin typeface="Calibri"/>
                <a:ea typeface="Calibri"/>
                <a:cs typeface="Calibri"/>
                <a:sym typeface="Calibri"/>
              </a:rPr>
              <a:t>FOR BROKERS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37"/>
          <p:cNvSpPr/>
          <p:nvPr/>
        </p:nvSpPr>
        <p:spPr>
          <a:xfrm>
            <a:off x="1371600" y="322783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"Hi, I'm collecting accurate listing details for MakaUg. Please confirm: title, location, price, availability, photos, and whether viewings are allowed. I'll link the listings to your broker profile."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37"/>
          <p:cNvSpPr/>
          <p:nvPr/>
        </p:nvSpPr>
        <p:spPr>
          <a:xfrm>
            <a:off x="365760" y="3941064"/>
            <a:ext cx="8412480" cy="1005840"/>
          </a:xfrm>
          <a:prstGeom prst="roundRect">
            <a:avLst>
              <a:gd fmla="val 909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37"/>
          <p:cNvSpPr/>
          <p:nvPr/>
        </p:nvSpPr>
        <p:spPr>
          <a:xfrm>
            <a:off x="365760" y="3941064"/>
            <a:ext cx="91440" cy="1005840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37"/>
          <p:cNvSpPr/>
          <p:nvPr/>
        </p:nvSpPr>
        <p:spPr>
          <a:xfrm>
            <a:off x="594360" y="4142232"/>
            <a:ext cx="594360" cy="59436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0" name="Google Shape;1680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8091" y="4275963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37"/>
          <p:cNvSpPr/>
          <p:nvPr/>
        </p:nvSpPr>
        <p:spPr>
          <a:xfrm>
            <a:off x="1371600" y="407822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FOR LISTERS USING WHATSAPP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37"/>
          <p:cNvSpPr/>
          <p:nvPr/>
        </p:nvSpPr>
        <p:spPr>
          <a:xfrm>
            <a:off x="1371600" y="4352544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"Hi MakaUg, I want to list a property. Type: [Sale / Rent / Land / Student / Commercial]. Location: [district, area]. Please help me create the listing."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37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37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37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8 · WhatsApp &amp; Customer Communication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37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35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38"/>
          <p:cNvSpPr/>
          <p:nvPr/>
        </p:nvSpPr>
        <p:spPr>
          <a:xfrm>
            <a:off x="365760" y="292608"/>
            <a:ext cx="1435608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38"/>
          <p:cNvSpPr/>
          <p:nvPr/>
        </p:nvSpPr>
        <p:spPr>
          <a:xfrm>
            <a:off x="365760" y="292608"/>
            <a:ext cx="1435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 · COMMUNICATION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38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Answers to the 7 most common questions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38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Memorise these — you'll be asked every week.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38"/>
          <p:cNvSpPr/>
          <p:nvPr/>
        </p:nvSpPr>
        <p:spPr>
          <a:xfrm>
            <a:off x="365760" y="1691640"/>
            <a:ext cx="4114800" cy="713232"/>
          </a:xfrm>
          <a:prstGeom prst="roundRect">
            <a:avLst>
              <a:gd fmla="val 12821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38"/>
          <p:cNvSpPr/>
          <p:nvPr/>
        </p:nvSpPr>
        <p:spPr>
          <a:xfrm>
            <a:off x="502920" y="17465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Q:  Is listing free?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38"/>
          <p:cNvSpPr/>
          <p:nvPr/>
        </p:nvSpPr>
        <p:spPr>
          <a:xfrm>
            <a:off x="502920" y="202082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A:  Yes — listing on MakaUg is free.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38"/>
          <p:cNvSpPr/>
          <p:nvPr/>
        </p:nvSpPr>
        <p:spPr>
          <a:xfrm>
            <a:off x="4663440" y="1691640"/>
            <a:ext cx="4114800" cy="713232"/>
          </a:xfrm>
          <a:prstGeom prst="roundRect">
            <a:avLst>
              <a:gd fmla="val 12821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38"/>
          <p:cNvSpPr/>
          <p:nvPr/>
        </p:nvSpPr>
        <p:spPr>
          <a:xfrm>
            <a:off x="4800600" y="17465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Q:  When will it go live?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38"/>
          <p:cNvSpPr/>
          <p:nvPr/>
        </p:nvSpPr>
        <p:spPr>
          <a:xfrm>
            <a:off x="4800600" y="202082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A:  After admin review. You'll get notified by email/WhatsApp.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38"/>
          <p:cNvSpPr/>
          <p:nvPr/>
        </p:nvSpPr>
        <p:spPr>
          <a:xfrm>
            <a:off x="365760" y="2496312"/>
            <a:ext cx="4114800" cy="713232"/>
          </a:xfrm>
          <a:prstGeom prst="roundRect">
            <a:avLst>
              <a:gd fmla="val 12821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38"/>
          <p:cNvSpPr/>
          <p:nvPr/>
        </p:nvSpPr>
        <p:spPr>
          <a:xfrm>
            <a:off x="502920" y="255117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Q:  Why do you need photos?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38"/>
          <p:cNvSpPr/>
          <p:nvPr/>
        </p:nvSpPr>
        <p:spPr>
          <a:xfrm>
            <a:off x="502920" y="282549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A:  Photos build trust and bring serious enquiries faster.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38"/>
          <p:cNvSpPr/>
          <p:nvPr/>
        </p:nvSpPr>
        <p:spPr>
          <a:xfrm>
            <a:off x="4663440" y="2496312"/>
            <a:ext cx="4114800" cy="713232"/>
          </a:xfrm>
          <a:prstGeom prst="roundRect">
            <a:avLst>
              <a:gd fmla="val 12821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38"/>
          <p:cNvSpPr/>
          <p:nvPr/>
        </p:nvSpPr>
        <p:spPr>
          <a:xfrm>
            <a:off x="4800600" y="255117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Q:  Why do you need my exact location?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38"/>
          <p:cNvSpPr/>
          <p:nvPr/>
        </p:nvSpPr>
        <p:spPr>
          <a:xfrm>
            <a:off x="4800600" y="282549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A:  So real buyers find you — privacy options control what's public.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38"/>
          <p:cNvSpPr/>
          <p:nvPr/>
        </p:nvSpPr>
        <p:spPr>
          <a:xfrm>
            <a:off x="365760" y="3300984"/>
            <a:ext cx="4114800" cy="713232"/>
          </a:xfrm>
          <a:prstGeom prst="roundRect">
            <a:avLst>
              <a:gd fmla="val 12821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38"/>
          <p:cNvSpPr/>
          <p:nvPr/>
        </p:nvSpPr>
        <p:spPr>
          <a:xfrm>
            <a:off x="502920" y="335584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Q:  Why OTP?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38"/>
          <p:cNvSpPr/>
          <p:nvPr/>
        </p:nvSpPr>
        <p:spPr>
          <a:xfrm>
            <a:off x="502920" y="363016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A:  It confirms your phone/email so listings stay genuine.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38"/>
          <p:cNvSpPr/>
          <p:nvPr/>
        </p:nvSpPr>
        <p:spPr>
          <a:xfrm>
            <a:off x="4663440" y="3300984"/>
            <a:ext cx="4114800" cy="713232"/>
          </a:xfrm>
          <a:prstGeom prst="roundRect">
            <a:avLst>
              <a:gd fmla="val 12821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38"/>
          <p:cNvSpPr/>
          <p:nvPr/>
        </p:nvSpPr>
        <p:spPr>
          <a:xfrm>
            <a:off x="4800600" y="335584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Q:  Can MakaUg verify my ownership?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38"/>
          <p:cNvSpPr/>
          <p:nvPr/>
        </p:nvSpPr>
        <p:spPr>
          <a:xfrm>
            <a:off x="4800600" y="363016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A:  MakaUg checks identity and signals — but you must show titles to buyers directly.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38"/>
          <p:cNvSpPr/>
          <p:nvPr/>
        </p:nvSpPr>
        <p:spPr>
          <a:xfrm>
            <a:off x="365760" y="4105656"/>
            <a:ext cx="8412480" cy="713232"/>
          </a:xfrm>
          <a:prstGeom prst="roundRect">
            <a:avLst>
              <a:gd fmla="val 12821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38"/>
          <p:cNvSpPr/>
          <p:nvPr/>
        </p:nvSpPr>
        <p:spPr>
          <a:xfrm>
            <a:off x="502920" y="4160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Q:  Can I get leads on WhatsApp?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38"/>
          <p:cNvSpPr/>
          <p:nvPr/>
        </p:nvSpPr>
        <p:spPr>
          <a:xfrm>
            <a:off x="502920" y="4434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A:  Yes — buyers contact you via the website or WhatsApp 0760112587.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38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38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38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8 · WhatsApp &amp; Customer Communication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38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36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39"/>
          <p:cNvSpPr/>
          <p:nvPr/>
        </p:nvSpPr>
        <p:spPr>
          <a:xfrm>
            <a:off x="365760" y="292608"/>
            <a:ext cx="813816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39"/>
          <p:cNvSpPr/>
          <p:nvPr/>
        </p:nvSpPr>
        <p:spPr>
          <a:xfrm>
            <a:off x="365760" y="292608"/>
            <a:ext cx="813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 · LEADS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39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What counts as a lead?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39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Leads are how MakaUg measures real-world impact. Capture them all.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39"/>
          <p:cNvSpPr/>
          <p:nvPr/>
        </p:nvSpPr>
        <p:spPr>
          <a:xfrm>
            <a:off x="342900" y="1691640"/>
            <a:ext cx="201168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39"/>
          <p:cNvSpPr/>
          <p:nvPr/>
        </p:nvSpPr>
        <p:spPr>
          <a:xfrm>
            <a:off x="1097280" y="1828800"/>
            <a:ext cx="502920" cy="50292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2" name="Google Shape;173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0437" y="194195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1733" name="Google Shape;1733;p39"/>
          <p:cNvSpPr/>
          <p:nvPr/>
        </p:nvSpPr>
        <p:spPr>
          <a:xfrm>
            <a:off x="434340" y="240487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Enquiry message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39"/>
          <p:cNvSpPr/>
          <p:nvPr/>
        </p:nvSpPr>
        <p:spPr>
          <a:xfrm>
            <a:off x="480060" y="26974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Web or in-app message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39"/>
          <p:cNvSpPr/>
          <p:nvPr/>
        </p:nvSpPr>
        <p:spPr>
          <a:xfrm>
            <a:off x="2491740" y="1691640"/>
            <a:ext cx="201168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39"/>
          <p:cNvSpPr/>
          <p:nvPr/>
        </p:nvSpPr>
        <p:spPr>
          <a:xfrm>
            <a:off x="3246120" y="1828800"/>
            <a:ext cx="502920" cy="50292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7" name="Google Shape;173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9277" y="194195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1738" name="Google Shape;1738;p39"/>
          <p:cNvSpPr/>
          <p:nvPr/>
        </p:nvSpPr>
        <p:spPr>
          <a:xfrm>
            <a:off x="2583180" y="240487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WhatsApp contact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39"/>
          <p:cNvSpPr/>
          <p:nvPr/>
        </p:nvSpPr>
        <p:spPr>
          <a:xfrm>
            <a:off x="2628900" y="26974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Direct chat from a listing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39"/>
          <p:cNvSpPr/>
          <p:nvPr/>
        </p:nvSpPr>
        <p:spPr>
          <a:xfrm>
            <a:off x="4640580" y="1691640"/>
            <a:ext cx="201168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39"/>
          <p:cNvSpPr/>
          <p:nvPr/>
        </p:nvSpPr>
        <p:spPr>
          <a:xfrm>
            <a:off x="5394960" y="1828800"/>
            <a:ext cx="502920" cy="50292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2" name="Google Shape;1742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8117" y="194195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39"/>
          <p:cNvSpPr/>
          <p:nvPr/>
        </p:nvSpPr>
        <p:spPr>
          <a:xfrm>
            <a:off x="4732020" y="240487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Callback 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39"/>
          <p:cNvSpPr/>
          <p:nvPr/>
        </p:nvSpPr>
        <p:spPr>
          <a:xfrm>
            <a:off x="4777740" y="26974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Asks lister to call them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39"/>
          <p:cNvSpPr/>
          <p:nvPr/>
        </p:nvSpPr>
        <p:spPr>
          <a:xfrm>
            <a:off x="6789420" y="1691640"/>
            <a:ext cx="201168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39"/>
          <p:cNvSpPr/>
          <p:nvPr/>
        </p:nvSpPr>
        <p:spPr>
          <a:xfrm>
            <a:off x="7543800" y="1828800"/>
            <a:ext cx="502920" cy="50292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7" name="Google Shape;1747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56957" y="194195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1748" name="Google Shape;1748;p39"/>
          <p:cNvSpPr/>
          <p:nvPr/>
        </p:nvSpPr>
        <p:spPr>
          <a:xfrm>
            <a:off x="6880860" y="240487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Viewing 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39"/>
          <p:cNvSpPr/>
          <p:nvPr/>
        </p:nvSpPr>
        <p:spPr>
          <a:xfrm>
            <a:off x="6926580" y="26974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Wants to see the property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39"/>
          <p:cNvSpPr/>
          <p:nvPr/>
        </p:nvSpPr>
        <p:spPr>
          <a:xfrm>
            <a:off x="342900" y="3227832"/>
            <a:ext cx="201168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39"/>
          <p:cNvSpPr/>
          <p:nvPr/>
        </p:nvSpPr>
        <p:spPr>
          <a:xfrm>
            <a:off x="1097280" y="3364992"/>
            <a:ext cx="502920" cy="50292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2" name="Google Shape;1752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10437" y="3478149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1753" name="Google Shape;1753;p39"/>
          <p:cNvSpPr/>
          <p:nvPr/>
        </p:nvSpPr>
        <p:spPr>
          <a:xfrm>
            <a:off x="434340" y="394106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Property need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39"/>
          <p:cNvSpPr/>
          <p:nvPr/>
        </p:nvSpPr>
        <p:spPr>
          <a:xfrm>
            <a:off x="480060" y="423367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Looking for similar in your area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39"/>
          <p:cNvSpPr/>
          <p:nvPr/>
        </p:nvSpPr>
        <p:spPr>
          <a:xfrm>
            <a:off x="2491740" y="3227832"/>
            <a:ext cx="201168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39"/>
          <p:cNvSpPr/>
          <p:nvPr/>
        </p:nvSpPr>
        <p:spPr>
          <a:xfrm>
            <a:off x="3246120" y="3364992"/>
            <a:ext cx="502920" cy="50292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7" name="Google Shape;1757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59277" y="3478149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1758" name="Google Shape;1758;p39"/>
          <p:cNvSpPr/>
          <p:nvPr/>
        </p:nvSpPr>
        <p:spPr>
          <a:xfrm>
            <a:off x="2583180" y="394106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Advertiser interest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9" name="Google Shape;1759;p39"/>
          <p:cNvSpPr/>
          <p:nvPr/>
        </p:nvSpPr>
        <p:spPr>
          <a:xfrm>
            <a:off x="2628900" y="423367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Brand wants to reach property users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39"/>
          <p:cNvSpPr/>
          <p:nvPr/>
        </p:nvSpPr>
        <p:spPr>
          <a:xfrm>
            <a:off x="4640580" y="3227832"/>
            <a:ext cx="201168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39"/>
          <p:cNvSpPr/>
          <p:nvPr/>
        </p:nvSpPr>
        <p:spPr>
          <a:xfrm>
            <a:off x="5394960" y="3364992"/>
            <a:ext cx="502920" cy="50292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2" name="Google Shape;1762;p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08117" y="3478149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1763" name="Google Shape;1763;p39"/>
          <p:cNvSpPr/>
          <p:nvPr/>
        </p:nvSpPr>
        <p:spPr>
          <a:xfrm>
            <a:off x="4732020" y="394106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Mortgage help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39"/>
          <p:cNvSpPr/>
          <p:nvPr/>
        </p:nvSpPr>
        <p:spPr>
          <a:xfrm>
            <a:off x="4777740" y="423367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Asks for mortgage finder support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39"/>
          <p:cNvSpPr/>
          <p:nvPr/>
        </p:nvSpPr>
        <p:spPr>
          <a:xfrm>
            <a:off x="6789420" y="3227832"/>
            <a:ext cx="201168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39"/>
          <p:cNvSpPr/>
          <p:nvPr/>
        </p:nvSpPr>
        <p:spPr>
          <a:xfrm>
            <a:off x="7543800" y="3364992"/>
            <a:ext cx="502920" cy="50292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7" name="Google Shape;1767;p3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56957" y="3478149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1768" name="Google Shape;1768;p39"/>
          <p:cNvSpPr/>
          <p:nvPr/>
        </p:nvSpPr>
        <p:spPr>
          <a:xfrm>
            <a:off x="6880860" y="394106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Broker 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39"/>
          <p:cNvSpPr/>
          <p:nvPr/>
        </p:nvSpPr>
        <p:spPr>
          <a:xfrm>
            <a:off x="6926580" y="423367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Wants to engage a broker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0" name="Google Shape;1770;p39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39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p39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9 · Leads, Viewings &amp; Callbacks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39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37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40"/>
          <p:cNvSpPr/>
          <p:nvPr/>
        </p:nvSpPr>
        <p:spPr>
          <a:xfrm>
            <a:off x="365760" y="292608"/>
            <a:ext cx="813816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40"/>
          <p:cNvSpPr/>
          <p:nvPr/>
        </p:nvSpPr>
        <p:spPr>
          <a:xfrm>
            <a:off x="365760" y="292608"/>
            <a:ext cx="813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 · LEADS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40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Viewings, callbacks &amp; follow-ups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40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How to keep listers and seekers in motion — without overpromising.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40"/>
          <p:cNvSpPr/>
          <p:nvPr/>
        </p:nvSpPr>
        <p:spPr>
          <a:xfrm>
            <a:off x="365760" y="1645920"/>
            <a:ext cx="8412480" cy="96012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40"/>
          <p:cNvSpPr/>
          <p:nvPr/>
        </p:nvSpPr>
        <p:spPr>
          <a:xfrm>
            <a:off x="365760" y="1645920"/>
            <a:ext cx="91440" cy="960120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40"/>
          <p:cNvSpPr/>
          <p:nvPr/>
        </p:nvSpPr>
        <p:spPr>
          <a:xfrm>
            <a:off x="594360" y="17373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VIEWINGS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40"/>
          <p:cNvSpPr/>
          <p:nvPr/>
        </p:nvSpPr>
        <p:spPr>
          <a:xfrm>
            <a:off x="2377440" y="17373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The lister chooses whether to allow viewings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40"/>
          <p:cNvSpPr/>
          <p:nvPr/>
        </p:nvSpPr>
        <p:spPr>
          <a:xfrm>
            <a:off x="5577840" y="17373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Some listings allow callback only — that's their right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40"/>
          <p:cNvSpPr/>
          <p:nvPr/>
        </p:nvSpPr>
        <p:spPr>
          <a:xfrm>
            <a:off x="2377440" y="212140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Confirm viewing availability before promising any 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40"/>
          <p:cNvSpPr/>
          <p:nvPr/>
        </p:nvSpPr>
        <p:spPr>
          <a:xfrm>
            <a:off x="5577840" y="2121408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Never promise a confirmed viewing unless system or admin confirms 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40"/>
          <p:cNvSpPr/>
          <p:nvPr/>
        </p:nvSpPr>
        <p:spPr>
          <a:xfrm>
            <a:off x="365760" y="2724912"/>
            <a:ext cx="8412480" cy="96012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40"/>
          <p:cNvSpPr/>
          <p:nvPr/>
        </p:nvSpPr>
        <p:spPr>
          <a:xfrm>
            <a:off x="365760" y="2724912"/>
            <a:ext cx="91440" cy="960120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40"/>
          <p:cNvSpPr/>
          <p:nvPr/>
        </p:nvSpPr>
        <p:spPr>
          <a:xfrm>
            <a:off x="594360" y="281635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CALLBACKS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40"/>
          <p:cNvSpPr/>
          <p:nvPr/>
        </p:nvSpPr>
        <p:spPr>
          <a:xfrm>
            <a:off x="237744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If the lister prefers callbacks, set their preferred time window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40"/>
          <p:cNvSpPr/>
          <p:nvPr/>
        </p:nvSpPr>
        <p:spPr>
          <a:xfrm>
            <a:off x="5577840" y="281635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Capture seeker name, phone, and what they're looking for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40"/>
          <p:cNvSpPr/>
          <p:nvPr/>
        </p:nvSpPr>
        <p:spPr>
          <a:xfrm>
            <a:off x="2377440" y="32004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Pass the callback to the lister within 24 hours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40"/>
          <p:cNvSpPr/>
          <p:nvPr/>
        </p:nvSpPr>
        <p:spPr>
          <a:xfrm>
            <a:off x="5577840" y="32004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If the lister doesn't respond in 48 hours, escalate to admin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40"/>
          <p:cNvSpPr/>
          <p:nvPr/>
        </p:nvSpPr>
        <p:spPr>
          <a:xfrm>
            <a:off x="365760" y="3803904"/>
            <a:ext cx="8412480" cy="96012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40"/>
          <p:cNvSpPr/>
          <p:nvPr/>
        </p:nvSpPr>
        <p:spPr>
          <a:xfrm>
            <a:off x="365760" y="3803904"/>
            <a:ext cx="91440" cy="960120"/>
          </a:xfrm>
          <a:prstGeom prst="rect">
            <a:avLst/>
          </a:prstGeom>
          <a:solidFill>
            <a:srgbClr val="047857"/>
          </a:solidFill>
          <a:ln cap="flat" cmpd="sng" w="127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40"/>
          <p:cNvSpPr/>
          <p:nvPr/>
        </p:nvSpPr>
        <p:spPr>
          <a:xfrm>
            <a:off x="594360" y="389534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47857"/>
                </a:solidFill>
                <a:latin typeface="Calibri"/>
                <a:ea typeface="Calibri"/>
                <a:cs typeface="Calibri"/>
                <a:sym typeface="Calibri"/>
              </a:rPr>
              <a:t>FOLLOW-UPS &amp; STATUS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40"/>
          <p:cNvSpPr/>
          <p:nvPr/>
        </p:nvSpPr>
        <p:spPr>
          <a:xfrm>
            <a:off x="2377440" y="389534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Update each lead with notes after every contact attempt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40"/>
          <p:cNvSpPr/>
          <p:nvPr/>
        </p:nvSpPr>
        <p:spPr>
          <a:xfrm>
            <a:off x="5577840" y="389534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Mark listings unavailable as soon as the property is taken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40"/>
          <p:cNvSpPr/>
          <p:nvPr/>
        </p:nvSpPr>
        <p:spPr>
          <a:xfrm>
            <a:off x="2377440" y="427939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Keep admin informed of repeated no-response listers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40"/>
          <p:cNvSpPr/>
          <p:nvPr/>
        </p:nvSpPr>
        <p:spPr>
          <a:xfrm>
            <a:off x="5577840" y="427939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Close the loop — every lead deserves a final status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40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40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40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9 · Leads, Viewings &amp; Callbacks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40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38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41"/>
          <p:cNvSpPr/>
          <p:nvPr/>
        </p:nvSpPr>
        <p:spPr>
          <a:xfrm>
            <a:off x="365760" y="292608"/>
            <a:ext cx="1280160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41"/>
          <p:cNvSpPr/>
          <p:nvPr/>
        </p:nvSpPr>
        <p:spPr>
          <a:xfrm>
            <a:off x="365760" y="29260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· PERFORMANCE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5" name="Google Shape;1815;p41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Your dashboard &amp; rejection reasons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41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you'll see, and what to fix when listings come back.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41"/>
          <p:cNvSpPr/>
          <p:nvPr/>
        </p:nvSpPr>
        <p:spPr>
          <a:xfrm>
            <a:off x="365760" y="1645920"/>
            <a:ext cx="4069080" cy="3154680"/>
          </a:xfrm>
          <a:prstGeom prst="roundRect">
            <a:avLst>
              <a:gd fmla="val 289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41"/>
          <p:cNvSpPr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ON YOUR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41"/>
          <p:cNvSpPr/>
          <p:nvPr/>
        </p:nvSpPr>
        <p:spPr>
          <a:xfrm>
            <a:off x="548640" y="2194560"/>
            <a:ext cx="292608" cy="292608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0" name="Google Shape;182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477" y="2260397"/>
            <a:ext cx="160934" cy="160934"/>
          </a:xfrm>
          <a:prstGeom prst="rect">
            <a:avLst/>
          </a:prstGeom>
          <a:noFill/>
          <a:ln>
            <a:noFill/>
          </a:ln>
        </p:spPr>
      </p:pic>
      <p:sp>
        <p:nvSpPr>
          <p:cNvPr id="1821" name="Google Shape;1821;p41"/>
          <p:cNvSpPr/>
          <p:nvPr/>
        </p:nvSpPr>
        <p:spPr>
          <a:xfrm>
            <a:off x="960120" y="219456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Submitted listings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41"/>
          <p:cNvSpPr/>
          <p:nvPr/>
        </p:nvSpPr>
        <p:spPr>
          <a:xfrm>
            <a:off x="548640" y="2560320"/>
            <a:ext cx="292608" cy="292608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3" name="Google Shape;182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477" y="2626157"/>
            <a:ext cx="160934" cy="160934"/>
          </a:xfrm>
          <a:prstGeom prst="rect">
            <a:avLst/>
          </a:prstGeom>
          <a:noFill/>
          <a:ln>
            <a:noFill/>
          </a:ln>
        </p:spPr>
      </p:pic>
      <p:sp>
        <p:nvSpPr>
          <p:cNvPr id="1824" name="Google Shape;1824;p41"/>
          <p:cNvSpPr/>
          <p:nvPr/>
        </p:nvSpPr>
        <p:spPr>
          <a:xfrm>
            <a:off x="960120" y="256032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Approved listings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41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6" name="Google Shape;1826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477" y="2991917"/>
            <a:ext cx="160934" cy="160934"/>
          </a:xfrm>
          <a:prstGeom prst="rect">
            <a:avLst/>
          </a:prstGeom>
          <a:noFill/>
          <a:ln>
            <a:noFill/>
          </a:ln>
        </p:spPr>
      </p:pic>
      <p:sp>
        <p:nvSpPr>
          <p:cNvPr id="1827" name="Google Shape;1827;p41"/>
          <p:cNvSpPr/>
          <p:nvPr/>
        </p:nvSpPr>
        <p:spPr>
          <a:xfrm>
            <a:off x="960120" y="292608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Rejected listings + reasons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41"/>
          <p:cNvSpPr/>
          <p:nvPr/>
        </p:nvSpPr>
        <p:spPr>
          <a:xfrm>
            <a:off x="548640" y="3291840"/>
            <a:ext cx="292608" cy="292608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9" name="Google Shape;1829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477" y="3357677"/>
            <a:ext cx="160934" cy="160934"/>
          </a:xfrm>
          <a:prstGeom prst="rect">
            <a:avLst/>
          </a:prstGeom>
          <a:noFill/>
          <a:ln>
            <a:noFill/>
          </a:ln>
        </p:spPr>
      </p:pic>
      <p:sp>
        <p:nvSpPr>
          <p:cNvPr id="1830" name="Google Shape;1830;p41"/>
          <p:cNvSpPr/>
          <p:nvPr/>
        </p:nvSpPr>
        <p:spPr>
          <a:xfrm>
            <a:off x="960120" y="329184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Tasks assigned to you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p41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2" name="Google Shape;1832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4477" y="3723437"/>
            <a:ext cx="160934" cy="160934"/>
          </a:xfrm>
          <a:prstGeom prst="rect">
            <a:avLst/>
          </a:prstGeom>
          <a:noFill/>
          <a:ln>
            <a:noFill/>
          </a:ln>
        </p:spPr>
      </p:pic>
      <p:sp>
        <p:nvSpPr>
          <p:cNvPr id="1833" name="Google Shape;1833;p41"/>
          <p:cNvSpPr/>
          <p:nvPr/>
        </p:nvSpPr>
        <p:spPr>
          <a:xfrm>
            <a:off x="960120" y="365760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Payments / commissions (where applicable)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41"/>
          <p:cNvSpPr/>
          <p:nvPr/>
        </p:nvSpPr>
        <p:spPr>
          <a:xfrm>
            <a:off x="548640" y="4023360"/>
            <a:ext cx="292608" cy="292608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5" name="Google Shape;1835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4477" y="4089197"/>
            <a:ext cx="160934" cy="160934"/>
          </a:xfrm>
          <a:prstGeom prst="rect">
            <a:avLst/>
          </a:prstGeom>
          <a:noFill/>
          <a:ln>
            <a:noFill/>
          </a:ln>
        </p:spPr>
      </p:pic>
      <p:sp>
        <p:nvSpPr>
          <p:cNvPr id="1836" name="Google Shape;1836;p41"/>
          <p:cNvSpPr/>
          <p:nvPr/>
        </p:nvSpPr>
        <p:spPr>
          <a:xfrm>
            <a:off x="960120" y="402336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Contracts &amp; agreements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41"/>
          <p:cNvSpPr/>
          <p:nvPr/>
        </p:nvSpPr>
        <p:spPr>
          <a:xfrm>
            <a:off x="548640" y="4389120"/>
            <a:ext cx="292608" cy="292608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8" name="Google Shape;1838;p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4477" y="4454957"/>
            <a:ext cx="160934" cy="160934"/>
          </a:xfrm>
          <a:prstGeom prst="rect">
            <a:avLst/>
          </a:prstGeom>
          <a:noFill/>
          <a:ln>
            <a:noFill/>
          </a:ln>
        </p:spPr>
      </p:pic>
      <p:sp>
        <p:nvSpPr>
          <p:cNvPr id="1839" name="Google Shape;1839;p41"/>
          <p:cNvSpPr/>
          <p:nvPr/>
        </p:nvSpPr>
        <p:spPr>
          <a:xfrm>
            <a:off x="960120" y="438912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Notifications &amp; admin notes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41"/>
          <p:cNvSpPr/>
          <p:nvPr/>
        </p:nvSpPr>
        <p:spPr>
          <a:xfrm>
            <a:off x="4709160" y="1645920"/>
            <a:ext cx="4069080" cy="3154680"/>
          </a:xfrm>
          <a:prstGeom prst="roundRect">
            <a:avLst>
              <a:gd fmla="val 2899" name="adj"/>
            </a:avLst>
          </a:prstGeom>
          <a:solidFill>
            <a:srgbClr val="FEF2F2"/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41"/>
          <p:cNvSpPr/>
          <p:nvPr/>
        </p:nvSpPr>
        <p:spPr>
          <a:xfrm>
            <a:off x="48920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COMMON REJECTION REASONS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p41"/>
          <p:cNvSpPr/>
          <p:nvPr/>
        </p:nvSpPr>
        <p:spPr>
          <a:xfrm>
            <a:off x="4892040" y="219456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41"/>
          <p:cNvSpPr/>
          <p:nvPr/>
        </p:nvSpPr>
        <p:spPr>
          <a:xfrm>
            <a:off x="5212080" y="219456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Bad photos (blurry, dark, missing rooms)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41"/>
          <p:cNvSpPr/>
          <p:nvPr/>
        </p:nvSpPr>
        <p:spPr>
          <a:xfrm>
            <a:off x="4892040" y="256032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41"/>
          <p:cNvSpPr/>
          <p:nvPr/>
        </p:nvSpPr>
        <p:spPr>
          <a:xfrm>
            <a:off x="5212080" y="256032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Wrong / unconfirmed location pin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41"/>
          <p:cNvSpPr/>
          <p:nvPr/>
        </p:nvSpPr>
        <p:spPr>
          <a:xfrm>
            <a:off x="4892040" y="292608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7" name="Google Shape;1847;p41"/>
          <p:cNvSpPr/>
          <p:nvPr/>
        </p:nvSpPr>
        <p:spPr>
          <a:xfrm>
            <a:off x="5212080" y="292608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Missing verification (no OTP, no NIN)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p41"/>
          <p:cNvSpPr/>
          <p:nvPr/>
        </p:nvSpPr>
        <p:spPr>
          <a:xfrm>
            <a:off x="4892040" y="329184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41"/>
          <p:cNvSpPr/>
          <p:nvPr/>
        </p:nvSpPr>
        <p:spPr>
          <a:xfrm>
            <a:off x="5212080" y="329184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Unrealistic price for the area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0" name="Google Shape;1850;p41"/>
          <p:cNvSpPr/>
          <p:nvPr/>
        </p:nvSpPr>
        <p:spPr>
          <a:xfrm>
            <a:off x="4892040" y="365760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41"/>
          <p:cNvSpPr/>
          <p:nvPr/>
        </p:nvSpPr>
        <p:spPr>
          <a:xfrm>
            <a:off x="5212080" y="365760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Duplicate listing already on platform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41"/>
          <p:cNvSpPr/>
          <p:nvPr/>
        </p:nvSpPr>
        <p:spPr>
          <a:xfrm>
            <a:off x="4892040" y="402336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41"/>
          <p:cNvSpPr/>
          <p:nvPr/>
        </p:nvSpPr>
        <p:spPr>
          <a:xfrm>
            <a:off x="5212080" y="402336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Suspicious documents or claims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41"/>
          <p:cNvSpPr/>
          <p:nvPr/>
        </p:nvSpPr>
        <p:spPr>
          <a:xfrm>
            <a:off x="4892040" y="4389120"/>
            <a:ext cx="274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41"/>
          <p:cNvSpPr/>
          <p:nvPr/>
        </p:nvSpPr>
        <p:spPr>
          <a:xfrm>
            <a:off x="5212080" y="438912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Unclear owner authority to list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41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41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41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10 · Performance, Payments &amp; Contracts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41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39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42"/>
          <p:cNvSpPr/>
          <p:nvPr/>
        </p:nvSpPr>
        <p:spPr>
          <a:xfrm>
            <a:off x="365760" y="292608"/>
            <a:ext cx="1280160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42"/>
          <p:cNvSpPr/>
          <p:nvPr/>
        </p:nvSpPr>
        <p:spPr>
          <a:xfrm>
            <a:off x="365760" y="29260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· PERFORMANCE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4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Payments &amp; contracts — read this carefully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42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These rules protect your income, your reputation, and the platform.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42"/>
          <p:cNvSpPr/>
          <p:nvPr/>
        </p:nvSpPr>
        <p:spPr>
          <a:xfrm>
            <a:off x="365760" y="1645920"/>
            <a:ext cx="8412480" cy="1371600"/>
          </a:xfrm>
          <a:prstGeom prst="roundRect">
            <a:avLst>
              <a:gd fmla="val 6667" name="adj"/>
            </a:avLst>
          </a:prstGeom>
          <a:solidFill>
            <a:srgbClr val="0F5132"/>
          </a:solidFill>
          <a:ln cap="flat" cmpd="sng" w="9525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42"/>
          <p:cNvSpPr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THE RULE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42"/>
          <p:cNvSpPr/>
          <p:nvPr/>
        </p:nvSpPr>
        <p:spPr>
          <a:xfrm>
            <a:off x="548640" y="2103120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Field Agents do not collect money from customers.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payments and contracts flow through MakaUg admin and your dashboard.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2" name="Google Shape;1872;p42"/>
          <p:cNvSpPr/>
          <p:nvPr/>
        </p:nvSpPr>
        <p:spPr>
          <a:xfrm>
            <a:off x="406908" y="3108960"/>
            <a:ext cx="269748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42"/>
          <p:cNvSpPr/>
          <p:nvPr/>
        </p:nvSpPr>
        <p:spPr>
          <a:xfrm>
            <a:off x="406908" y="3108960"/>
            <a:ext cx="2697480" cy="36576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42"/>
          <p:cNvSpPr/>
          <p:nvPr/>
        </p:nvSpPr>
        <p:spPr>
          <a:xfrm>
            <a:off x="406908" y="310896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42"/>
          <p:cNvSpPr/>
          <p:nvPr/>
        </p:nvSpPr>
        <p:spPr>
          <a:xfrm>
            <a:off x="544068" y="356616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Use the dashboard for all payments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42"/>
          <p:cNvSpPr/>
          <p:nvPr/>
        </p:nvSpPr>
        <p:spPr>
          <a:xfrm>
            <a:off x="544068" y="385876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Keep written records of agreements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42"/>
          <p:cNvSpPr/>
          <p:nvPr/>
        </p:nvSpPr>
        <p:spPr>
          <a:xfrm>
            <a:off x="544068" y="4151376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Confirm commissions in writing first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42"/>
          <p:cNvSpPr/>
          <p:nvPr/>
        </p:nvSpPr>
        <p:spPr>
          <a:xfrm>
            <a:off x="544068" y="4443984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Report any payment confusion to admin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42"/>
          <p:cNvSpPr/>
          <p:nvPr/>
        </p:nvSpPr>
        <p:spPr>
          <a:xfrm>
            <a:off x="3223260" y="3108960"/>
            <a:ext cx="269748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42"/>
          <p:cNvSpPr/>
          <p:nvPr/>
        </p:nvSpPr>
        <p:spPr>
          <a:xfrm>
            <a:off x="3223260" y="3108960"/>
            <a:ext cx="2697480" cy="3657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42"/>
          <p:cNvSpPr/>
          <p:nvPr/>
        </p:nvSpPr>
        <p:spPr>
          <a:xfrm>
            <a:off x="3223260" y="310896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 CAREFUL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42"/>
          <p:cNvSpPr/>
          <p:nvPr/>
        </p:nvSpPr>
        <p:spPr>
          <a:xfrm>
            <a:off x="3360420" y="356616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Pricing changes the lister proposes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p42"/>
          <p:cNvSpPr/>
          <p:nvPr/>
        </p:nvSpPr>
        <p:spPr>
          <a:xfrm>
            <a:off x="3360420" y="385876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Verbal commission promises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4" name="Google Shape;1884;p42"/>
          <p:cNvSpPr/>
          <p:nvPr/>
        </p:nvSpPr>
        <p:spPr>
          <a:xfrm>
            <a:off x="3360420" y="4151376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Any "quick cash" arrangements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5" name="Google Shape;1885;p42"/>
          <p:cNvSpPr/>
          <p:nvPr/>
        </p:nvSpPr>
        <p:spPr>
          <a:xfrm>
            <a:off x="3360420" y="4443984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Agreements outside the platform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42"/>
          <p:cNvSpPr/>
          <p:nvPr/>
        </p:nvSpPr>
        <p:spPr>
          <a:xfrm>
            <a:off x="6039612" y="3108960"/>
            <a:ext cx="269748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42"/>
          <p:cNvSpPr/>
          <p:nvPr/>
        </p:nvSpPr>
        <p:spPr>
          <a:xfrm>
            <a:off x="6039612" y="3108960"/>
            <a:ext cx="2697480" cy="36576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42"/>
          <p:cNvSpPr/>
          <p:nvPr/>
        </p:nvSpPr>
        <p:spPr>
          <a:xfrm>
            <a:off x="6039612" y="310896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42"/>
          <p:cNvSpPr/>
          <p:nvPr/>
        </p:nvSpPr>
        <p:spPr>
          <a:xfrm>
            <a:off x="6176772" y="356616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Collect cash from a customer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42"/>
          <p:cNvSpPr/>
          <p:nvPr/>
        </p:nvSpPr>
        <p:spPr>
          <a:xfrm>
            <a:off x="6176772" y="385876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Take side payments off-platform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42"/>
          <p:cNvSpPr/>
          <p:nvPr/>
        </p:nvSpPr>
        <p:spPr>
          <a:xfrm>
            <a:off x="6176772" y="4151376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Promise approval for a fee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42"/>
          <p:cNvSpPr/>
          <p:nvPr/>
        </p:nvSpPr>
        <p:spPr>
          <a:xfrm>
            <a:off x="6176772" y="4443984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Hold customer documents as collateral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p42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42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42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10 · Performance, Payments &amp; Contracts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p42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40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p43"/>
          <p:cNvSpPr/>
          <p:nvPr/>
        </p:nvSpPr>
        <p:spPr>
          <a:xfrm>
            <a:off x="365760" y="292608"/>
            <a:ext cx="736092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43"/>
          <p:cNvSpPr/>
          <p:nvPr/>
        </p:nvSpPr>
        <p:spPr>
          <a:xfrm>
            <a:off x="365760" y="292608"/>
            <a:ext cx="7360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 · 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4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Data protection &amp; confidentiality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43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You will handle personal data. Treat it like cash — secured, tracked, never shared.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43"/>
          <p:cNvSpPr/>
          <p:nvPr/>
        </p:nvSpPr>
        <p:spPr>
          <a:xfrm>
            <a:off x="365760" y="1645920"/>
            <a:ext cx="4069080" cy="3154680"/>
          </a:xfrm>
          <a:prstGeom prst="roundRect">
            <a:avLst>
              <a:gd fmla="val 289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43"/>
          <p:cNvSpPr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PROTECT THIS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43"/>
          <p:cNvSpPr/>
          <p:nvPr/>
        </p:nvSpPr>
        <p:spPr>
          <a:xfrm>
            <a:off x="548640" y="2194560"/>
            <a:ext cx="329184" cy="329184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09" name="Google Shape;190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706" y="2268626"/>
            <a:ext cx="181051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910" name="Google Shape;1910;p43"/>
          <p:cNvSpPr/>
          <p:nvPr/>
        </p:nvSpPr>
        <p:spPr>
          <a:xfrm>
            <a:off x="1005840" y="2194560"/>
            <a:ext cx="3383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Names, phone numbers, emails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p43"/>
          <p:cNvSpPr/>
          <p:nvPr/>
        </p:nvSpPr>
        <p:spPr>
          <a:xfrm>
            <a:off x="548640" y="2606040"/>
            <a:ext cx="329184" cy="329184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2" name="Google Shape;191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706" y="2680106"/>
            <a:ext cx="181051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913" name="Google Shape;1913;p43"/>
          <p:cNvSpPr/>
          <p:nvPr/>
        </p:nvSpPr>
        <p:spPr>
          <a:xfrm>
            <a:off x="1005840" y="2606040"/>
            <a:ext cx="3383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NIN / National ID details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43"/>
          <p:cNvSpPr/>
          <p:nvPr/>
        </p:nvSpPr>
        <p:spPr>
          <a:xfrm>
            <a:off x="548640" y="3017520"/>
            <a:ext cx="329184" cy="329184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5" name="Google Shape;191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706" y="3091586"/>
            <a:ext cx="181051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916" name="Google Shape;1916;p43"/>
          <p:cNvSpPr/>
          <p:nvPr/>
        </p:nvSpPr>
        <p:spPr>
          <a:xfrm>
            <a:off x="1005840" y="3017520"/>
            <a:ext cx="3383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Identity &amp; ownership documents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p43"/>
          <p:cNvSpPr/>
          <p:nvPr/>
        </p:nvSpPr>
        <p:spPr>
          <a:xfrm>
            <a:off x="548640" y="3429000"/>
            <a:ext cx="329184" cy="329184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8" name="Google Shape;191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706" y="3503066"/>
            <a:ext cx="181051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919" name="Google Shape;1919;p43"/>
          <p:cNvSpPr/>
          <p:nvPr/>
        </p:nvSpPr>
        <p:spPr>
          <a:xfrm>
            <a:off x="1005840" y="3429000"/>
            <a:ext cx="3383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Exact addresses &amp; coordinates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43"/>
          <p:cNvSpPr/>
          <p:nvPr/>
        </p:nvSpPr>
        <p:spPr>
          <a:xfrm>
            <a:off x="548640" y="3840480"/>
            <a:ext cx="329184" cy="329184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1" name="Google Shape;192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706" y="3914546"/>
            <a:ext cx="181051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922" name="Google Shape;1922;p43"/>
          <p:cNvSpPr/>
          <p:nvPr/>
        </p:nvSpPr>
        <p:spPr>
          <a:xfrm>
            <a:off x="1005840" y="3840480"/>
            <a:ext cx="3383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Property photos before publishing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p43"/>
          <p:cNvSpPr/>
          <p:nvPr/>
        </p:nvSpPr>
        <p:spPr>
          <a:xfrm>
            <a:off x="548640" y="4251960"/>
            <a:ext cx="329184" cy="329184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4" name="Google Shape;192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706" y="4326026"/>
            <a:ext cx="181051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925" name="Google Shape;1925;p43"/>
          <p:cNvSpPr/>
          <p:nvPr/>
        </p:nvSpPr>
        <p:spPr>
          <a:xfrm>
            <a:off x="1005840" y="4251960"/>
            <a:ext cx="3383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WhatsApp &amp; email conversations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43"/>
          <p:cNvSpPr/>
          <p:nvPr/>
        </p:nvSpPr>
        <p:spPr>
          <a:xfrm>
            <a:off x="4709160" y="1645920"/>
            <a:ext cx="4069080" cy="3154680"/>
          </a:xfrm>
          <a:prstGeom prst="roundRect">
            <a:avLst>
              <a:gd fmla="val 2899" name="adj"/>
            </a:avLst>
          </a:prstGeom>
          <a:solidFill>
            <a:srgbClr val="0F5132"/>
          </a:solidFill>
          <a:ln cap="flat" cmpd="sng" w="9525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43"/>
          <p:cNvSpPr/>
          <p:nvPr/>
        </p:nvSpPr>
        <p:spPr>
          <a:xfrm>
            <a:off x="489204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THE RULES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43"/>
          <p:cNvSpPr/>
          <p:nvPr/>
        </p:nvSpPr>
        <p:spPr>
          <a:xfrm>
            <a:off x="4892040" y="2249424"/>
            <a:ext cx="219456" cy="219456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43"/>
          <p:cNvSpPr/>
          <p:nvPr/>
        </p:nvSpPr>
        <p:spPr>
          <a:xfrm>
            <a:off x="4892040" y="224942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43"/>
          <p:cNvSpPr/>
          <p:nvPr/>
        </p:nvSpPr>
        <p:spPr>
          <a:xfrm>
            <a:off x="5212080" y="219456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 only what you actually need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p43"/>
          <p:cNvSpPr/>
          <p:nvPr/>
        </p:nvSpPr>
        <p:spPr>
          <a:xfrm>
            <a:off x="4892040" y="2660904"/>
            <a:ext cx="219456" cy="219456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43"/>
          <p:cNvSpPr/>
          <p:nvPr/>
        </p:nvSpPr>
        <p:spPr>
          <a:xfrm>
            <a:off x="4892040" y="266090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43"/>
          <p:cNvSpPr/>
          <p:nvPr/>
        </p:nvSpPr>
        <p:spPr>
          <a:xfrm>
            <a:off x="5212080" y="260604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Never share data outside MakaUg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4" name="Google Shape;1934;p43"/>
          <p:cNvSpPr/>
          <p:nvPr/>
        </p:nvSpPr>
        <p:spPr>
          <a:xfrm>
            <a:off x="4892040" y="3072384"/>
            <a:ext cx="219456" cy="219456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43"/>
          <p:cNvSpPr/>
          <p:nvPr/>
        </p:nvSpPr>
        <p:spPr>
          <a:xfrm>
            <a:off x="4892040" y="307238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43"/>
          <p:cNvSpPr/>
          <p:nvPr/>
        </p:nvSpPr>
        <p:spPr>
          <a:xfrm>
            <a:off x="5212080" y="301752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Don't keep customer documents on personal devices longer than needed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43"/>
          <p:cNvSpPr/>
          <p:nvPr/>
        </p:nvSpPr>
        <p:spPr>
          <a:xfrm>
            <a:off x="4892040" y="3483864"/>
            <a:ext cx="219456" cy="219456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43"/>
          <p:cNvSpPr/>
          <p:nvPr/>
        </p:nvSpPr>
        <p:spPr>
          <a:xfrm>
            <a:off x="4892040" y="348386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43"/>
          <p:cNvSpPr/>
          <p:nvPr/>
        </p:nvSpPr>
        <p:spPr>
          <a:xfrm>
            <a:off x="5212080" y="342900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Never post private documents publicly — including on social media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43"/>
          <p:cNvSpPr/>
          <p:nvPr/>
        </p:nvSpPr>
        <p:spPr>
          <a:xfrm>
            <a:off x="4892040" y="3895344"/>
            <a:ext cx="219456" cy="219456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43"/>
          <p:cNvSpPr/>
          <p:nvPr/>
        </p:nvSpPr>
        <p:spPr>
          <a:xfrm>
            <a:off x="4892040" y="389534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p43"/>
          <p:cNvSpPr/>
          <p:nvPr/>
        </p:nvSpPr>
        <p:spPr>
          <a:xfrm>
            <a:off x="5212080" y="384048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 copies once they reach MakaUg admin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43"/>
          <p:cNvSpPr/>
          <p:nvPr/>
        </p:nvSpPr>
        <p:spPr>
          <a:xfrm>
            <a:off x="4892040" y="4306824"/>
            <a:ext cx="219456" cy="219456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43"/>
          <p:cNvSpPr/>
          <p:nvPr/>
        </p:nvSpPr>
        <p:spPr>
          <a:xfrm>
            <a:off x="4892040" y="430682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43"/>
          <p:cNvSpPr/>
          <p:nvPr/>
        </p:nvSpPr>
        <p:spPr>
          <a:xfrm>
            <a:off x="5212080" y="425196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 any data loss or breach to admin immediately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p43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43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p43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11 · Data Protection &amp; Code of Conduct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p43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41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44"/>
          <p:cNvSpPr/>
          <p:nvPr/>
        </p:nvSpPr>
        <p:spPr>
          <a:xfrm>
            <a:off x="365760" y="292608"/>
            <a:ext cx="736092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44"/>
          <p:cNvSpPr/>
          <p:nvPr/>
        </p:nvSpPr>
        <p:spPr>
          <a:xfrm>
            <a:off x="365760" y="292608"/>
            <a:ext cx="7360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 · 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44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Field Agent code of conduct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44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Print it, sign it, live by 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44"/>
          <p:cNvSpPr/>
          <p:nvPr/>
        </p:nvSpPr>
        <p:spPr>
          <a:xfrm>
            <a:off x="416052" y="1691640"/>
            <a:ext cx="2697480" cy="868680"/>
          </a:xfrm>
          <a:prstGeom prst="roundRect">
            <a:avLst>
              <a:gd fmla="val 10526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44"/>
          <p:cNvSpPr/>
          <p:nvPr/>
        </p:nvSpPr>
        <p:spPr>
          <a:xfrm>
            <a:off x="553212" y="1856232"/>
            <a:ext cx="548640" cy="5486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1" name="Google Shape;196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197967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2" name="Google Shape;1962;p44"/>
          <p:cNvSpPr/>
          <p:nvPr/>
        </p:nvSpPr>
        <p:spPr>
          <a:xfrm>
            <a:off x="1193292" y="18288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Be honest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44"/>
          <p:cNvSpPr/>
          <p:nvPr/>
        </p:nvSpPr>
        <p:spPr>
          <a:xfrm>
            <a:off x="1193292" y="214884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About what you know and what you don't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4" name="Google Shape;1964;p44"/>
          <p:cNvSpPr/>
          <p:nvPr/>
        </p:nvSpPr>
        <p:spPr>
          <a:xfrm>
            <a:off x="3223260" y="1691640"/>
            <a:ext cx="2697480" cy="868680"/>
          </a:xfrm>
          <a:prstGeom prst="roundRect">
            <a:avLst>
              <a:gd fmla="val 10526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44"/>
          <p:cNvSpPr/>
          <p:nvPr/>
        </p:nvSpPr>
        <p:spPr>
          <a:xfrm>
            <a:off x="3360420" y="1856232"/>
            <a:ext cx="548640" cy="5486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6" name="Google Shape;196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3864" y="197967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7" name="Google Shape;1967;p44"/>
          <p:cNvSpPr/>
          <p:nvPr/>
        </p:nvSpPr>
        <p:spPr>
          <a:xfrm>
            <a:off x="4000500" y="18288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Be respectful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8" name="Google Shape;1968;p44"/>
          <p:cNvSpPr/>
          <p:nvPr/>
        </p:nvSpPr>
        <p:spPr>
          <a:xfrm>
            <a:off x="4000500" y="214884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 every owner, broker, seeker — equally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p44"/>
          <p:cNvSpPr/>
          <p:nvPr/>
        </p:nvSpPr>
        <p:spPr>
          <a:xfrm>
            <a:off x="6030468" y="1691640"/>
            <a:ext cx="2697480" cy="868680"/>
          </a:xfrm>
          <a:prstGeom prst="roundRect">
            <a:avLst>
              <a:gd fmla="val 10526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44"/>
          <p:cNvSpPr/>
          <p:nvPr/>
        </p:nvSpPr>
        <p:spPr>
          <a:xfrm>
            <a:off x="6167628" y="1856232"/>
            <a:ext cx="548640" cy="5486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1" name="Google Shape;1971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1072" y="197967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972" name="Google Shape;1972;p44"/>
          <p:cNvSpPr/>
          <p:nvPr/>
        </p:nvSpPr>
        <p:spPr>
          <a:xfrm>
            <a:off x="6807708" y="18288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Don't pressure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3" name="Google Shape;1973;p44"/>
          <p:cNvSpPr/>
          <p:nvPr/>
        </p:nvSpPr>
        <p:spPr>
          <a:xfrm>
            <a:off x="6807708" y="214884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Customers decide on their own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4" name="Google Shape;1974;p44"/>
          <p:cNvSpPr/>
          <p:nvPr/>
        </p:nvSpPr>
        <p:spPr>
          <a:xfrm>
            <a:off x="416052" y="2679192"/>
            <a:ext cx="2697480" cy="868680"/>
          </a:xfrm>
          <a:prstGeom prst="roundRect">
            <a:avLst>
              <a:gd fmla="val 10526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44"/>
          <p:cNvSpPr/>
          <p:nvPr/>
        </p:nvSpPr>
        <p:spPr>
          <a:xfrm>
            <a:off x="553212" y="2843784"/>
            <a:ext cx="548640" cy="5486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6" name="Google Shape;1976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656" y="296722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977" name="Google Shape;1977;p44"/>
          <p:cNvSpPr/>
          <p:nvPr/>
        </p:nvSpPr>
        <p:spPr>
          <a:xfrm>
            <a:off x="1193292" y="281635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Don't fake listings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8" name="Google Shape;1978;p44"/>
          <p:cNvSpPr/>
          <p:nvPr/>
        </p:nvSpPr>
        <p:spPr>
          <a:xfrm>
            <a:off x="1193292" y="313639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Even one fake listing breaks the platform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9" name="Google Shape;1979;p44"/>
          <p:cNvSpPr/>
          <p:nvPr/>
        </p:nvSpPr>
        <p:spPr>
          <a:xfrm>
            <a:off x="3223260" y="2679192"/>
            <a:ext cx="2697480" cy="868680"/>
          </a:xfrm>
          <a:prstGeom prst="roundRect">
            <a:avLst>
              <a:gd fmla="val 10526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44"/>
          <p:cNvSpPr/>
          <p:nvPr/>
        </p:nvSpPr>
        <p:spPr>
          <a:xfrm>
            <a:off x="3360420" y="2843784"/>
            <a:ext cx="548640" cy="5486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1" name="Google Shape;1981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83864" y="296722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982" name="Google Shape;1982;p44"/>
          <p:cNvSpPr/>
          <p:nvPr/>
        </p:nvSpPr>
        <p:spPr>
          <a:xfrm>
            <a:off x="4000500" y="281635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Don't alter facts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3" name="Google Shape;1983;p44"/>
          <p:cNvSpPr/>
          <p:nvPr/>
        </p:nvSpPr>
        <p:spPr>
          <a:xfrm>
            <a:off x="4000500" y="313639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Capture what is, not what would be nicer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4" name="Google Shape;1984;p44"/>
          <p:cNvSpPr/>
          <p:nvPr/>
        </p:nvSpPr>
        <p:spPr>
          <a:xfrm>
            <a:off x="6030468" y="2679192"/>
            <a:ext cx="2697480" cy="868680"/>
          </a:xfrm>
          <a:prstGeom prst="roundRect">
            <a:avLst>
              <a:gd fmla="val 10526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44"/>
          <p:cNvSpPr/>
          <p:nvPr/>
        </p:nvSpPr>
        <p:spPr>
          <a:xfrm>
            <a:off x="6167628" y="2843784"/>
            <a:ext cx="548640" cy="5486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6" name="Google Shape;1986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91072" y="296722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987" name="Google Shape;1987;p44"/>
          <p:cNvSpPr/>
          <p:nvPr/>
        </p:nvSpPr>
        <p:spPr>
          <a:xfrm>
            <a:off x="6807708" y="281635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Don't promise approval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44"/>
          <p:cNvSpPr/>
          <p:nvPr/>
        </p:nvSpPr>
        <p:spPr>
          <a:xfrm>
            <a:off x="6807708" y="313639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That's admin's call, not yours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44"/>
          <p:cNvSpPr/>
          <p:nvPr/>
        </p:nvSpPr>
        <p:spPr>
          <a:xfrm>
            <a:off x="416052" y="3666744"/>
            <a:ext cx="2697480" cy="868680"/>
          </a:xfrm>
          <a:prstGeom prst="roundRect">
            <a:avLst>
              <a:gd fmla="val 10526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44"/>
          <p:cNvSpPr/>
          <p:nvPr/>
        </p:nvSpPr>
        <p:spPr>
          <a:xfrm>
            <a:off x="553212" y="3831336"/>
            <a:ext cx="548640" cy="5486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1" name="Google Shape;1991;p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6656" y="395478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992" name="Google Shape;1992;p44"/>
          <p:cNvSpPr/>
          <p:nvPr/>
        </p:nvSpPr>
        <p:spPr>
          <a:xfrm>
            <a:off x="1193292" y="380390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No side payments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3" name="Google Shape;1993;p44"/>
          <p:cNvSpPr/>
          <p:nvPr/>
        </p:nvSpPr>
        <p:spPr>
          <a:xfrm>
            <a:off x="1193292" y="412394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Ever, for any reason, from anyone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44"/>
          <p:cNvSpPr/>
          <p:nvPr/>
        </p:nvSpPr>
        <p:spPr>
          <a:xfrm>
            <a:off x="3223260" y="3666744"/>
            <a:ext cx="2697480" cy="868680"/>
          </a:xfrm>
          <a:prstGeom prst="roundRect">
            <a:avLst>
              <a:gd fmla="val 10526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44"/>
          <p:cNvSpPr/>
          <p:nvPr/>
        </p:nvSpPr>
        <p:spPr>
          <a:xfrm>
            <a:off x="3360420" y="3831336"/>
            <a:ext cx="548640" cy="5486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6" name="Google Shape;1996;p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83864" y="395478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997" name="Google Shape;1997;p44"/>
          <p:cNvSpPr/>
          <p:nvPr/>
        </p:nvSpPr>
        <p:spPr>
          <a:xfrm>
            <a:off x="4000500" y="380390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Protect user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44"/>
          <p:cNvSpPr/>
          <p:nvPr/>
        </p:nvSpPr>
        <p:spPr>
          <a:xfrm>
            <a:off x="4000500" y="412394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Treat it as you would treat your own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44"/>
          <p:cNvSpPr/>
          <p:nvPr/>
        </p:nvSpPr>
        <p:spPr>
          <a:xfrm>
            <a:off x="6030468" y="3666744"/>
            <a:ext cx="2697480" cy="868680"/>
          </a:xfrm>
          <a:prstGeom prst="roundRect">
            <a:avLst>
              <a:gd fmla="val 10526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44"/>
          <p:cNvSpPr/>
          <p:nvPr/>
        </p:nvSpPr>
        <p:spPr>
          <a:xfrm>
            <a:off x="6167628" y="3831336"/>
            <a:ext cx="548640" cy="548640"/>
          </a:xfrm>
          <a:prstGeom prst="ellipse">
            <a:avLst/>
          </a:prstGeom>
          <a:solidFill>
            <a:srgbClr val="D9F2E3"/>
          </a:solidFill>
          <a:ln cap="flat" cmpd="sng" w="12700">
            <a:solidFill>
              <a:srgbClr val="D9F2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1" name="Google Shape;2001;p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91072" y="395478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002" name="Google Shape;2002;p44"/>
          <p:cNvSpPr/>
          <p:nvPr/>
        </p:nvSpPr>
        <p:spPr>
          <a:xfrm>
            <a:off x="6807708" y="380390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Escalate fraud early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44"/>
          <p:cNvSpPr/>
          <p:nvPr/>
        </p:nvSpPr>
        <p:spPr>
          <a:xfrm>
            <a:off x="6807708" y="412394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When in doubt, escalate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4" name="Google Shape;2004;p44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44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44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11 · Data Protection &amp; Code of Conduct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007;p44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42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45"/>
          <p:cNvSpPr/>
          <p:nvPr/>
        </p:nvSpPr>
        <p:spPr>
          <a:xfrm>
            <a:off x="365760" y="292608"/>
            <a:ext cx="1124712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45"/>
          <p:cNvSpPr/>
          <p:nvPr/>
        </p:nvSpPr>
        <p:spPr>
          <a:xfrm>
            <a:off x="365760" y="292608"/>
            <a:ext cx="11247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 · SCENARIOS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45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Field scenarios — homes, location, land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45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Three real situations. Three correct responses.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7" name="Google Shape;2017;p45"/>
          <p:cNvSpPr/>
          <p:nvPr/>
        </p:nvSpPr>
        <p:spPr>
          <a:xfrm>
            <a:off x="406908" y="1691640"/>
            <a:ext cx="2697480" cy="310896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45"/>
          <p:cNvSpPr/>
          <p:nvPr/>
        </p:nvSpPr>
        <p:spPr>
          <a:xfrm>
            <a:off x="406908" y="1691640"/>
            <a:ext cx="2697480" cy="502920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45"/>
          <p:cNvSpPr/>
          <p:nvPr/>
        </p:nvSpPr>
        <p:spPr>
          <a:xfrm>
            <a:off x="544068" y="169164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p45"/>
          <p:cNvSpPr/>
          <p:nvPr/>
        </p:nvSpPr>
        <p:spPr>
          <a:xfrm>
            <a:off x="1046988" y="16916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Owner has no good photos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p45"/>
          <p:cNvSpPr/>
          <p:nvPr/>
        </p:nvSpPr>
        <p:spPr>
          <a:xfrm>
            <a:off x="544068" y="233172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Situation: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45"/>
          <p:cNvSpPr/>
          <p:nvPr/>
        </p:nvSpPr>
        <p:spPr>
          <a:xfrm>
            <a:off x="544068" y="2532888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Owner sends 2 blurry, dark photos taken at night.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3" name="Google Shape;2023;p45"/>
          <p:cNvSpPr/>
          <p:nvPr/>
        </p:nvSpPr>
        <p:spPr>
          <a:xfrm>
            <a:off x="544068" y="310896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What to do: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45"/>
          <p:cNvSpPr/>
          <p:nvPr/>
        </p:nvSpPr>
        <p:spPr>
          <a:xfrm>
            <a:off x="544068" y="3337560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Explain the photo checklist briefly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45"/>
          <p:cNvSpPr/>
          <p:nvPr/>
        </p:nvSpPr>
        <p:spPr>
          <a:xfrm>
            <a:off x="544068" y="3666744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Take new daylight photos yourself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45"/>
          <p:cNvSpPr/>
          <p:nvPr/>
        </p:nvSpPr>
        <p:spPr>
          <a:xfrm>
            <a:off x="544068" y="3995928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Cover all required rooms by type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7" name="Google Shape;2027;p45"/>
          <p:cNvSpPr/>
          <p:nvPr/>
        </p:nvSpPr>
        <p:spPr>
          <a:xfrm>
            <a:off x="544068" y="4325112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Don't submit a low-quality listing unless admin allows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p45"/>
          <p:cNvSpPr/>
          <p:nvPr/>
        </p:nvSpPr>
        <p:spPr>
          <a:xfrm>
            <a:off x="3223260" y="1691640"/>
            <a:ext cx="2697480" cy="310896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45"/>
          <p:cNvSpPr/>
          <p:nvPr/>
        </p:nvSpPr>
        <p:spPr>
          <a:xfrm>
            <a:off x="3223260" y="1691640"/>
            <a:ext cx="2697480" cy="502920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45"/>
          <p:cNvSpPr/>
          <p:nvPr/>
        </p:nvSpPr>
        <p:spPr>
          <a:xfrm>
            <a:off x="3360420" y="169164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1" name="Google Shape;2031;p45"/>
          <p:cNvSpPr/>
          <p:nvPr/>
        </p:nvSpPr>
        <p:spPr>
          <a:xfrm>
            <a:off x="3863340" y="16916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Location is unclear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2" name="Google Shape;2032;p45"/>
          <p:cNvSpPr/>
          <p:nvPr/>
        </p:nvSpPr>
        <p:spPr>
          <a:xfrm>
            <a:off x="3360420" y="233172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Situation: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3" name="Google Shape;2033;p45"/>
          <p:cNvSpPr/>
          <p:nvPr/>
        </p:nvSpPr>
        <p:spPr>
          <a:xfrm>
            <a:off x="3360420" y="2532888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Owner can't describe the location and the area has no street name.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45"/>
          <p:cNvSpPr/>
          <p:nvPr/>
        </p:nvSpPr>
        <p:spPr>
          <a:xfrm>
            <a:off x="3360420" y="310896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What to do: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5" name="Google Shape;2035;p45"/>
          <p:cNvSpPr/>
          <p:nvPr/>
        </p:nvSpPr>
        <p:spPr>
          <a:xfrm>
            <a:off x="3360420" y="3337560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Ask for the nearest landmark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6" name="Google Shape;2036;p45"/>
          <p:cNvSpPr/>
          <p:nvPr/>
        </p:nvSpPr>
        <p:spPr>
          <a:xfrm>
            <a:off x="3360420" y="3666744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Use "Find address or place" in the form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7" name="Google Shape;2037;p45"/>
          <p:cNvSpPr/>
          <p:nvPr/>
        </p:nvSpPr>
        <p:spPr>
          <a:xfrm>
            <a:off x="3360420" y="3995928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Move the pin to the actual gate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45"/>
          <p:cNvSpPr/>
          <p:nvPr/>
        </p:nvSpPr>
        <p:spPr>
          <a:xfrm>
            <a:off x="3360420" y="4325112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Switch to approximate privacy if the owner prefers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9" name="Google Shape;2039;p45"/>
          <p:cNvSpPr/>
          <p:nvPr/>
        </p:nvSpPr>
        <p:spPr>
          <a:xfrm>
            <a:off x="6039612" y="1691640"/>
            <a:ext cx="2697480" cy="310896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p45"/>
          <p:cNvSpPr/>
          <p:nvPr/>
        </p:nvSpPr>
        <p:spPr>
          <a:xfrm>
            <a:off x="6039612" y="1691640"/>
            <a:ext cx="2697480" cy="502920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45"/>
          <p:cNvSpPr/>
          <p:nvPr/>
        </p:nvSpPr>
        <p:spPr>
          <a:xfrm>
            <a:off x="6176772" y="169164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2" name="Google Shape;2042;p45"/>
          <p:cNvSpPr/>
          <p:nvPr/>
        </p:nvSpPr>
        <p:spPr>
          <a:xfrm>
            <a:off x="6679692" y="16916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 title is unclear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3" name="Google Shape;2043;p45"/>
          <p:cNvSpPr/>
          <p:nvPr/>
        </p:nvSpPr>
        <p:spPr>
          <a:xfrm>
            <a:off x="6176772" y="233172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Situation: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45"/>
          <p:cNvSpPr/>
          <p:nvPr/>
        </p:nvSpPr>
        <p:spPr>
          <a:xfrm>
            <a:off x="6176772" y="2532888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Seller mentions "family land" but can't show a clean title document.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p45"/>
          <p:cNvSpPr/>
          <p:nvPr/>
        </p:nvSpPr>
        <p:spPr>
          <a:xfrm>
            <a:off x="6176772" y="310896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What to do: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6" name="Google Shape;2046;p45"/>
          <p:cNvSpPr/>
          <p:nvPr/>
        </p:nvSpPr>
        <p:spPr>
          <a:xfrm>
            <a:off x="6176772" y="3337560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Do not certify ownership yourself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7" name="Google Shape;2047;p45"/>
          <p:cNvSpPr/>
          <p:nvPr/>
        </p:nvSpPr>
        <p:spPr>
          <a:xfrm>
            <a:off x="6176772" y="3666744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Capture exactly what the seller says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p45"/>
          <p:cNvSpPr/>
          <p:nvPr/>
        </p:nvSpPr>
        <p:spPr>
          <a:xfrm>
            <a:off x="6176772" y="3995928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Mark title status carefully on the form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45"/>
          <p:cNvSpPr/>
          <p:nvPr/>
        </p:nvSpPr>
        <p:spPr>
          <a:xfrm>
            <a:off x="6176772" y="4325112"/>
            <a:ext cx="2423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Advise safety + escalate to admin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0" name="Google Shape;2050;p45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45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45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12 · Practical Scenarios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45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43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46"/>
          <p:cNvSpPr/>
          <p:nvPr/>
        </p:nvSpPr>
        <p:spPr>
          <a:xfrm>
            <a:off x="365760" y="292608"/>
            <a:ext cx="1124712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46"/>
          <p:cNvSpPr/>
          <p:nvPr/>
        </p:nvSpPr>
        <p:spPr>
          <a:xfrm>
            <a:off x="365760" y="292608"/>
            <a:ext cx="11247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 · SCENARIOS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1" name="Google Shape;2061;p46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Field scenarios — brokers &amp; student housing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2" name="Google Shape;2062;p46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Two more situations to rehearse before going into the field.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46"/>
          <p:cNvSpPr/>
          <p:nvPr/>
        </p:nvSpPr>
        <p:spPr>
          <a:xfrm>
            <a:off x="365760" y="1691640"/>
            <a:ext cx="4114800" cy="3108960"/>
          </a:xfrm>
          <a:prstGeom prst="roundRect">
            <a:avLst>
              <a:gd fmla="val 294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46"/>
          <p:cNvSpPr/>
          <p:nvPr/>
        </p:nvSpPr>
        <p:spPr>
          <a:xfrm>
            <a:off x="365760" y="1691640"/>
            <a:ext cx="4114800" cy="548640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46"/>
          <p:cNvSpPr/>
          <p:nvPr/>
        </p:nvSpPr>
        <p:spPr>
          <a:xfrm>
            <a:off x="548640" y="169164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6" name="Google Shape;2066;p46"/>
          <p:cNvSpPr/>
          <p:nvPr/>
        </p:nvSpPr>
        <p:spPr>
          <a:xfrm>
            <a:off x="1234440" y="169164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Broker has many listings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p46"/>
          <p:cNvSpPr/>
          <p:nvPr/>
        </p:nvSpPr>
        <p:spPr>
          <a:xfrm>
            <a:off x="548640" y="240487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Situation: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46"/>
          <p:cNvSpPr/>
          <p:nvPr/>
        </p:nvSpPr>
        <p:spPr>
          <a:xfrm>
            <a:off x="548640" y="265176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broker hands you 14 properties to list at once. Some look familiar.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46"/>
          <p:cNvSpPr/>
          <p:nvPr/>
        </p:nvSpPr>
        <p:spPr>
          <a:xfrm>
            <a:off x="548640" y="32004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What to do: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46"/>
          <p:cNvSpPr/>
          <p:nvPr/>
        </p:nvSpPr>
        <p:spPr>
          <a:xfrm>
            <a:off x="548640" y="34747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Collect the broker profile first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46"/>
          <p:cNvSpPr/>
          <p:nvPr/>
        </p:nvSpPr>
        <p:spPr>
          <a:xfrm>
            <a:off x="548640" y="373075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Cross-check for duplicates already on MakaUg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46"/>
          <p:cNvSpPr/>
          <p:nvPr/>
        </p:nvSpPr>
        <p:spPr>
          <a:xfrm>
            <a:off x="548640" y="39867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Verify photos and locations one by 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3" name="Google Shape;2073;p46"/>
          <p:cNvSpPr/>
          <p:nvPr/>
        </p:nvSpPr>
        <p:spPr>
          <a:xfrm>
            <a:off x="548640" y="424281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Link each listing to the same broker profile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4" name="Google Shape;2074;p46"/>
          <p:cNvSpPr/>
          <p:nvPr/>
        </p:nvSpPr>
        <p:spPr>
          <a:xfrm>
            <a:off x="548640" y="449884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Track performance — broker volume affects your KPIs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p46"/>
          <p:cNvSpPr/>
          <p:nvPr/>
        </p:nvSpPr>
        <p:spPr>
          <a:xfrm>
            <a:off x="4663440" y="1691640"/>
            <a:ext cx="4114800" cy="3108960"/>
          </a:xfrm>
          <a:prstGeom prst="roundRect">
            <a:avLst>
              <a:gd fmla="val 294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46"/>
          <p:cNvSpPr/>
          <p:nvPr/>
        </p:nvSpPr>
        <p:spPr>
          <a:xfrm>
            <a:off x="4663440" y="1691640"/>
            <a:ext cx="4114800" cy="548640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46"/>
          <p:cNvSpPr/>
          <p:nvPr/>
        </p:nvSpPr>
        <p:spPr>
          <a:xfrm>
            <a:off x="4846320" y="169164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8" name="Google Shape;2078;p46"/>
          <p:cNvSpPr/>
          <p:nvPr/>
        </p:nvSpPr>
        <p:spPr>
          <a:xfrm>
            <a:off x="5532120" y="169164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 accommodation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9" name="Google Shape;2079;p46"/>
          <p:cNvSpPr/>
          <p:nvPr/>
        </p:nvSpPr>
        <p:spPr>
          <a:xfrm>
            <a:off x="4846320" y="240487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Situation: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0" name="Google Shape;2080;p46"/>
          <p:cNvSpPr/>
          <p:nvPr/>
        </p:nvSpPr>
        <p:spPr>
          <a:xfrm>
            <a:off x="4846320" y="265176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Owner of student rooms near a campus wants to list five rooms.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1" name="Google Shape;2081;p46"/>
          <p:cNvSpPr/>
          <p:nvPr/>
        </p:nvSpPr>
        <p:spPr>
          <a:xfrm>
            <a:off x="4846320" y="32004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What to do: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2" name="Google Shape;2082;p46"/>
          <p:cNvSpPr/>
          <p:nvPr/>
        </p:nvSpPr>
        <p:spPr>
          <a:xfrm>
            <a:off x="4846320" y="34747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Capture campus name and walking distance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3" name="Google Shape;2083;p46"/>
          <p:cNvSpPr/>
          <p:nvPr/>
        </p:nvSpPr>
        <p:spPr>
          <a:xfrm>
            <a:off x="4846320" y="373075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Capture price, room type (single / shared / SC)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4" name="Google Shape;2084;p46"/>
          <p:cNvSpPr/>
          <p:nvPr/>
        </p:nvSpPr>
        <p:spPr>
          <a:xfrm>
            <a:off x="4846320" y="398678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Wi-Fi, water, meals, curfew, security details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46"/>
          <p:cNvSpPr/>
          <p:nvPr/>
        </p:nvSpPr>
        <p:spPr>
          <a:xfrm>
            <a:off x="4846320" y="424281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Confirm viewing availability and visiting hours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6" name="Google Shape;2086;p46"/>
          <p:cNvSpPr/>
          <p:nvPr/>
        </p:nvSpPr>
        <p:spPr>
          <a:xfrm>
            <a:off x="4846320" y="449884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✓ Take photos of room, shared spaces, security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7" name="Google Shape;2087;p46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46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p46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12 · Practical Scenarios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46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44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47"/>
          <p:cNvSpPr/>
          <p:nvPr/>
        </p:nvSpPr>
        <p:spPr>
          <a:xfrm>
            <a:off x="365760" y="292608"/>
            <a:ext cx="891540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p47"/>
          <p:cNvSpPr/>
          <p:nvPr/>
        </p:nvSpPr>
        <p:spPr>
          <a:xfrm>
            <a:off x="365760" y="292608"/>
            <a:ext cx="8915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 · LAUNCH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8" name="Google Shape;2098;p47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Your first week as a Field Agent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9" name="Google Shape;2099;p47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Day-by-day plan. Build skill, then build volume.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p47"/>
          <p:cNvSpPr/>
          <p:nvPr/>
        </p:nvSpPr>
        <p:spPr>
          <a:xfrm>
            <a:off x="370332" y="1691640"/>
            <a:ext cx="1161288" cy="3017520"/>
          </a:xfrm>
          <a:prstGeom prst="roundRect">
            <a:avLst>
              <a:gd fmla="val 78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47"/>
          <p:cNvSpPr/>
          <p:nvPr/>
        </p:nvSpPr>
        <p:spPr>
          <a:xfrm>
            <a:off x="370332" y="1691640"/>
            <a:ext cx="1161288" cy="457200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47"/>
          <p:cNvSpPr/>
          <p:nvPr/>
        </p:nvSpPr>
        <p:spPr>
          <a:xfrm>
            <a:off x="370332" y="1691640"/>
            <a:ext cx="1161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3" name="Google Shape;2103;p47"/>
          <p:cNvSpPr/>
          <p:nvPr/>
        </p:nvSpPr>
        <p:spPr>
          <a:xfrm>
            <a:off x="722376" y="2286000"/>
            <a:ext cx="457200" cy="45720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4" name="Google Shape;210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5246" y="23888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2105" name="Google Shape;2105;p47"/>
          <p:cNvSpPr/>
          <p:nvPr/>
        </p:nvSpPr>
        <p:spPr>
          <a:xfrm>
            <a:off x="416052" y="2834640"/>
            <a:ext cx="10698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Account &amp; training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6" name="Google Shape;2106;p47"/>
          <p:cNvSpPr/>
          <p:nvPr/>
        </p:nvSpPr>
        <p:spPr>
          <a:xfrm>
            <a:off x="443484" y="3383280"/>
            <a:ext cx="101498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Set up MakaUg account, complete this training, explore the dashboard.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p47"/>
          <p:cNvSpPr/>
          <p:nvPr/>
        </p:nvSpPr>
        <p:spPr>
          <a:xfrm>
            <a:off x="1577340" y="1691640"/>
            <a:ext cx="1161288" cy="3017520"/>
          </a:xfrm>
          <a:prstGeom prst="roundRect">
            <a:avLst>
              <a:gd fmla="val 78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47"/>
          <p:cNvSpPr/>
          <p:nvPr/>
        </p:nvSpPr>
        <p:spPr>
          <a:xfrm>
            <a:off x="1577340" y="1691640"/>
            <a:ext cx="1161288" cy="457200"/>
          </a:xfrm>
          <a:prstGeom prst="rect">
            <a:avLst/>
          </a:prstGeom>
          <a:solidFill>
            <a:srgbClr val="1A7A4C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47"/>
          <p:cNvSpPr/>
          <p:nvPr/>
        </p:nvSpPr>
        <p:spPr>
          <a:xfrm>
            <a:off x="1577340" y="1691640"/>
            <a:ext cx="1161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0" name="Google Shape;2110;p47"/>
          <p:cNvSpPr/>
          <p:nvPr/>
        </p:nvSpPr>
        <p:spPr>
          <a:xfrm>
            <a:off x="1929384" y="2286000"/>
            <a:ext cx="457200" cy="45720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1" name="Google Shape;211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2254" y="23888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2" name="Google Shape;2112;p47"/>
          <p:cNvSpPr/>
          <p:nvPr/>
        </p:nvSpPr>
        <p:spPr>
          <a:xfrm>
            <a:off x="1623060" y="2834640"/>
            <a:ext cx="10698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Practice flow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47"/>
          <p:cNvSpPr/>
          <p:nvPr/>
        </p:nvSpPr>
        <p:spPr>
          <a:xfrm>
            <a:off x="1650492" y="3383280"/>
            <a:ext cx="101498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Walk through the listing form end-to-end with a sample property.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4" name="Google Shape;2114;p47"/>
          <p:cNvSpPr/>
          <p:nvPr/>
        </p:nvSpPr>
        <p:spPr>
          <a:xfrm>
            <a:off x="2784348" y="1691640"/>
            <a:ext cx="1161288" cy="3017520"/>
          </a:xfrm>
          <a:prstGeom prst="roundRect">
            <a:avLst>
              <a:gd fmla="val 78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47"/>
          <p:cNvSpPr/>
          <p:nvPr/>
        </p:nvSpPr>
        <p:spPr>
          <a:xfrm>
            <a:off x="2784348" y="1691640"/>
            <a:ext cx="1161288" cy="457200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47"/>
          <p:cNvSpPr/>
          <p:nvPr/>
        </p:nvSpPr>
        <p:spPr>
          <a:xfrm>
            <a:off x="2784348" y="1691640"/>
            <a:ext cx="1161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47"/>
          <p:cNvSpPr/>
          <p:nvPr/>
        </p:nvSpPr>
        <p:spPr>
          <a:xfrm>
            <a:off x="3136392" y="2286000"/>
            <a:ext cx="457200" cy="45720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8" name="Google Shape;211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262" y="23888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9" name="Google Shape;2119;p47"/>
          <p:cNvSpPr/>
          <p:nvPr/>
        </p:nvSpPr>
        <p:spPr>
          <a:xfrm>
            <a:off x="2830068" y="2834640"/>
            <a:ext cx="10698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First supervised listing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47"/>
          <p:cNvSpPr/>
          <p:nvPr/>
        </p:nvSpPr>
        <p:spPr>
          <a:xfrm>
            <a:off x="2857500" y="3383280"/>
            <a:ext cx="101498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Submit your first real listing with admin available for support.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47"/>
          <p:cNvSpPr/>
          <p:nvPr/>
        </p:nvSpPr>
        <p:spPr>
          <a:xfrm>
            <a:off x="3991356" y="1691640"/>
            <a:ext cx="1161288" cy="3017520"/>
          </a:xfrm>
          <a:prstGeom prst="roundRect">
            <a:avLst>
              <a:gd fmla="val 78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47"/>
          <p:cNvSpPr/>
          <p:nvPr/>
        </p:nvSpPr>
        <p:spPr>
          <a:xfrm>
            <a:off x="3991356" y="1691640"/>
            <a:ext cx="1161288" cy="457200"/>
          </a:xfrm>
          <a:prstGeom prst="rect">
            <a:avLst/>
          </a:prstGeom>
          <a:solidFill>
            <a:srgbClr val="1A7A4C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47"/>
          <p:cNvSpPr/>
          <p:nvPr/>
        </p:nvSpPr>
        <p:spPr>
          <a:xfrm>
            <a:off x="3991356" y="1691640"/>
            <a:ext cx="1161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4" name="Google Shape;2124;p47"/>
          <p:cNvSpPr/>
          <p:nvPr/>
        </p:nvSpPr>
        <p:spPr>
          <a:xfrm>
            <a:off x="4343400" y="2286000"/>
            <a:ext cx="457200" cy="45720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5" name="Google Shape;212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6270" y="23888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2126" name="Google Shape;2126;p47"/>
          <p:cNvSpPr/>
          <p:nvPr/>
        </p:nvSpPr>
        <p:spPr>
          <a:xfrm>
            <a:off x="4037076" y="2834640"/>
            <a:ext cx="10698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Review feedback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47"/>
          <p:cNvSpPr/>
          <p:nvPr/>
        </p:nvSpPr>
        <p:spPr>
          <a:xfrm>
            <a:off x="4064508" y="3383280"/>
            <a:ext cx="101498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Read approval/rejection notes carefully. Apply lessons immediately.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8" name="Google Shape;2128;p47"/>
          <p:cNvSpPr/>
          <p:nvPr/>
        </p:nvSpPr>
        <p:spPr>
          <a:xfrm>
            <a:off x="5198364" y="1691640"/>
            <a:ext cx="1161288" cy="3017520"/>
          </a:xfrm>
          <a:prstGeom prst="roundRect">
            <a:avLst>
              <a:gd fmla="val 78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47"/>
          <p:cNvSpPr/>
          <p:nvPr/>
        </p:nvSpPr>
        <p:spPr>
          <a:xfrm>
            <a:off x="5198364" y="1691640"/>
            <a:ext cx="1161288" cy="457200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47"/>
          <p:cNvSpPr/>
          <p:nvPr/>
        </p:nvSpPr>
        <p:spPr>
          <a:xfrm>
            <a:off x="5198364" y="1691640"/>
            <a:ext cx="1161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47"/>
          <p:cNvSpPr/>
          <p:nvPr/>
        </p:nvSpPr>
        <p:spPr>
          <a:xfrm>
            <a:off x="5550408" y="2286000"/>
            <a:ext cx="457200" cy="45720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2" name="Google Shape;213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3278" y="23888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3" name="Google Shape;2133;p47"/>
          <p:cNvSpPr/>
          <p:nvPr/>
        </p:nvSpPr>
        <p:spPr>
          <a:xfrm>
            <a:off x="5244084" y="2834640"/>
            <a:ext cx="10698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Improve quality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47"/>
          <p:cNvSpPr/>
          <p:nvPr/>
        </p:nvSpPr>
        <p:spPr>
          <a:xfrm>
            <a:off x="5271516" y="3383280"/>
            <a:ext cx="101498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Focus on photo standards, location accuracy, description clarity.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p47"/>
          <p:cNvSpPr/>
          <p:nvPr/>
        </p:nvSpPr>
        <p:spPr>
          <a:xfrm>
            <a:off x="6405372" y="1691640"/>
            <a:ext cx="1161288" cy="3017520"/>
          </a:xfrm>
          <a:prstGeom prst="roundRect">
            <a:avLst>
              <a:gd fmla="val 78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47"/>
          <p:cNvSpPr/>
          <p:nvPr/>
        </p:nvSpPr>
        <p:spPr>
          <a:xfrm>
            <a:off x="6405372" y="1691640"/>
            <a:ext cx="1161288" cy="457200"/>
          </a:xfrm>
          <a:prstGeom prst="rect">
            <a:avLst/>
          </a:prstGeom>
          <a:solidFill>
            <a:srgbClr val="1A7A4C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47"/>
          <p:cNvSpPr/>
          <p:nvPr/>
        </p:nvSpPr>
        <p:spPr>
          <a:xfrm>
            <a:off x="6405372" y="1691640"/>
            <a:ext cx="1161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47"/>
          <p:cNvSpPr/>
          <p:nvPr/>
        </p:nvSpPr>
        <p:spPr>
          <a:xfrm>
            <a:off x="6757416" y="2286000"/>
            <a:ext cx="457200" cy="45720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9" name="Google Shape;213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0286" y="23888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2140" name="Google Shape;2140;p47"/>
          <p:cNvSpPr/>
          <p:nvPr/>
        </p:nvSpPr>
        <p:spPr>
          <a:xfrm>
            <a:off x="6451092" y="2834640"/>
            <a:ext cx="10698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Source your area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47"/>
          <p:cNvSpPr/>
          <p:nvPr/>
        </p:nvSpPr>
        <p:spPr>
          <a:xfrm>
            <a:off x="6478524" y="3383280"/>
            <a:ext cx="101498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Visit your assigned area. Build local owner relationships.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2" name="Google Shape;2142;p47"/>
          <p:cNvSpPr/>
          <p:nvPr/>
        </p:nvSpPr>
        <p:spPr>
          <a:xfrm>
            <a:off x="7612380" y="1691640"/>
            <a:ext cx="1161288" cy="3017520"/>
          </a:xfrm>
          <a:prstGeom prst="roundRect">
            <a:avLst>
              <a:gd fmla="val 78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3" name="Google Shape;2143;p47"/>
          <p:cNvSpPr/>
          <p:nvPr/>
        </p:nvSpPr>
        <p:spPr>
          <a:xfrm>
            <a:off x="7612380" y="1691640"/>
            <a:ext cx="1161288" cy="457200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p47"/>
          <p:cNvSpPr/>
          <p:nvPr/>
        </p:nvSpPr>
        <p:spPr>
          <a:xfrm>
            <a:off x="7612380" y="1691640"/>
            <a:ext cx="11612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47"/>
          <p:cNvSpPr/>
          <p:nvPr/>
        </p:nvSpPr>
        <p:spPr>
          <a:xfrm>
            <a:off x="7964424" y="2286000"/>
            <a:ext cx="457200" cy="457200"/>
          </a:xfrm>
          <a:prstGeom prst="ellipse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46" name="Google Shape;21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7294" y="23888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2147" name="Google Shape;2147;p47"/>
          <p:cNvSpPr/>
          <p:nvPr/>
        </p:nvSpPr>
        <p:spPr>
          <a:xfrm>
            <a:off x="7658100" y="2834640"/>
            <a:ext cx="10698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Report &amp; reflect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8" name="Google Shape;2148;p47"/>
          <p:cNvSpPr/>
          <p:nvPr/>
        </p:nvSpPr>
        <p:spPr>
          <a:xfrm>
            <a:off x="7685532" y="3383280"/>
            <a:ext cx="101498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Send progress summary, raise blockers, plan week 2.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47"/>
          <p:cNvSpPr/>
          <p:nvPr/>
        </p:nvSpPr>
        <p:spPr>
          <a:xfrm>
            <a:off x="365760" y="4846320"/>
            <a:ext cx="8412480" cy="0"/>
          </a:xfrm>
          <a:prstGeom prst="roundRect">
            <a:avLst>
              <a:gd fmla="val 16667" name="adj"/>
            </a:avLst>
          </a:prstGeom>
          <a:solidFill>
            <a:srgbClr val="0F5132"/>
          </a:solidFill>
          <a:ln cap="flat" cmpd="sng" w="9525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47"/>
          <p:cNvSpPr/>
          <p:nvPr/>
        </p:nvSpPr>
        <p:spPr>
          <a:xfrm>
            <a:off x="365760" y="4754880"/>
            <a:ext cx="841248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Goal by end of week 1: 5 quality listings submitted, 3 approved, 0 fraud incidents.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1" name="Google Shape;2151;p47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47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3" name="Google Shape;2153;p47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13 · Launch &amp; Final Checks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4" name="Google Shape;2154;p47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45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48"/>
          <p:cNvSpPr/>
          <p:nvPr/>
        </p:nvSpPr>
        <p:spPr>
          <a:xfrm>
            <a:off x="365760" y="292608"/>
            <a:ext cx="891540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48"/>
          <p:cNvSpPr/>
          <p:nvPr/>
        </p:nvSpPr>
        <p:spPr>
          <a:xfrm>
            <a:off x="365760" y="292608"/>
            <a:ext cx="8915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 · LAUNCH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p48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Daily checklist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3" name="Google Shape;2163;p48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Three windows in your day. Don't skip any of them.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4" name="Google Shape;2164;p48"/>
          <p:cNvSpPr/>
          <p:nvPr/>
        </p:nvSpPr>
        <p:spPr>
          <a:xfrm>
            <a:off x="406908" y="1691640"/>
            <a:ext cx="2697480" cy="315468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48"/>
          <p:cNvSpPr/>
          <p:nvPr/>
        </p:nvSpPr>
        <p:spPr>
          <a:xfrm>
            <a:off x="406908" y="1691640"/>
            <a:ext cx="2697480" cy="411480"/>
          </a:xfrm>
          <a:prstGeom prst="rect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48"/>
          <p:cNvSpPr/>
          <p:nvPr/>
        </p:nvSpPr>
        <p:spPr>
          <a:xfrm>
            <a:off x="406908" y="169164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FIELD WORK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48"/>
          <p:cNvSpPr/>
          <p:nvPr/>
        </p:nvSpPr>
        <p:spPr>
          <a:xfrm>
            <a:off x="544068" y="228600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48"/>
          <p:cNvSpPr/>
          <p:nvPr/>
        </p:nvSpPr>
        <p:spPr>
          <a:xfrm>
            <a:off x="909828" y="224942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Phone fully charged + power bank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48"/>
          <p:cNvSpPr/>
          <p:nvPr/>
        </p:nvSpPr>
        <p:spPr>
          <a:xfrm>
            <a:off x="544068" y="278892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48"/>
          <p:cNvSpPr/>
          <p:nvPr/>
        </p:nvSpPr>
        <p:spPr>
          <a:xfrm>
            <a:off x="909828" y="275234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Mobile data bundle topped 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48"/>
          <p:cNvSpPr/>
          <p:nvPr/>
        </p:nvSpPr>
        <p:spPr>
          <a:xfrm>
            <a:off x="544068" y="329184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48"/>
          <p:cNvSpPr/>
          <p:nvPr/>
        </p:nvSpPr>
        <p:spPr>
          <a:xfrm>
            <a:off x="909828" y="325526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WhatsApp &amp; MakaUg account ready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48"/>
          <p:cNvSpPr/>
          <p:nvPr/>
        </p:nvSpPr>
        <p:spPr>
          <a:xfrm>
            <a:off x="544068" y="379476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48"/>
          <p:cNvSpPr/>
          <p:nvPr/>
        </p:nvSpPr>
        <p:spPr>
          <a:xfrm>
            <a:off x="909828" y="375818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Photo and pin checklists printed/saved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48"/>
          <p:cNvSpPr/>
          <p:nvPr/>
        </p:nvSpPr>
        <p:spPr>
          <a:xfrm>
            <a:off x="544068" y="429768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48"/>
          <p:cNvSpPr/>
          <p:nvPr/>
        </p:nvSpPr>
        <p:spPr>
          <a:xfrm>
            <a:off x="909828" y="426110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Personal safety check &amp; route shared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48"/>
          <p:cNvSpPr/>
          <p:nvPr/>
        </p:nvSpPr>
        <p:spPr>
          <a:xfrm>
            <a:off x="3223260" y="1691640"/>
            <a:ext cx="2697480" cy="315468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48"/>
          <p:cNvSpPr/>
          <p:nvPr/>
        </p:nvSpPr>
        <p:spPr>
          <a:xfrm>
            <a:off x="3223260" y="1691640"/>
            <a:ext cx="2697480" cy="411480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48"/>
          <p:cNvSpPr/>
          <p:nvPr/>
        </p:nvSpPr>
        <p:spPr>
          <a:xfrm>
            <a:off x="3223260" y="169164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DURING FIELD WORK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0" name="Google Shape;2180;p48"/>
          <p:cNvSpPr/>
          <p:nvPr/>
        </p:nvSpPr>
        <p:spPr>
          <a:xfrm>
            <a:off x="3360420" y="228600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48"/>
          <p:cNvSpPr/>
          <p:nvPr/>
        </p:nvSpPr>
        <p:spPr>
          <a:xfrm>
            <a:off x="3726180" y="224942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Confirm owner / broker identity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2" name="Google Shape;2182;p48"/>
          <p:cNvSpPr/>
          <p:nvPr/>
        </p:nvSpPr>
        <p:spPr>
          <a:xfrm>
            <a:off x="3360420" y="278892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3" name="Google Shape;2183;p48"/>
          <p:cNvSpPr/>
          <p:nvPr/>
        </p:nvSpPr>
        <p:spPr>
          <a:xfrm>
            <a:off x="3726180" y="275234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Capture title, location, photos, details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4" name="Google Shape;2184;p48"/>
          <p:cNvSpPr/>
          <p:nvPr/>
        </p:nvSpPr>
        <p:spPr>
          <a:xfrm>
            <a:off x="3360420" y="329184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5" name="Google Shape;2185;p48"/>
          <p:cNvSpPr/>
          <p:nvPr/>
        </p:nvSpPr>
        <p:spPr>
          <a:xfrm>
            <a:off x="3726180" y="325526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Verify contact via OTP on the spot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6" name="Google Shape;2186;p48"/>
          <p:cNvSpPr/>
          <p:nvPr/>
        </p:nvSpPr>
        <p:spPr>
          <a:xfrm>
            <a:off x="3360420" y="379476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48"/>
          <p:cNvSpPr/>
          <p:nvPr/>
        </p:nvSpPr>
        <p:spPr>
          <a:xfrm>
            <a:off x="3726180" y="375818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Run the fraud red-flag check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8" name="Google Shape;2188;p48"/>
          <p:cNvSpPr/>
          <p:nvPr/>
        </p:nvSpPr>
        <p:spPr>
          <a:xfrm>
            <a:off x="3360420" y="429768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48"/>
          <p:cNvSpPr/>
          <p:nvPr/>
        </p:nvSpPr>
        <p:spPr>
          <a:xfrm>
            <a:off x="3726180" y="426110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Submit carefully and save reference number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0" name="Google Shape;2190;p48"/>
          <p:cNvSpPr/>
          <p:nvPr/>
        </p:nvSpPr>
        <p:spPr>
          <a:xfrm>
            <a:off x="6039612" y="1691640"/>
            <a:ext cx="2697480" cy="315468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1" name="Google Shape;2191;p48"/>
          <p:cNvSpPr/>
          <p:nvPr/>
        </p:nvSpPr>
        <p:spPr>
          <a:xfrm>
            <a:off x="6039612" y="1691640"/>
            <a:ext cx="2697480" cy="411480"/>
          </a:xfrm>
          <a:prstGeom prst="rect">
            <a:avLst/>
          </a:prstGeom>
          <a:solidFill>
            <a:srgbClr val="047857"/>
          </a:solidFill>
          <a:ln cap="flat" cmpd="sng" w="127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48"/>
          <p:cNvSpPr/>
          <p:nvPr/>
        </p:nvSpPr>
        <p:spPr>
          <a:xfrm>
            <a:off x="6039612" y="169164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AFTER FIELD WORK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3" name="Google Shape;2193;p48"/>
          <p:cNvSpPr/>
          <p:nvPr/>
        </p:nvSpPr>
        <p:spPr>
          <a:xfrm>
            <a:off x="6176772" y="228600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p48"/>
          <p:cNvSpPr/>
          <p:nvPr/>
        </p:nvSpPr>
        <p:spPr>
          <a:xfrm>
            <a:off x="6542532" y="224942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Open dashboard, check for admin notes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48"/>
          <p:cNvSpPr/>
          <p:nvPr/>
        </p:nvSpPr>
        <p:spPr>
          <a:xfrm>
            <a:off x="6176772" y="278892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48"/>
          <p:cNvSpPr/>
          <p:nvPr/>
        </p:nvSpPr>
        <p:spPr>
          <a:xfrm>
            <a:off x="6542532" y="275234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Reply to feedback within 24 hours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48"/>
          <p:cNvSpPr/>
          <p:nvPr/>
        </p:nvSpPr>
        <p:spPr>
          <a:xfrm>
            <a:off x="6176772" y="329184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8" name="Google Shape;2198;p48"/>
          <p:cNvSpPr/>
          <p:nvPr/>
        </p:nvSpPr>
        <p:spPr>
          <a:xfrm>
            <a:off x="6542532" y="325526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Fix and resubmit any rejected listings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9" name="Google Shape;2199;p48"/>
          <p:cNvSpPr/>
          <p:nvPr/>
        </p:nvSpPr>
        <p:spPr>
          <a:xfrm>
            <a:off x="6176772" y="379476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0" name="Google Shape;2200;p48"/>
          <p:cNvSpPr/>
          <p:nvPr/>
        </p:nvSpPr>
        <p:spPr>
          <a:xfrm>
            <a:off x="6542532" y="375818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Update status of leads and viewings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1" name="Google Shape;2201;p48"/>
          <p:cNvSpPr/>
          <p:nvPr/>
        </p:nvSpPr>
        <p:spPr>
          <a:xfrm>
            <a:off x="6176772" y="429768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905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2" name="Google Shape;2202;p48"/>
          <p:cNvSpPr/>
          <p:nvPr/>
        </p:nvSpPr>
        <p:spPr>
          <a:xfrm>
            <a:off x="6542532" y="426110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Plan tomorrow's visits and routes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3" name="Google Shape;2203;p48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p48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5" name="Google Shape;2205;p48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13 · Launch &amp; Final Checks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6" name="Google Shape;2206;p48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46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49"/>
          <p:cNvSpPr/>
          <p:nvPr/>
        </p:nvSpPr>
        <p:spPr>
          <a:xfrm>
            <a:off x="365760" y="292608"/>
            <a:ext cx="891540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p49"/>
          <p:cNvSpPr/>
          <p:nvPr/>
        </p:nvSpPr>
        <p:spPr>
          <a:xfrm>
            <a:off x="365760" y="292608"/>
            <a:ext cx="8915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 · LAUNCH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4" name="Google Shape;2214;p49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Final pre-submit checklist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5" name="Google Shape;2215;p49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Run through these 9 items before clicking Submit. Every time.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6" name="Google Shape;2216;p49"/>
          <p:cNvSpPr/>
          <p:nvPr/>
        </p:nvSpPr>
        <p:spPr>
          <a:xfrm>
            <a:off x="406908" y="1691640"/>
            <a:ext cx="2697480" cy="777240"/>
          </a:xfrm>
          <a:prstGeom prst="roundRect">
            <a:avLst>
              <a:gd fmla="val 11765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49"/>
          <p:cNvSpPr/>
          <p:nvPr/>
        </p:nvSpPr>
        <p:spPr>
          <a:xfrm>
            <a:off x="571500" y="1892808"/>
            <a:ext cx="384048" cy="38404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8" name="Google Shape;2218;p49"/>
          <p:cNvSpPr/>
          <p:nvPr/>
        </p:nvSpPr>
        <p:spPr>
          <a:xfrm>
            <a:off x="571500" y="18928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9" name="Google Shape;2219;p49"/>
          <p:cNvSpPr/>
          <p:nvPr/>
        </p:nvSpPr>
        <p:spPr>
          <a:xfrm>
            <a:off x="1046988" y="169164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Title is clear, specific, and factual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49"/>
          <p:cNvSpPr/>
          <p:nvPr/>
        </p:nvSpPr>
        <p:spPr>
          <a:xfrm>
            <a:off x="3223260" y="1691640"/>
            <a:ext cx="2697480" cy="777240"/>
          </a:xfrm>
          <a:prstGeom prst="roundRect">
            <a:avLst>
              <a:gd fmla="val 11765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49"/>
          <p:cNvSpPr/>
          <p:nvPr/>
        </p:nvSpPr>
        <p:spPr>
          <a:xfrm>
            <a:off x="3387852" y="1892808"/>
            <a:ext cx="384048" cy="38404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2" name="Google Shape;2222;p49"/>
          <p:cNvSpPr/>
          <p:nvPr/>
        </p:nvSpPr>
        <p:spPr>
          <a:xfrm>
            <a:off x="3387852" y="18928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3" name="Google Shape;2223;p49"/>
          <p:cNvSpPr/>
          <p:nvPr/>
        </p:nvSpPr>
        <p:spPr>
          <a:xfrm>
            <a:off x="3863340" y="169164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Location confirmed on map + with owner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4" name="Google Shape;2224;p49"/>
          <p:cNvSpPr/>
          <p:nvPr/>
        </p:nvSpPr>
        <p:spPr>
          <a:xfrm>
            <a:off x="6039612" y="1691640"/>
            <a:ext cx="2697480" cy="777240"/>
          </a:xfrm>
          <a:prstGeom prst="roundRect">
            <a:avLst>
              <a:gd fmla="val 11765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5" name="Google Shape;2225;p49"/>
          <p:cNvSpPr/>
          <p:nvPr/>
        </p:nvSpPr>
        <p:spPr>
          <a:xfrm>
            <a:off x="6204204" y="1892808"/>
            <a:ext cx="384048" cy="38404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6" name="Google Shape;2226;p49"/>
          <p:cNvSpPr/>
          <p:nvPr/>
        </p:nvSpPr>
        <p:spPr>
          <a:xfrm>
            <a:off x="6204204" y="18928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7" name="Google Shape;2227;p49"/>
          <p:cNvSpPr/>
          <p:nvPr/>
        </p:nvSpPr>
        <p:spPr>
          <a:xfrm>
            <a:off x="6679692" y="169164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Price is realistic for the area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8" name="Google Shape;2228;p49"/>
          <p:cNvSpPr/>
          <p:nvPr/>
        </p:nvSpPr>
        <p:spPr>
          <a:xfrm>
            <a:off x="406908" y="2587752"/>
            <a:ext cx="2697480" cy="777240"/>
          </a:xfrm>
          <a:prstGeom prst="roundRect">
            <a:avLst>
              <a:gd fmla="val 11765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9" name="Google Shape;2229;p49"/>
          <p:cNvSpPr/>
          <p:nvPr/>
        </p:nvSpPr>
        <p:spPr>
          <a:xfrm>
            <a:off x="571500" y="2788920"/>
            <a:ext cx="384048" cy="38404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0" name="Google Shape;2230;p49"/>
          <p:cNvSpPr/>
          <p:nvPr/>
        </p:nvSpPr>
        <p:spPr>
          <a:xfrm>
            <a:off x="571500" y="2788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1" name="Google Shape;2231;p49"/>
          <p:cNvSpPr/>
          <p:nvPr/>
        </p:nvSpPr>
        <p:spPr>
          <a:xfrm>
            <a:off x="1046988" y="2587752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5+ photos uploaded and reviewed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2" name="Google Shape;2232;p49"/>
          <p:cNvSpPr/>
          <p:nvPr/>
        </p:nvSpPr>
        <p:spPr>
          <a:xfrm>
            <a:off x="3223260" y="2587752"/>
            <a:ext cx="2697480" cy="777240"/>
          </a:xfrm>
          <a:prstGeom prst="roundRect">
            <a:avLst>
              <a:gd fmla="val 11765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3" name="Google Shape;2233;p49"/>
          <p:cNvSpPr/>
          <p:nvPr/>
        </p:nvSpPr>
        <p:spPr>
          <a:xfrm>
            <a:off x="3387852" y="2788920"/>
            <a:ext cx="384048" cy="38404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4" name="Google Shape;2234;p49"/>
          <p:cNvSpPr/>
          <p:nvPr/>
        </p:nvSpPr>
        <p:spPr>
          <a:xfrm>
            <a:off x="3387852" y="2788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5" name="Google Shape;2235;p49"/>
          <p:cNvSpPr/>
          <p:nvPr/>
        </p:nvSpPr>
        <p:spPr>
          <a:xfrm>
            <a:off x="3863340" y="2587752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Description covers the 10 elements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6" name="Google Shape;2236;p49"/>
          <p:cNvSpPr/>
          <p:nvPr/>
        </p:nvSpPr>
        <p:spPr>
          <a:xfrm>
            <a:off x="6039612" y="2587752"/>
            <a:ext cx="2697480" cy="777240"/>
          </a:xfrm>
          <a:prstGeom prst="roundRect">
            <a:avLst>
              <a:gd fmla="val 11765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49"/>
          <p:cNvSpPr/>
          <p:nvPr/>
        </p:nvSpPr>
        <p:spPr>
          <a:xfrm>
            <a:off x="6204204" y="2788920"/>
            <a:ext cx="384048" cy="38404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49"/>
          <p:cNvSpPr/>
          <p:nvPr/>
        </p:nvSpPr>
        <p:spPr>
          <a:xfrm>
            <a:off x="6204204" y="2788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9" name="Google Shape;2239;p49"/>
          <p:cNvSpPr/>
          <p:nvPr/>
        </p:nvSpPr>
        <p:spPr>
          <a:xfrm>
            <a:off x="6679692" y="2587752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Contact verified via OTP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0" name="Google Shape;2240;p49"/>
          <p:cNvSpPr/>
          <p:nvPr/>
        </p:nvSpPr>
        <p:spPr>
          <a:xfrm>
            <a:off x="406908" y="3483864"/>
            <a:ext cx="2697480" cy="777240"/>
          </a:xfrm>
          <a:prstGeom prst="roundRect">
            <a:avLst>
              <a:gd fmla="val 11765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p49"/>
          <p:cNvSpPr/>
          <p:nvPr/>
        </p:nvSpPr>
        <p:spPr>
          <a:xfrm>
            <a:off x="571500" y="3685032"/>
            <a:ext cx="384048" cy="38404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2" name="Google Shape;2242;p49"/>
          <p:cNvSpPr/>
          <p:nvPr/>
        </p:nvSpPr>
        <p:spPr>
          <a:xfrm>
            <a:off x="571500" y="36850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3" name="Google Shape;2243;p49"/>
          <p:cNvSpPr/>
          <p:nvPr/>
        </p:nvSpPr>
        <p:spPr>
          <a:xfrm>
            <a:off x="1046988" y="3483864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ID / NIN added where required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4" name="Google Shape;2244;p49"/>
          <p:cNvSpPr/>
          <p:nvPr/>
        </p:nvSpPr>
        <p:spPr>
          <a:xfrm>
            <a:off x="3223260" y="3483864"/>
            <a:ext cx="2697480" cy="777240"/>
          </a:xfrm>
          <a:prstGeom prst="roundRect">
            <a:avLst>
              <a:gd fmla="val 11765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5" name="Google Shape;2245;p49"/>
          <p:cNvSpPr/>
          <p:nvPr/>
        </p:nvSpPr>
        <p:spPr>
          <a:xfrm>
            <a:off x="3387852" y="3685032"/>
            <a:ext cx="384048" cy="38404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6" name="Google Shape;2246;p49"/>
          <p:cNvSpPr/>
          <p:nvPr/>
        </p:nvSpPr>
        <p:spPr>
          <a:xfrm>
            <a:off x="3387852" y="36850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7" name="Google Shape;2247;p49"/>
          <p:cNvSpPr/>
          <p:nvPr/>
        </p:nvSpPr>
        <p:spPr>
          <a:xfrm>
            <a:off x="3863340" y="3483864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Viewing or callback preference captured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8" name="Google Shape;2248;p49"/>
          <p:cNvSpPr/>
          <p:nvPr/>
        </p:nvSpPr>
        <p:spPr>
          <a:xfrm>
            <a:off x="6039612" y="3483864"/>
            <a:ext cx="2697480" cy="777240"/>
          </a:xfrm>
          <a:prstGeom prst="roundRect">
            <a:avLst>
              <a:gd fmla="val 11765" name="adj"/>
            </a:avLst>
          </a:prstGeom>
          <a:solidFill>
            <a:srgbClr val="ECF9F1"/>
          </a:solidFill>
          <a:ln cap="flat" cmpd="sng" w="9525">
            <a:solidFill>
              <a:srgbClr val="B7E1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9" name="Google Shape;2249;p49"/>
          <p:cNvSpPr/>
          <p:nvPr/>
        </p:nvSpPr>
        <p:spPr>
          <a:xfrm>
            <a:off x="6204204" y="3685032"/>
            <a:ext cx="384048" cy="384048"/>
          </a:xfrm>
          <a:prstGeom prst="ellipse">
            <a:avLst/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0" name="Google Shape;2250;p49"/>
          <p:cNvSpPr/>
          <p:nvPr/>
        </p:nvSpPr>
        <p:spPr>
          <a:xfrm>
            <a:off x="6204204" y="36850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1" name="Google Shape;2251;p49"/>
          <p:cNvSpPr/>
          <p:nvPr/>
        </p:nvSpPr>
        <p:spPr>
          <a:xfrm>
            <a:off x="6679692" y="3483864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Fraud red flags rechecked — none present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2" name="Google Shape;2252;p49"/>
          <p:cNvSpPr/>
          <p:nvPr/>
        </p:nvSpPr>
        <p:spPr>
          <a:xfrm>
            <a:off x="365760" y="4297680"/>
            <a:ext cx="8412480" cy="502920"/>
          </a:xfrm>
          <a:prstGeom prst="roundRect">
            <a:avLst>
              <a:gd fmla="val 18182" name="adj"/>
            </a:avLst>
          </a:prstGeom>
          <a:solidFill>
            <a:srgbClr val="0F5132"/>
          </a:solidFill>
          <a:ln cap="flat" cmpd="sng" w="9525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3" name="Google Shape;2253;p49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If even one of these is missing — DO NOT SUBMIT. Fix it first.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p49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5" name="Google Shape;2255;p49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49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13 · Launch &amp; Final Checks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49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47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50"/>
          <p:cNvSpPr/>
          <p:nvPr/>
        </p:nvSpPr>
        <p:spPr>
          <a:xfrm>
            <a:off x="365760" y="292608"/>
            <a:ext cx="891540" cy="256032"/>
          </a:xfrm>
          <a:prstGeom prst="roundRect">
            <a:avLst>
              <a:gd fmla="val 14286" name="adj"/>
            </a:avLst>
          </a:prstGeom>
          <a:solidFill>
            <a:srgbClr val="0F5132"/>
          </a:solidFill>
          <a:ln cap="flat" cmpd="sng" w="1270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50"/>
          <p:cNvSpPr/>
          <p:nvPr/>
        </p:nvSpPr>
        <p:spPr>
          <a:xfrm>
            <a:off x="365760" y="292608"/>
            <a:ext cx="8915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 · LAUNCH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5" name="Google Shape;2265;p50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Quick knowledge check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6" name="Google Shape;2266;p50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10 questions. Answer in your own words. Trainer will review.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50"/>
          <p:cNvSpPr/>
          <p:nvPr/>
        </p:nvSpPr>
        <p:spPr>
          <a:xfrm>
            <a:off x="365760" y="1691640"/>
            <a:ext cx="406908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50"/>
          <p:cNvSpPr/>
          <p:nvPr/>
        </p:nvSpPr>
        <p:spPr>
          <a:xfrm>
            <a:off x="365760" y="1691640"/>
            <a:ext cx="457200" cy="548640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p50"/>
          <p:cNvSpPr/>
          <p:nvPr/>
        </p:nvSpPr>
        <p:spPr>
          <a:xfrm>
            <a:off x="365760" y="169164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0" name="Google Shape;2270;p50"/>
          <p:cNvSpPr/>
          <p:nvPr/>
        </p:nvSpPr>
        <p:spPr>
          <a:xfrm>
            <a:off x="960120" y="169164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What is a Field Agent?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50"/>
          <p:cNvSpPr/>
          <p:nvPr/>
        </p:nvSpPr>
        <p:spPr>
          <a:xfrm>
            <a:off x="4617720" y="1691640"/>
            <a:ext cx="406908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50"/>
          <p:cNvSpPr/>
          <p:nvPr/>
        </p:nvSpPr>
        <p:spPr>
          <a:xfrm>
            <a:off x="4617720" y="1691640"/>
            <a:ext cx="457200" cy="548640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3" name="Google Shape;2273;p50"/>
          <p:cNvSpPr/>
          <p:nvPr/>
        </p:nvSpPr>
        <p:spPr>
          <a:xfrm>
            <a:off x="4617720" y="169164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4" name="Google Shape;2274;p50"/>
          <p:cNvSpPr/>
          <p:nvPr/>
        </p:nvSpPr>
        <p:spPr>
          <a:xfrm>
            <a:off x="5212080" y="169164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What should you do if location is unclear?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50"/>
          <p:cNvSpPr/>
          <p:nvPr/>
        </p:nvSpPr>
        <p:spPr>
          <a:xfrm>
            <a:off x="365760" y="2331720"/>
            <a:ext cx="406908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50"/>
          <p:cNvSpPr/>
          <p:nvPr/>
        </p:nvSpPr>
        <p:spPr>
          <a:xfrm>
            <a:off x="365760" y="2331720"/>
            <a:ext cx="457200" cy="548640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7" name="Google Shape;2277;p50"/>
          <p:cNvSpPr/>
          <p:nvPr/>
        </p:nvSpPr>
        <p:spPr>
          <a:xfrm>
            <a:off x="365760" y="233172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p50"/>
          <p:cNvSpPr/>
          <p:nvPr/>
        </p:nvSpPr>
        <p:spPr>
          <a:xfrm>
            <a:off x="960120" y="233172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Should you collect cash from customers?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9" name="Google Shape;2279;p50"/>
          <p:cNvSpPr/>
          <p:nvPr/>
        </p:nvSpPr>
        <p:spPr>
          <a:xfrm>
            <a:off x="4617720" y="2331720"/>
            <a:ext cx="406908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p50"/>
          <p:cNvSpPr/>
          <p:nvPr/>
        </p:nvSpPr>
        <p:spPr>
          <a:xfrm>
            <a:off x="4617720" y="2331720"/>
            <a:ext cx="457200" cy="548640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1" name="Google Shape;2281;p50"/>
          <p:cNvSpPr/>
          <p:nvPr/>
        </p:nvSpPr>
        <p:spPr>
          <a:xfrm>
            <a:off x="4617720" y="233172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2" name="Google Shape;2282;p50"/>
          <p:cNvSpPr/>
          <p:nvPr/>
        </p:nvSpPr>
        <p:spPr>
          <a:xfrm>
            <a:off x="5212080" y="233172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How many photos should you aim for?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3" name="Google Shape;2283;p50"/>
          <p:cNvSpPr/>
          <p:nvPr/>
        </p:nvSpPr>
        <p:spPr>
          <a:xfrm>
            <a:off x="365760" y="2971800"/>
            <a:ext cx="406908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p50"/>
          <p:cNvSpPr/>
          <p:nvPr/>
        </p:nvSpPr>
        <p:spPr>
          <a:xfrm>
            <a:off x="365760" y="2971800"/>
            <a:ext cx="457200" cy="548640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5" name="Google Shape;2285;p50"/>
          <p:cNvSpPr/>
          <p:nvPr/>
        </p:nvSpPr>
        <p:spPr>
          <a:xfrm>
            <a:off x="365760" y="29718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6" name="Google Shape;2286;p50"/>
          <p:cNvSpPr/>
          <p:nvPr/>
        </p:nvSpPr>
        <p:spPr>
          <a:xfrm>
            <a:off x="960120" y="297180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What does OTP help verify?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7" name="Google Shape;2287;p50"/>
          <p:cNvSpPr/>
          <p:nvPr/>
        </p:nvSpPr>
        <p:spPr>
          <a:xfrm>
            <a:off x="4617720" y="2971800"/>
            <a:ext cx="406908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50"/>
          <p:cNvSpPr/>
          <p:nvPr/>
        </p:nvSpPr>
        <p:spPr>
          <a:xfrm>
            <a:off x="4617720" y="2971800"/>
            <a:ext cx="457200" cy="548640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9" name="Google Shape;2289;p50"/>
          <p:cNvSpPr/>
          <p:nvPr/>
        </p:nvSpPr>
        <p:spPr>
          <a:xfrm>
            <a:off x="4617720" y="29718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0" name="Google Shape;2290;p50"/>
          <p:cNvSpPr/>
          <p:nvPr/>
        </p:nvSpPr>
        <p:spPr>
          <a:xfrm>
            <a:off x="5212080" y="297180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When should you report fraud?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1" name="Google Shape;2291;p50"/>
          <p:cNvSpPr/>
          <p:nvPr/>
        </p:nvSpPr>
        <p:spPr>
          <a:xfrm>
            <a:off x="365760" y="3611880"/>
            <a:ext cx="406908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50"/>
          <p:cNvSpPr/>
          <p:nvPr/>
        </p:nvSpPr>
        <p:spPr>
          <a:xfrm>
            <a:off x="365760" y="3611880"/>
            <a:ext cx="457200" cy="548640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50"/>
          <p:cNvSpPr/>
          <p:nvPr/>
        </p:nvSpPr>
        <p:spPr>
          <a:xfrm>
            <a:off x="365760" y="361188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4" name="Google Shape;2294;p50"/>
          <p:cNvSpPr/>
          <p:nvPr/>
        </p:nvSpPr>
        <p:spPr>
          <a:xfrm>
            <a:off x="960120" y="361188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What does "Field Agent assisted" mean?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5" name="Google Shape;2295;p50"/>
          <p:cNvSpPr/>
          <p:nvPr/>
        </p:nvSpPr>
        <p:spPr>
          <a:xfrm>
            <a:off x="4617720" y="3611880"/>
            <a:ext cx="406908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50"/>
          <p:cNvSpPr/>
          <p:nvPr/>
        </p:nvSpPr>
        <p:spPr>
          <a:xfrm>
            <a:off x="4617720" y="3611880"/>
            <a:ext cx="457200" cy="548640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p50"/>
          <p:cNvSpPr/>
          <p:nvPr/>
        </p:nvSpPr>
        <p:spPr>
          <a:xfrm>
            <a:off x="4617720" y="361188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8" name="Google Shape;2298;p50"/>
          <p:cNvSpPr/>
          <p:nvPr/>
        </p:nvSpPr>
        <p:spPr>
          <a:xfrm>
            <a:off x="5212080" y="361188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What should you do if the land title is unclear?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9" name="Google Shape;2299;p50"/>
          <p:cNvSpPr/>
          <p:nvPr/>
        </p:nvSpPr>
        <p:spPr>
          <a:xfrm>
            <a:off x="365760" y="4251960"/>
            <a:ext cx="406908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50"/>
          <p:cNvSpPr/>
          <p:nvPr/>
        </p:nvSpPr>
        <p:spPr>
          <a:xfrm>
            <a:off x="365760" y="4251960"/>
            <a:ext cx="457200" cy="548640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1" name="Google Shape;2301;p50"/>
          <p:cNvSpPr/>
          <p:nvPr/>
        </p:nvSpPr>
        <p:spPr>
          <a:xfrm>
            <a:off x="365760" y="42519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2" name="Google Shape;2302;p50"/>
          <p:cNvSpPr/>
          <p:nvPr/>
        </p:nvSpPr>
        <p:spPr>
          <a:xfrm>
            <a:off x="960120" y="425196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What are the two ways to list a property?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3" name="Google Shape;2303;p50"/>
          <p:cNvSpPr/>
          <p:nvPr/>
        </p:nvSpPr>
        <p:spPr>
          <a:xfrm>
            <a:off x="4617720" y="4251960"/>
            <a:ext cx="406908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4" name="Google Shape;2304;p50"/>
          <p:cNvSpPr/>
          <p:nvPr/>
        </p:nvSpPr>
        <p:spPr>
          <a:xfrm>
            <a:off x="4617720" y="4251960"/>
            <a:ext cx="457200" cy="548640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50"/>
          <p:cNvSpPr/>
          <p:nvPr/>
        </p:nvSpPr>
        <p:spPr>
          <a:xfrm>
            <a:off x="4617720" y="42519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50"/>
          <p:cNvSpPr/>
          <p:nvPr/>
        </p:nvSpPr>
        <p:spPr>
          <a:xfrm>
            <a:off x="5212080" y="425196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Why is accurate location important?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7" name="Google Shape;2307;p50"/>
          <p:cNvSpPr/>
          <p:nvPr/>
        </p:nvSpPr>
        <p:spPr>
          <a:xfrm>
            <a:off x="0" y="4983480"/>
            <a:ext cx="9144000" cy="457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50"/>
          <p:cNvSpPr/>
          <p:nvPr/>
        </p:nvSpPr>
        <p:spPr>
          <a:xfrm>
            <a:off x="365760" y="499262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p50"/>
          <p:cNvSpPr/>
          <p:nvPr/>
        </p:nvSpPr>
        <p:spPr>
          <a:xfrm>
            <a:off x="4023360" y="4992624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Section 13 · Launch &amp; Final Checks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0" name="Google Shape;2310;p50"/>
          <p:cNvSpPr/>
          <p:nvPr/>
        </p:nvSpPr>
        <p:spPr>
          <a:xfrm>
            <a:off x="7955280" y="499262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48 / 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5132"/>
        </a:solidFill>
      </p:bgPr>
    </p:bg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p5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A7A4C"/>
          </a:solidFill>
          <a:ln cap="flat" cmpd="sng" w="12700">
            <a:solidFill>
              <a:srgbClr val="1A7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p51"/>
          <p:cNvSpPr/>
          <p:nvPr/>
        </p:nvSpPr>
        <p:spPr>
          <a:xfrm>
            <a:off x="7315200" y="3657600"/>
            <a:ext cx="3657600" cy="3657600"/>
          </a:xfrm>
          <a:prstGeom prst="ellipse">
            <a:avLst/>
          </a:prstGeom>
          <a:solidFill>
            <a:srgbClr val="E8A02C">
              <a:alpha val="70196"/>
            </a:srgbClr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8" name="Google Shape;2318;p51"/>
          <p:cNvSpPr/>
          <p:nvPr/>
        </p:nvSpPr>
        <p:spPr>
          <a:xfrm>
            <a:off x="914400" y="640080"/>
            <a:ext cx="7315200" cy="4023360"/>
          </a:xfrm>
          <a:prstGeom prst="roundRect">
            <a:avLst>
              <a:gd fmla="val 2273" name="adj"/>
            </a:avLst>
          </a:prstGeom>
          <a:solidFill>
            <a:srgbClr val="FFFFFF"/>
          </a:solidFill>
          <a:ln cap="flat" cmpd="sng" w="9525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51"/>
          <p:cNvSpPr/>
          <p:nvPr/>
        </p:nvSpPr>
        <p:spPr>
          <a:xfrm>
            <a:off x="914400" y="640080"/>
            <a:ext cx="7315200" cy="137160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51"/>
          <p:cNvSpPr/>
          <p:nvPr/>
        </p:nvSpPr>
        <p:spPr>
          <a:xfrm>
            <a:off x="914400" y="4526280"/>
            <a:ext cx="7315200" cy="137160"/>
          </a:xfrm>
          <a:prstGeom prst="rect">
            <a:avLst/>
          </a:prstGeom>
          <a:solidFill>
            <a:srgbClr val="E8A02C"/>
          </a:solidFill>
          <a:ln cap="flat" cmpd="sng" w="12700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51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02C"/>
                </a:solidFill>
                <a:latin typeface="Calibri"/>
                <a:ea typeface="Calibri"/>
                <a:cs typeface="Calibri"/>
                <a:sym typeface="Calibri"/>
              </a:rPr>
              <a:t>CERTIFICATE OF COMPLETION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2" name="Google Shape;2322;p51"/>
          <p:cNvSpPr/>
          <p:nvPr/>
        </p:nvSpPr>
        <p:spPr>
          <a:xfrm>
            <a:off x="914400" y="1371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MakaUg Field Agent Training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3" name="Google Shape;2323;p51"/>
          <p:cNvSpPr/>
          <p:nvPr/>
        </p:nvSpPr>
        <p:spPr>
          <a:xfrm>
            <a:off x="1371600" y="19659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This is to confirm that I understand the MakaUg Field Agent role,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listing process, verification standards, safety rules,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and my data protection responsibilities.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4" name="Google Shape;2324;p51"/>
          <p:cNvCxnSpPr/>
          <p:nvPr/>
        </p:nvCxnSpPr>
        <p:spPr>
          <a:xfrm>
            <a:off x="1280160" y="3840480"/>
            <a:ext cx="1828800" cy="0"/>
          </a:xfrm>
          <a:prstGeom prst="straightConnector1">
            <a:avLst/>
          </a:prstGeom>
          <a:noFill/>
          <a:ln cap="flat" cmpd="sng" w="1905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5" name="Google Shape;2325;p51"/>
          <p:cNvSpPr/>
          <p:nvPr/>
        </p:nvSpPr>
        <p:spPr>
          <a:xfrm>
            <a:off x="1280160" y="3886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Field Agent 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6" name="Google Shape;2326;p51"/>
          <p:cNvCxnSpPr/>
          <p:nvPr/>
        </p:nvCxnSpPr>
        <p:spPr>
          <a:xfrm>
            <a:off x="3657600" y="3840480"/>
            <a:ext cx="1828800" cy="0"/>
          </a:xfrm>
          <a:prstGeom prst="straightConnector1">
            <a:avLst/>
          </a:prstGeom>
          <a:noFill/>
          <a:ln cap="flat" cmpd="sng" w="1905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7" name="Google Shape;2327;p51"/>
          <p:cNvSpPr/>
          <p:nvPr/>
        </p:nvSpPr>
        <p:spPr>
          <a:xfrm>
            <a:off x="3657600" y="3886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Field Agent 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8" name="Google Shape;2328;p51"/>
          <p:cNvCxnSpPr/>
          <p:nvPr/>
        </p:nvCxnSpPr>
        <p:spPr>
          <a:xfrm>
            <a:off x="6035040" y="3840480"/>
            <a:ext cx="1828800" cy="0"/>
          </a:xfrm>
          <a:prstGeom prst="straightConnector1">
            <a:avLst/>
          </a:prstGeom>
          <a:noFill/>
          <a:ln cap="flat" cmpd="sng" w="19050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9" name="Google Shape;2329;p51"/>
          <p:cNvSpPr/>
          <p:nvPr/>
        </p:nvSpPr>
        <p:spPr>
          <a:xfrm>
            <a:off x="6035040" y="3886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0" name="Google Shape;2330;p51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Trainer:  ___________________________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1" name="Google Shape;2331;p51"/>
          <p:cNvSpPr/>
          <p:nvPr/>
        </p:nvSpPr>
        <p:spPr>
          <a:xfrm>
            <a:off x="914400" y="4800600"/>
            <a:ext cx="7315200" cy="292608"/>
          </a:xfrm>
          <a:prstGeom prst="roundRect">
            <a:avLst>
              <a:gd fmla="val 31250" name="adj"/>
            </a:avLst>
          </a:prstGeom>
          <a:solidFill>
            <a:srgbClr val="FFFFFF"/>
          </a:solidFill>
          <a:ln cap="flat" cmpd="sng" w="9525">
            <a:solidFill>
              <a:srgbClr val="E8A02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51"/>
          <p:cNvSpPr/>
          <p:nvPr/>
        </p:nvSpPr>
        <p:spPr>
          <a:xfrm>
            <a:off x="914400" y="48006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5132"/>
                </a:solidFill>
                <a:latin typeface="Calibri"/>
                <a:ea typeface="Calibri"/>
                <a:cs typeface="Calibri"/>
                <a:sym typeface="Calibri"/>
              </a:rPr>
              <a:t>Welcome to the team. Now go build trust, one listing at a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